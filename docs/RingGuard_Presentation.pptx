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5c71553f-8ad8-e2c0-12c1-5edaa1e62d3e}">
          <p14:sldIdLst>
            <p14:sldId id="256"/>
          </p14:sldIdLst>
        </p14:section>
        <p14:section name="Abstract" id="{3b246e43-3661-7e0c-50fb-7230f3cfadce}">
          <p14:sldIdLst>
            <p14:sldId id="257"/>
          </p14:sldIdLst>
        </p14:section>
        <p14:section name="Introduction" id="{93a3dfa6-8518-6738-22fc-0b84766dd3e7}">
          <p14:sldIdLst>
            <p14:sldId id="258"/>
          </p14:sldIdLst>
        </p14:section>
        <p14:section name="Problem and objectives" id="{0b2f3fa9-88d1-2185-71f2-c3eb56130d91}">
          <p14:sldIdLst>
            <p14:sldId id="259"/>
          </p14:sldIdLst>
        </p14:section>
        <p14:section name="Related work" id="{14af53a7-7de2-7826-8c33-db9cc89fb9c7}">
          <p14:sldIdLst>
            <p14:sldId id="260"/>
          </p14:sldIdLst>
        </p14:section>
        <p14:section name="System architecture" id="{16356618-e124-2fc3-0342-2229ab8ae537}">
          <p14:sldIdLst>
            <p14:sldId id="261"/>
            <p14:sldId id="262"/>
          </p14:sldIdLst>
        </p14:section>
        <p14:section name="Methodology" id="{7bab2f05-d036-9071-aa45-52dd50fcf191}">
          <p14:sldIdLst>
            <p14:sldId id="263"/>
            <p14:sldId id="264"/>
            <p14:sldId id="265"/>
          </p14:sldIdLst>
        </p14:section>
        <p14:section name="Implementation" id="{3c67ecc6-8e9f-9ba4-b279-324073acb28d}">
          <p14:sldIdLst>
            <p14:sldId id="266"/>
            <p14:sldId id="267"/>
            <p14:sldId id="268"/>
          </p14:sldIdLst>
        </p14:section>
        <p14:section name="Evaluation and results" id="{4eb0f691-cf1e-121b-6861-beeea102163c}">
          <p14:sldIdLst>
            <p14:sldId id="269"/>
            <p14:sldId id="270"/>
          </p14:sldIdLst>
        </p14:section>
        <p14:section name="Conclusion" id="{10d057e7-6602-ce02-d8e2-61935c55e212}">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Validation mAP50 (higher is better, 1.0 = perfect)</a:t>
            </a:r>
          </a:p>
        </c:rich>
      </c:tx>
      <c:layout/>
      <c:overlay val="0"/>
    </c:title>
    <c:autoTitleDeleted val="0"/>
    <c:plotArea>
      <c:layout/>
      <c:barChart>
        <c:barDir val="bar"/>
        <c:grouping val="clustered"/>
        <c:varyColors val="0"/>
        <c:ser>
          <c:idx val="0"/>
          <c:order val="0"/>
          <c:tx>
            <c:strRef>
              <c:f>Sheet1!$B$1</c:f>
              <c:strCache>
                <c:ptCount val="1"/>
                <c:pt idx="0">
                  <c:v>mAP50</c:v>
                </c:pt>
              </c:strCache>
            </c:strRef>
          </c:tx>
          <c:spPr>
            <a:solidFill>
              <a:srgbClr val="B4F23C"/>
            </a:solidFill>
            <a:effectLst/>
          </c:spPr>
          <c:invertIfNegative val="0"/>
          <c:dLbls>
            <c:numFmt formatCode="0.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B4F23C"/>
              </a:solidFill>
              <a:effectLst/>
            </c:spPr>
          </c:dPt>
          <c:dPt>
            <c:idx val="1"/>
            <c:invertIfNegative val="0"/>
            <c:bubble3D val="0"/>
            <c:spPr>
              <a:solidFill>
                <a:srgbClr val="B4F23C"/>
              </a:solidFill>
              <a:effectLst/>
            </c:spPr>
          </c:dPt>
          <c:dPt>
            <c:idx val="2"/>
            <c:invertIfNegative val="0"/>
            <c:bubble3D val="0"/>
            <c:spPr>
              <a:solidFill>
                <a:srgbClr val="A1A1AA"/>
              </a:solidFill>
              <a:effectLst/>
            </c:spPr>
          </c:dPt>
          <c:dPt>
            <c:idx val="3"/>
            <c:invertIfNegative val="0"/>
            <c:bubble3D val="0"/>
            <c:spPr>
              <a:solidFill>
                <a:srgbClr val="F97316"/>
              </a:solidFill>
              <a:effectLst/>
            </c:spPr>
          </c:dPt>
          <c:dPt>
            <c:idx val="4"/>
            <c:invertIfNegative val="0"/>
            <c:bubble3D val="0"/>
            <c:spPr>
              <a:solidFill>
                <a:srgbClr val="F43F5E"/>
              </a:solidFill>
              <a:effectLst/>
            </c:spPr>
          </c:dPt>
          <c:cat>
            <c:multiLvlStrRef>
              <c:f>Sheet1!$A$2:$A$6</c:f>
              <c:multiLvlStrCache>
                <c:ptCount val="5"/>
                <c:lvl>
                  <c:pt idx="0">
                    <c:v>Helmet (PPE)</c:v>
                  </c:pt>
                  <c:pt idx="1">
                    <c:v>Vest (PPE)</c:v>
                  </c:pt>
                  <c:pt idx="2">
                    <c:v>Smoke</c:v>
                  </c:pt>
                  <c:pt idx="3">
                    <c:v>Fire</c:v>
                  </c:pt>
                  <c:pt idx="4">
                    <c:v>Fire model (all)</c:v>
                  </c:pt>
                </c:lvl>
              </c:multiLvlStrCache>
            </c:multiLvlStrRef>
          </c:cat>
          <c:val>
            <c:numRef>
              <c:f>Sheet1!$B$2:$B$6</c:f>
              <c:numCache>
                <c:formatCode>General</c:formatCode>
                <c:ptCount val="5"/>
                <c:pt idx="0">
                  <c:v>0.83</c:v>
                </c:pt>
                <c:pt idx="1">
                  <c:v>0.83</c:v>
                </c:pt>
                <c:pt idx="2">
                  <c:v>0.73</c:v>
                </c:pt>
                <c:pt idx="3">
                  <c:v>0.59</c:v>
                </c:pt>
                <c:pt idx="4">
                  <c:v>0.66</c:v>
                </c:pt>
              </c:numCache>
            </c:numRef>
          </c:val>
        </c:ser>
        <c:dLbls>
          <c:numFmt formatCode="0.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D4D4D8"/>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RingGuard watches CCTV with AI, turns detections into confirmed incidents, and phones the right person within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abstract in one breath: watch, confirm, act. Then point at the keywords; they map to the sections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not detection quality, it is response. Our design goal: the right human knows within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on the left; five measurable objectives on the right. The numbers (2 s, 15 s) are our targets and we report against them in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related work: detectors exist and cloud platforms exist. The gap we fill is the response loop and on-premise privacy, combined.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Each camera has its own worker process, so one slow or crashed camera never affects another. The API never runs detection inside a request; workers report confirmed incidents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library and API here is listed in docs/disclosures.md, as the event rules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rules layer: the model may flicker or make a one-frame mistake. Requiring several sightings and a dwell time is what makes the alarm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transfer learning: start from YOLO11n pretrained on COCO, fine-tune on the domain data. The lighter story shows why domain data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is by severity, not by type alone. Never auto-call fire services: a human orders that. Twilio places about one call per second, so a 20-guard roll call takes about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safety idea: the language model never acts directly. It proposes an action from a fixed list, and our code checks permissions and severity rules before doing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test photos: the same person scored 0.78 similarity, a different person 0.13, so the 0.40 threshold separates them well. Faces that cannot be seen still raise the alarm: no face, no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demo here: press Demo alert, show the alarm, the timeline and the phone ringing.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from the validation splits after training on Colab. Be honest that fire is the hardest class and explain how the rules compensate.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 analysed fps was measured with a test video and OpenVINO; on the demo laptop it depends on load and power mode. Keep the honest limits slide: juries trust teams who know their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pitch line again: every factory has cameras nobody watches; ours picks up the phone.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Disclosures cover every model, dataset, API and the AI tools used during development, as required by the event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8638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886200"/>
            <a:ext cx="7863840" cy="11887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bg2"/>
                </a:solidFill>
                <a:latin typeface="Calibri" pitchFamily="34" charset="0"/>
                <a:ea typeface="Calibri" pitchFamily="34" charset="-122"/>
                <a:cs typeface="Calibri" pitchFamily="34" charset="-120"/>
              </a:rPr>
              <a:t>RingGuard  ·  Sustainathon 2026</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863840" cy="1737360"/>
          </a:xfrm>
          <a:prstGeom prst="rect">
            <a:avLst/>
          </a:prstGeom>
          <a:noFill/>
          <a:ln/>
        </p:spPr>
        <p:txBody>
          <a:bodyPr wrap="square" lIns="0" tIns="0" rIns="0" bIns="0" rtlCol="0" anchor="b"/>
          <a:lstStyle/>
          <a:p>
            <a:pPr algn="l" indent="0" marL="0">
              <a:buNone/>
            </a:pPr>
            <a:r>
              <a:rPr lang="en-US" sz="4400" b="1" dirty="0">
                <a:solidFill>
                  <a:schemeClr val="bg1"/>
                </a:solidFill>
              </a:rPr>
              <a:t>RingGuard</a:t>
            </a:r>
            <a:endParaRPr lang="en-US" sz="4400" dirty="0"/>
          </a:p>
        </p:txBody>
      </p:sp>
      <p:sp>
        <p:nvSpPr>
          <p:cNvPr id="3" name="Text 0"/>
          <p:cNvSpPr/>
          <p:nvPr>
            <p:ph idx="101" type="body" hasCustomPrompt="1"/>
          </p:nvPr>
        </p:nvSpPr>
        <p:spPr>
          <a:xfrm>
            <a:off x="548640" y="3886200"/>
            <a:ext cx="7863840" cy="1188720"/>
          </a:xfrm>
          <a:prstGeom prst="rect">
            <a:avLst/>
          </a:prstGeom>
          <a:noFill/>
          <a:ln/>
        </p:spPr>
        <p:txBody>
          <a:bodyPr wrap="square" lIns="0" tIns="0" rIns="0" bIns="0" rtlCol="0" anchor="t"/>
          <a:lstStyle/>
          <a:p>
            <a:pPr algn="l" indent="0" marL="0">
              <a:buNone/>
            </a:pPr>
            <a:r>
              <a:rPr lang="en-US" sz="2200" b="1" dirty="0">
                <a:solidFill>
                  <a:schemeClr val="bg1"/>
                </a:solidFill>
              </a:rPr>
              <a:t>AI Video Intelligence and Workplace Safety System</a:t>
            </a:r>
            <a:endParaRPr lang="en-US" sz="1800" dirty="0"/>
          </a:p>
          <a:p>
            <a:pPr algn="l" indent="0" marL="0">
              <a:buNone/>
            </a:pPr>
            <a:r>
              <a:rPr lang="en-US" sz="1600" dirty="0">
                <a:solidFill>
                  <a:schemeClr val="bg2"/>
                </a:solidFill>
              </a:rPr>
              <a:t>Sustainathon 2026 · VIT Bengaluru · Team Kraken</a:t>
            </a:r>
            <a:endParaRPr lang="en-US" sz="1800" dirty="0"/>
          </a:p>
        </p:txBody>
      </p:sp>
      <p:sp>
        <p:nvSpPr>
          <p:cNvPr id="4" name="Phone tile"/>
          <p:cNvSpPr/>
          <p:nvPr/>
        </p:nvSpPr>
        <p:spPr>
          <a:xfrm>
            <a:off x="9281160" y="1417320"/>
            <a:ext cx="2194560" cy="2194560"/>
          </a:xfrm>
          <a:prstGeom prst="roundRect">
            <a:avLst>
              <a:gd name="adj" fmla="val 22000"/>
            </a:avLst>
          </a:prstGeom>
          <a:solidFill>
            <a:schemeClr val="accent1"/>
          </a:solidFill>
          <a:ln/>
        </p:spPr>
      </p:sp>
      <p:pic>
        <p:nvPicPr>
          <p:cNvPr id="5" name="Phone icon" descr="Phone">    </p:cNvPr>
          <p:cNvPicPr>
            <a:picLocks noChangeAspect="1"/>
          </p:cNvPicPr>
          <p:nvPr/>
        </p:nvPicPr>
        <p:blipFill>
          <a:blip r:embed="rId1"/>
          <a:stretch>
            <a:fillRect/>
          </a:stretch>
        </p:blipFill>
        <p:spPr>
          <a:xfrm>
            <a:off x="9807854" y="1944014"/>
            <a:ext cx="1141171" cy="1141171"/>
          </a:xfrm>
          <a:prstGeom prst="rect">
            <a:avLst/>
          </a:prstGeom>
        </p:spPr>
      </p:pic>
      <p:sp>
        <p:nvSpPr>
          <p:cNvPr id="6" name="Pitch"/>
          <p:cNvSpPr txBox="1"/>
          <p:nvPr/>
        </p:nvSpPr>
        <p:spPr>
          <a:xfrm>
            <a:off x="8549640" y="3931920"/>
            <a:ext cx="3108960" cy="1463040"/>
          </a:xfrm>
          <a:prstGeom prst="rect">
            <a:avLst/>
          </a:prstGeom>
          <a:noFill/>
          <a:ln/>
        </p:spPr>
        <p:txBody>
          <a:bodyPr wrap="square" lIns="0" tIns="0" rIns="0" bIns="0" rtlCol="0" anchor="ctr"/>
          <a:lstStyle/>
          <a:p>
            <a:pPr algn="r" indent="0" marL="0">
              <a:buNone/>
            </a:pPr>
            <a:r>
              <a:rPr lang="en-US" sz="1400" i="1" dirty="0">
                <a:solidFill>
                  <a:schemeClr val="bg2"/>
                </a:solidFill>
              </a:rPr>
              <a:t>Every factory has cameras nobody watches.</a:t>
            </a:r>
            <a:endParaRPr lang="en-US" sz="1400" dirty="0"/>
          </a:p>
          <a:p>
            <a:pPr algn="r" indent="0" marL="0">
              <a:buNone/>
            </a:pPr>
            <a:r>
              <a:rPr lang="en-US" sz="1400" i="1" dirty="0">
                <a:solidFill>
                  <a:schemeClr val="bg2"/>
                </a:solidFill>
              </a:rPr>
              <a:t>Most AI adds a dashboard nobody watches.</a:t>
            </a:r>
            <a:endParaRPr lang="en-US" sz="1400" dirty="0"/>
          </a:p>
          <a:p>
            <a:pPr algn="r" indent="0" marL="0">
              <a:buNone/>
            </a:pPr>
            <a:r>
              <a:rPr lang="en-US" sz="1400" i="1" dirty="0">
                <a:solidFill>
                  <a:schemeClr val="bg2"/>
                </a:solidFill>
              </a:rPr>
              <a:t>Ours picks up the phone.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bg1"/>
                </a:solidFill>
              </a:rPr>
              <a:t>Abstract</a:t>
            </a:r>
            <a:endParaRPr lang="en-US" sz="3200" dirty="0"/>
          </a:p>
        </p:txBody>
      </p:sp>
      <p:sp>
        <p:nvSpPr>
          <p:cNvPr id="3" name="Abstract card"/>
          <p:cNvSpPr/>
          <p:nvPr/>
        </p:nvSpPr>
        <p:spPr>
          <a:xfrm>
            <a:off x="548640" y="1325880"/>
            <a:ext cx="7406640" cy="4709160"/>
          </a:xfrm>
          <a:prstGeom prst="roundRect">
            <a:avLst>
              <a:gd name="adj" fmla="val 2718"/>
            </a:avLst>
          </a:prstGeom>
          <a:solidFill>
            <a:schemeClr val="tx2"/>
          </a:solidFill>
          <a:ln w="9525">
            <a:solidFill>
              <a:srgbClr val="2A2B31"/>
            </a:solidFill>
            <a:prstDash val="solid"/>
          </a:ln>
        </p:spPr>
      </p:sp>
      <p:sp>
        <p:nvSpPr>
          <p:cNvPr id="4" name="Abstract text"/>
          <p:cNvSpPr txBox="1"/>
          <p:nvPr/>
        </p:nvSpPr>
        <p:spPr>
          <a:xfrm>
            <a:off x="868680" y="1600200"/>
            <a:ext cx="6766560" cy="4206240"/>
          </a:xfrm>
          <a:prstGeom prst="rect">
            <a:avLst/>
          </a:prstGeom>
          <a:noFill/>
          <a:ln/>
        </p:spPr>
        <p:txBody>
          <a:bodyPr wrap="square" lIns="0" tIns="0" rIns="0" bIns="0" rtlCol="0" anchor="ctr"/>
          <a:lstStyle/>
          <a:p>
            <a:pPr indent="0" marL="0">
              <a:lnSpc>
                <a:spcPct val="110000"/>
              </a:lnSpc>
              <a:spcAft>
                <a:spcPts val="600"/>
              </a:spcAft>
              <a:buNone/>
            </a:pPr>
            <a:r>
              <a:rPr lang="en-US" sz="1800" dirty="0">
                <a:solidFill>
                  <a:schemeClr val="bg1"/>
                </a:solidFill>
              </a:rPr>
              <a:t>RingGuard is an on-premise system that watches ordinary CCTV and phone cameras, detects safety events with computer vision, confirms them with a rules engine, and acts: it saves evidence, alerts the dashboard in under two seconds and phones the responsible guards with an escalation ladder. An AI voice agent, Friday, talks to the guard on the call, understands replies such as "I'm going", and answers spoken or typed questions about incidents. Video never leaves the site; only short alert text reaches cloud services. Custom YOLO11 models for fire, smoke, PPE and riders' helmets were trained on public datasets plus our own footage, and run on a laptop CPU through OpenVINO.</a:t>
            </a:r>
            <a:endParaRPr lang="en-US" sz="1800" dirty="0"/>
          </a:p>
        </p:txBody>
      </p:sp>
      <p:sp>
        <p:nvSpPr>
          <p:cNvPr id="5" name="Keywords label"/>
          <p:cNvSpPr txBox="1"/>
          <p:nvPr/>
        </p:nvSpPr>
        <p:spPr>
          <a:xfrm>
            <a:off x="8366760" y="1371600"/>
            <a:ext cx="3291840" cy="365760"/>
          </a:xfrm>
          <a:prstGeom prst="rect">
            <a:avLst/>
          </a:prstGeom>
          <a:noFill/>
          <a:ln/>
        </p:spPr>
        <p:txBody>
          <a:bodyPr wrap="square" lIns="0" tIns="0" rIns="0" bIns="0" rtlCol="0" anchor="ctr"/>
          <a:lstStyle/>
          <a:p>
            <a:pPr indent="0" marL="0">
              <a:buNone/>
            </a:pPr>
            <a:r>
              <a:rPr lang="en-US" sz="1800" b="1" dirty="0">
                <a:solidFill>
                  <a:schemeClr val="accent2"/>
                </a:solidFill>
              </a:rPr>
              <a:t>Keywords</a:t>
            </a:r>
            <a:endParaRPr lang="en-US" sz="1800" dirty="0"/>
          </a:p>
        </p:txBody>
      </p:sp>
      <p:sp>
        <p:nvSpPr>
          <p:cNvPr id="6" name="Keyword 1"/>
          <p:cNvSpPr/>
          <p:nvPr/>
        </p:nvSpPr>
        <p:spPr>
          <a:xfrm>
            <a:off x="8366760" y="1874520"/>
            <a:ext cx="3246120" cy="365760"/>
          </a:xfrm>
          <a:prstGeom prst="roundRect">
            <a:avLst>
              <a:gd name="adj" fmla="val 50000"/>
            </a:avLst>
          </a:prstGeom>
          <a:solidFill>
            <a:schemeClr val="tx2"/>
          </a:solidFill>
          <a:ln w="9525">
            <a:solidFill>
              <a:srgbClr val="3F3F46"/>
            </a:solidFill>
            <a:prstDash val="solid"/>
          </a:ln>
        </p:spPr>
      </p:sp>
      <p:sp>
        <p:nvSpPr>
          <p:cNvPr id="7" name="Keyword text 1"/>
          <p:cNvSpPr txBox="1"/>
          <p:nvPr/>
        </p:nvSpPr>
        <p:spPr>
          <a:xfrm>
            <a:off x="8503920" y="1874520"/>
            <a:ext cx="3017520" cy="365760"/>
          </a:xfrm>
          <a:prstGeom prst="rect">
            <a:avLst/>
          </a:prstGeom>
          <a:noFill/>
          <a:ln/>
        </p:spPr>
        <p:txBody>
          <a:bodyPr wrap="square" lIns="0" tIns="0" rIns="0" bIns="0" rtlCol="0" anchor="ctr"/>
          <a:lstStyle/>
          <a:p>
            <a:pPr indent="0" marL="0">
              <a:buNone/>
            </a:pPr>
            <a:r>
              <a:rPr lang="en-US" sz="1300" dirty="0">
                <a:solidFill>
                  <a:schemeClr val="bg1"/>
                </a:solidFill>
              </a:rPr>
              <a:t>Computer vision</a:t>
            </a:r>
            <a:endParaRPr lang="en-US" sz="1300" dirty="0"/>
          </a:p>
        </p:txBody>
      </p:sp>
      <p:sp>
        <p:nvSpPr>
          <p:cNvPr id="8" name="Keyword 2"/>
          <p:cNvSpPr/>
          <p:nvPr/>
        </p:nvSpPr>
        <p:spPr>
          <a:xfrm>
            <a:off x="8366760" y="2331720"/>
            <a:ext cx="3246120" cy="365760"/>
          </a:xfrm>
          <a:prstGeom prst="roundRect">
            <a:avLst>
              <a:gd name="adj" fmla="val 50000"/>
            </a:avLst>
          </a:prstGeom>
          <a:solidFill>
            <a:schemeClr val="tx2"/>
          </a:solidFill>
          <a:ln w="9525">
            <a:solidFill>
              <a:srgbClr val="3F3F46"/>
            </a:solidFill>
            <a:prstDash val="solid"/>
          </a:ln>
        </p:spPr>
      </p:sp>
      <p:sp>
        <p:nvSpPr>
          <p:cNvPr id="9" name="Keyword text 2"/>
          <p:cNvSpPr txBox="1"/>
          <p:nvPr/>
        </p:nvSpPr>
        <p:spPr>
          <a:xfrm>
            <a:off x="8503920" y="2331720"/>
            <a:ext cx="3017520" cy="365760"/>
          </a:xfrm>
          <a:prstGeom prst="rect">
            <a:avLst/>
          </a:prstGeom>
          <a:noFill/>
          <a:ln/>
        </p:spPr>
        <p:txBody>
          <a:bodyPr wrap="square" lIns="0" tIns="0" rIns="0" bIns="0" rtlCol="0" anchor="ctr"/>
          <a:lstStyle/>
          <a:p>
            <a:pPr indent="0" marL="0">
              <a:buNone/>
            </a:pPr>
            <a:r>
              <a:rPr lang="en-US" sz="1300" dirty="0">
                <a:solidFill>
                  <a:schemeClr val="bg1"/>
                </a:solidFill>
              </a:rPr>
              <a:t>YOLO11 + ByteTrack</a:t>
            </a:r>
            <a:endParaRPr lang="en-US" sz="1300" dirty="0"/>
          </a:p>
        </p:txBody>
      </p:sp>
      <p:sp>
        <p:nvSpPr>
          <p:cNvPr id="10" name="Keyword 3"/>
          <p:cNvSpPr/>
          <p:nvPr/>
        </p:nvSpPr>
        <p:spPr>
          <a:xfrm>
            <a:off x="8366760" y="2788920"/>
            <a:ext cx="3246120" cy="365760"/>
          </a:xfrm>
          <a:prstGeom prst="roundRect">
            <a:avLst>
              <a:gd name="adj" fmla="val 50000"/>
            </a:avLst>
          </a:prstGeom>
          <a:solidFill>
            <a:schemeClr val="tx2"/>
          </a:solidFill>
          <a:ln w="9525">
            <a:solidFill>
              <a:srgbClr val="3F3F46"/>
            </a:solidFill>
            <a:prstDash val="solid"/>
          </a:ln>
        </p:spPr>
      </p:sp>
      <p:sp>
        <p:nvSpPr>
          <p:cNvPr id="11" name="Keyword text 3"/>
          <p:cNvSpPr txBox="1"/>
          <p:nvPr/>
        </p:nvSpPr>
        <p:spPr>
          <a:xfrm>
            <a:off x="8503920" y="2788920"/>
            <a:ext cx="3017520" cy="365760"/>
          </a:xfrm>
          <a:prstGeom prst="rect">
            <a:avLst/>
          </a:prstGeom>
          <a:noFill/>
          <a:ln/>
        </p:spPr>
        <p:txBody>
          <a:bodyPr wrap="square" lIns="0" tIns="0" rIns="0" bIns="0" rtlCol="0" anchor="ctr"/>
          <a:lstStyle/>
          <a:p>
            <a:pPr indent="0" marL="0">
              <a:buNone/>
            </a:pPr>
            <a:r>
              <a:rPr lang="en-US" sz="1300" dirty="0">
                <a:solidFill>
                  <a:schemeClr val="bg1"/>
                </a:solidFill>
              </a:rPr>
              <a:t>Workplace safety</a:t>
            </a:r>
            <a:endParaRPr lang="en-US" sz="1300" dirty="0"/>
          </a:p>
        </p:txBody>
      </p:sp>
      <p:sp>
        <p:nvSpPr>
          <p:cNvPr id="12" name="Keyword 4"/>
          <p:cNvSpPr/>
          <p:nvPr/>
        </p:nvSpPr>
        <p:spPr>
          <a:xfrm>
            <a:off x="8366760" y="3246120"/>
            <a:ext cx="3246120" cy="365760"/>
          </a:xfrm>
          <a:prstGeom prst="roundRect">
            <a:avLst>
              <a:gd name="adj" fmla="val 50000"/>
            </a:avLst>
          </a:prstGeom>
          <a:solidFill>
            <a:schemeClr val="tx2"/>
          </a:solidFill>
          <a:ln w="9525">
            <a:solidFill>
              <a:srgbClr val="3F3F46"/>
            </a:solidFill>
            <a:prstDash val="solid"/>
          </a:ln>
        </p:spPr>
      </p:sp>
      <p:sp>
        <p:nvSpPr>
          <p:cNvPr id="13" name="Keyword text 4"/>
          <p:cNvSpPr txBox="1"/>
          <p:nvPr/>
        </p:nvSpPr>
        <p:spPr>
          <a:xfrm>
            <a:off x="8503920" y="3246120"/>
            <a:ext cx="3017520" cy="365760"/>
          </a:xfrm>
          <a:prstGeom prst="rect">
            <a:avLst/>
          </a:prstGeom>
          <a:noFill/>
          <a:ln/>
        </p:spPr>
        <p:txBody>
          <a:bodyPr wrap="square" lIns="0" tIns="0" rIns="0" bIns="0" rtlCol="0" anchor="ctr"/>
          <a:lstStyle/>
          <a:p>
            <a:pPr indent="0" marL="0">
              <a:buNone/>
            </a:pPr>
            <a:r>
              <a:rPr lang="en-US" sz="1300" dirty="0">
                <a:solidFill>
                  <a:schemeClr val="bg1"/>
                </a:solidFill>
              </a:rPr>
              <a:t>Fire &amp; smoke detection</a:t>
            </a:r>
            <a:endParaRPr lang="en-US" sz="1300" dirty="0"/>
          </a:p>
        </p:txBody>
      </p:sp>
      <p:sp>
        <p:nvSpPr>
          <p:cNvPr id="14" name="Keyword 5"/>
          <p:cNvSpPr/>
          <p:nvPr/>
        </p:nvSpPr>
        <p:spPr>
          <a:xfrm>
            <a:off x="8366760" y="3703320"/>
            <a:ext cx="3246120" cy="365760"/>
          </a:xfrm>
          <a:prstGeom prst="roundRect">
            <a:avLst>
              <a:gd name="adj" fmla="val 50000"/>
            </a:avLst>
          </a:prstGeom>
          <a:solidFill>
            <a:schemeClr val="tx2"/>
          </a:solidFill>
          <a:ln w="9525">
            <a:solidFill>
              <a:srgbClr val="3F3F46"/>
            </a:solidFill>
            <a:prstDash val="solid"/>
          </a:ln>
        </p:spPr>
      </p:sp>
      <p:sp>
        <p:nvSpPr>
          <p:cNvPr id="15" name="Keyword text 5"/>
          <p:cNvSpPr txBox="1"/>
          <p:nvPr/>
        </p:nvSpPr>
        <p:spPr>
          <a:xfrm>
            <a:off x="8503920" y="3703320"/>
            <a:ext cx="3017520" cy="365760"/>
          </a:xfrm>
          <a:prstGeom prst="rect">
            <a:avLst/>
          </a:prstGeom>
          <a:noFill/>
          <a:ln/>
        </p:spPr>
        <p:txBody>
          <a:bodyPr wrap="square" lIns="0" tIns="0" rIns="0" bIns="0" rtlCol="0" anchor="ctr"/>
          <a:lstStyle/>
          <a:p>
            <a:pPr indent="0" marL="0">
              <a:buNone/>
            </a:pPr>
            <a:r>
              <a:rPr lang="en-US" sz="1300" dirty="0">
                <a:solidFill>
                  <a:schemeClr val="bg1"/>
                </a:solidFill>
              </a:rPr>
              <a:t>Face recognition</a:t>
            </a:r>
            <a:endParaRPr lang="en-US" sz="1300" dirty="0"/>
          </a:p>
        </p:txBody>
      </p:sp>
      <p:sp>
        <p:nvSpPr>
          <p:cNvPr id="16" name="Keyword 6"/>
          <p:cNvSpPr/>
          <p:nvPr/>
        </p:nvSpPr>
        <p:spPr>
          <a:xfrm>
            <a:off x="8366760" y="4160520"/>
            <a:ext cx="3246120" cy="365760"/>
          </a:xfrm>
          <a:prstGeom prst="roundRect">
            <a:avLst>
              <a:gd name="adj" fmla="val 50000"/>
            </a:avLst>
          </a:prstGeom>
          <a:solidFill>
            <a:schemeClr val="tx2"/>
          </a:solidFill>
          <a:ln w="9525">
            <a:solidFill>
              <a:srgbClr val="3F3F46"/>
            </a:solidFill>
            <a:prstDash val="solid"/>
          </a:ln>
        </p:spPr>
      </p:sp>
      <p:sp>
        <p:nvSpPr>
          <p:cNvPr id="17" name="Keyword text 6"/>
          <p:cNvSpPr txBox="1"/>
          <p:nvPr/>
        </p:nvSpPr>
        <p:spPr>
          <a:xfrm>
            <a:off x="8503920" y="4160520"/>
            <a:ext cx="3017520" cy="365760"/>
          </a:xfrm>
          <a:prstGeom prst="rect">
            <a:avLst/>
          </a:prstGeom>
          <a:noFill/>
          <a:ln/>
        </p:spPr>
        <p:txBody>
          <a:bodyPr wrap="square" lIns="0" tIns="0" rIns="0" bIns="0" rtlCol="0" anchor="ctr"/>
          <a:lstStyle/>
          <a:p>
            <a:pPr indent="0" marL="0">
              <a:buNone/>
            </a:pPr>
            <a:r>
              <a:rPr lang="en-US" sz="1300" dirty="0">
                <a:solidFill>
                  <a:schemeClr val="bg1"/>
                </a:solidFill>
              </a:rPr>
              <a:t>Conversational voice AI</a:t>
            </a:r>
            <a:endParaRPr lang="en-US" sz="1300" dirty="0"/>
          </a:p>
        </p:txBody>
      </p:sp>
      <p:sp>
        <p:nvSpPr>
          <p:cNvPr id="18" name="Keyword 7"/>
          <p:cNvSpPr/>
          <p:nvPr/>
        </p:nvSpPr>
        <p:spPr>
          <a:xfrm>
            <a:off x="8366760" y="4617720"/>
            <a:ext cx="3246120" cy="365760"/>
          </a:xfrm>
          <a:prstGeom prst="roundRect">
            <a:avLst>
              <a:gd name="adj" fmla="val 50000"/>
            </a:avLst>
          </a:prstGeom>
          <a:solidFill>
            <a:schemeClr val="tx2"/>
          </a:solidFill>
          <a:ln w="9525">
            <a:solidFill>
              <a:srgbClr val="3F3F46"/>
            </a:solidFill>
            <a:prstDash val="solid"/>
          </a:ln>
        </p:spPr>
      </p:sp>
      <p:sp>
        <p:nvSpPr>
          <p:cNvPr id="19" name="Keyword text 7"/>
          <p:cNvSpPr txBox="1"/>
          <p:nvPr/>
        </p:nvSpPr>
        <p:spPr>
          <a:xfrm>
            <a:off x="8503920" y="4617720"/>
            <a:ext cx="3017520" cy="365760"/>
          </a:xfrm>
          <a:prstGeom prst="rect">
            <a:avLst/>
          </a:prstGeom>
          <a:noFill/>
          <a:ln/>
        </p:spPr>
        <p:txBody>
          <a:bodyPr wrap="square" lIns="0" tIns="0" rIns="0" bIns="0" rtlCol="0" anchor="ctr"/>
          <a:lstStyle/>
          <a:p>
            <a:pPr indent="0" marL="0">
              <a:buNone/>
            </a:pPr>
            <a:r>
              <a:rPr lang="en-US" sz="1300" dirty="0">
                <a:solidFill>
                  <a:schemeClr val="bg1"/>
                </a:solidFill>
              </a:rPr>
              <a:t>Escalation</a:t>
            </a:r>
            <a:endParaRPr lang="en-US" sz="1300" dirty="0"/>
          </a:p>
        </p:txBody>
      </p:sp>
      <p:sp>
        <p:nvSpPr>
          <p:cNvPr id="20" name="Keyword 8"/>
          <p:cNvSpPr/>
          <p:nvPr/>
        </p:nvSpPr>
        <p:spPr>
          <a:xfrm>
            <a:off x="8366760" y="5074920"/>
            <a:ext cx="3246120" cy="365760"/>
          </a:xfrm>
          <a:prstGeom prst="roundRect">
            <a:avLst>
              <a:gd name="adj" fmla="val 50000"/>
            </a:avLst>
          </a:prstGeom>
          <a:solidFill>
            <a:schemeClr val="tx2"/>
          </a:solidFill>
          <a:ln w="9525">
            <a:solidFill>
              <a:srgbClr val="3F3F46"/>
            </a:solidFill>
            <a:prstDash val="solid"/>
          </a:ln>
        </p:spPr>
      </p:sp>
      <p:sp>
        <p:nvSpPr>
          <p:cNvPr id="21" name="Keyword text 8"/>
          <p:cNvSpPr txBox="1"/>
          <p:nvPr/>
        </p:nvSpPr>
        <p:spPr>
          <a:xfrm>
            <a:off x="8503920" y="5074920"/>
            <a:ext cx="3017520" cy="365760"/>
          </a:xfrm>
          <a:prstGeom prst="rect">
            <a:avLst/>
          </a:prstGeom>
          <a:noFill/>
          <a:ln/>
        </p:spPr>
        <p:txBody>
          <a:bodyPr wrap="square" lIns="0" tIns="0" rIns="0" bIns="0" rtlCol="0" anchor="ctr"/>
          <a:lstStyle/>
          <a:p>
            <a:pPr indent="0" marL="0">
              <a:buNone/>
            </a:pPr>
            <a:r>
              <a:rPr lang="en-US" sz="1300" dirty="0">
                <a:solidFill>
                  <a:schemeClr val="bg1"/>
                </a:solidFill>
              </a:rPr>
              <a:t>Edge AI / OpenVINO</a:t>
            </a:r>
            <a:endParaRPr lang="en-US" sz="1300" dirty="0"/>
          </a:p>
        </p:txBody>
      </p:sp>
      <p:sp>
        <p:nvSpPr>
          <p:cNvPr id="22" name="Keyword 9"/>
          <p:cNvSpPr/>
          <p:nvPr/>
        </p:nvSpPr>
        <p:spPr>
          <a:xfrm>
            <a:off x="8366760" y="5532120"/>
            <a:ext cx="3246120" cy="365760"/>
          </a:xfrm>
          <a:prstGeom prst="roundRect">
            <a:avLst>
              <a:gd name="adj" fmla="val 50000"/>
            </a:avLst>
          </a:prstGeom>
          <a:solidFill>
            <a:schemeClr val="tx2"/>
          </a:solidFill>
          <a:ln w="9525">
            <a:solidFill>
              <a:srgbClr val="3F3F46"/>
            </a:solidFill>
            <a:prstDash val="solid"/>
          </a:ln>
        </p:spPr>
      </p:sp>
      <p:sp>
        <p:nvSpPr>
          <p:cNvPr id="23" name="Keyword text 9"/>
          <p:cNvSpPr txBox="1"/>
          <p:nvPr/>
        </p:nvSpPr>
        <p:spPr>
          <a:xfrm>
            <a:off x="8503920" y="5532120"/>
            <a:ext cx="3017520" cy="365760"/>
          </a:xfrm>
          <a:prstGeom prst="rect">
            <a:avLst/>
          </a:prstGeom>
          <a:noFill/>
          <a:ln/>
        </p:spPr>
        <p:txBody>
          <a:bodyPr wrap="square" lIns="0" tIns="0" rIns="0" bIns="0" rtlCol="0" anchor="ctr"/>
          <a:lstStyle/>
          <a:p>
            <a:pPr indent="0" marL="0">
              <a:buNone/>
            </a:pPr>
            <a:r>
              <a:rPr lang="en-US" sz="1300" dirty="0">
                <a:solidFill>
                  <a:schemeClr val="bg1"/>
                </a:solidFill>
              </a:rPr>
              <a:t>On-premise privacy</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bg1"/>
                </a:solidFill>
              </a:rPr>
              <a:t>Cameras record everything, but nobody is watching</a:t>
            </a:r>
            <a:endParaRPr lang="en-US" sz="3200" dirty="0"/>
          </a:p>
        </p:txBody>
      </p:sp>
      <p:sp>
        <p:nvSpPr>
          <p:cNvPr id="3" name="Intro card 1"/>
          <p:cNvSpPr/>
          <p:nvPr/>
        </p:nvSpPr>
        <p:spPr>
          <a:xfrm>
            <a:off x="548640" y="1554480"/>
            <a:ext cx="3520440" cy="4343400"/>
          </a:xfrm>
          <a:prstGeom prst="roundRect">
            <a:avLst>
              <a:gd name="adj" fmla="val 3636"/>
            </a:avLst>
          </a:prstGeom>
          <a:solidFill>
            <a:schemeClr val="tx2"/>
          </a:solidFill>
          <a:ln w="9525">
            <a:solidFill>
              <a:srgbClr val="2A2B31"/>
            </a:solidFill>
            <a:prstDash val="solid"/>
          </a:ln>
        </p:spPr>
      </p:sp>
      <p:sp>
        <p:nvSpPr>
          <p:cNvPr id="4" name="Recorded, not watched tile"/>
          <p:cNvSpPr/>
          <p:nvPr/>
        </p:nvSpPr>
        <p:spPr>
          <a:xfrm>
            <a:off x="868680" y="1920240"/>
            <a:ext cx="868680" cy="868680"/>
          </a:xfrm>
          <a:prstGeom prst="roundRect">
            <a:avLst>
              <a:gd name="adj" fmla="val 22000"/>
            </a:avLst>
          </a:prstGeom>
          <a:solidFill>
            <a:schemeClr val="accent4"/>
          </a:solidFill>
          <a:ln/>
        </p:spPr>
      </p:sp>
      <p:pic>
        <p:nvPicPr>
          <p:cNvPr id="5" name="Recorded, not watched icon" descr="Recorded, not watched">    </p:cNvPr>
          <p:cNvPicPr>
            <a:picLocks noChangeAspect="1"/>
          </p:cNvPicPr>
          <p:nvPr/>
        </p:nvPicPr>
        <p:blipFill>
          <a:blip r:embed="rId1"/>
          <a:stretch>
            <a:fillRect/>
          </a:stretch>
        </p:blipFill>
        <p:spPr>
          <a:xfrm>
            <a:off x="1077163" y="2128723"/>
            <a:ext cx="451714" cy="451714"/>
          </a:xfrm>
          <a:prstGeom prst="rect">
            <a:avLst/>
          </a:prstGeom>
        </p:spPr>
      </p:pic>
      <p:sp>
        <p:nvSpPr>
          <p:cNvPr id="6" name="Intro head 1"/>
          <p:cNvSpPr txBox="1"/>
          <p:nvPr/>
        </p:nvSpPr>
        <p:spPr>
          <a:xfrm>
            <a:off x="868680" y="3017520"/>
            <a:ext cx="2926080" cy="777240"/>
          </a:xfrm>
          <a:prstGeom prst="rect">
            <a:avLst/>
          </a:prstGeom>
          <a:noFill/>
          <a:ln/>
        </p:spPr>
        <p:txBody>
          <a:bodyPr wrap="square" lIns="0" tIns="0" rIns="0" bIns="0" rtlCol="0" anchor="t"/>
          <a:lstStyle/>
          <a:p>
            <a:pPr indent="0" marL="0">
              <a:buNone/>
            </a:pPr>
            <a:r>
              <a:rPr lang="en-US" sz="2000" b="1" dirty="0">
                <a:solidFill>
                  <a:schemeClr val="bg1"/>
                </a:solidFill>
              </a:rPr>
              <a:t>Recorded, not watched</a:t>
            </a:r>
            <a:endParaRPr lang="en-US" sz="2000" dirty="0"/>
          </a:p>
        </p:txBody>
      </p:sp>
      <p:sp>
        <p:nvSpPr>
          <p:cNvPr id="7" name="Intro body 1"/>
          <p:cNvSpPr txBox="1"/>
          <p:nvPr/>
        </p:nvSpPr>
        <p:spPr>
          <a:xfrm>
            <a:off x="868680" y="3840480"/>
            <a:ext cx="2926080" cy="1828800"/>
          </a:xfrm>
          <a:prstGeom prst="rect">
            <a:avLst/>
          </a:prstGeom>
          <a:noFill/>
          <a:ln/>
        </p:spPr>
        <p:txBody>
          <a:bodyPr wrap="square" lIns="0" tIns="0" rIns="0" bIns="0" rtlCol="0" anchor="t"/>
          <a:lstStyle/>
          <a:p>
            <a:pPr indent="0" marL="0">
              <a:buNone/>
            </a:pPr>
            <a:r>
              <a:rPr lang="en-US" sz="1500" dirty="0">
                <a:solidFill>
                  <a:schemeClr val="bg2"/>
                </a:solidFill>
              </a:rPr>
              <a:t>CCTV is mostly used after an accident, to find out what happened. During a night shift a single guard may be responsible for dozens of screens.</a:t>
            </a:r>
            <a:endParaRPr lang="en-US" sz="1500" dirty="0"/>
          </a:p>
        </p:txBody>
      </p:sp>
      <p:sp>
        <p:nvSpPr>
          <p:cNvPr id="8" name="Intro card 2"/>
          <p:cNvSpPr/>
          <p:nvPr/>
        </p:nvSpPr>
        <p:spPr>
          <a:xfrm>
            <a:off x="4297680" y="1554480"/>
            <a:ext cx="3520440" cy="4343400"/>
          </a:xfrm>
          <a:prstGeom prst="roundRect">
            <a:avLst>
              <a:gd name="adj" fmla="val 3636"/>
            </a:avLst>
          </a:prstGeom>
          <a:solidFill>
            <a:schemeClr val="tx2"/>
          </a:solidFill>
          <a:ln w="9525">
            <a:solidFill>
              <a:srgbClr val="2A2B31"/>
            </a:solidFill>
            <a:prstDash val="solid"/>
          </a:ln>
        </p:spPr>
      </p:sp>
      <p:sp>
        <p:nvSpPr>
          <p:cNvPr id="9" name="Dashboards wait for someone tile"/>
          <p:cNvSpPr/>
          <p:nvPr/>
        </p:nvSpPr>
        <p:spPr>
          <a:xfrm>
            <a:off x="4617720" y="1920240"/>
            <a:ext cx="868680" cy="868680"/>
          </a:xfrm>
          <a:prstGeom prst="roundRect">
            <a:avLst>
              <a:gd name="adj" fmla="val 22000"/>
            </a:avLst>
          </a:prstGeom>
          <a:solidFill>
            <a:schemeClr val="accent3"/>
          </a:solidFill>
          <a:ln/>
        </p:spPr>
      </p:sp>
      <p:pic>
        <p:nvPicPr>
          <p:cNvPr id="10" name="Dashboards wait for someone icon" descr="Dashboards wait for someone">    </p:cNvPr>
          <p:cNvPicPr>
            <a:picLocks noChangeAspect="1"/>
          </p:cNvPicPr>
          <p:nvPr/>
        </p:nvPicPr>
        <p:blipFill>
          <a:blip r:embed="rId2"/>
          <a:stretch>
            <a:fillRect/>
          </a:stretch>
        </p:blipFill>
        <p:spPr>
          <a:xfrm>
            <a:off x="4826203" y="2128723"/>
            <a:ext cx="451714" cy="451714"/>
          </a:xfrm>
          <a:prstGeom prst="rect">
            <a:avLst/>
          </a:prstGeom>
        </p:spPr>
      </p:pic>
      <p:sp>
        <p:nvSpPr>
          <p:cNvPr id="11" name="Intro head 2"/>
          <p:cNvSpPr txBox="1"/>
          <p:nvPr/>
        </p:nvSpPr>
        <p:spPr>
          <a:xfrm>
            <a:off x="4617720" y="3017520"/>
            <a:ext cx="2926080" cy="777240"/>
          </a:xfrm>
          <a:prstGeom prst="rect">
            <a:avLst/>
          </a:prstGeom>
          <a:noFill/>
          <a:ln/>
        </p:spPr>
        <p:txBody>
          <a:bodyPr wrap="square" lIns="0" tIns="0" rIns="0" bIns="0" rtlCol="0" anchor="t"/>
          <a:lstStyle/>
          <a:p>
            <a:pPr indent="0" marL="0">
              <a:buNone/>
            </a:pPr>
            <a:r>
              <a:rPr lang="en-US" sz="2000" b="1" dirty="0">
                <a:solidFill>
                  <a:schemeClr val="bg1"/>
                </a:solidFill>
              </a:rPr>
              <a:t>Dashboards wait for someone</a:t>
            </a:r>
            <a:endParaRPr lang="en-US" sz="2000" dirty="0"/>
          </a:p>
        </p:txBody>
      </p:sp>
      <p:sp>
        <p:nvSpPr>
          <p:cNvPr id="12" name="Intro body 2"/>
          <p:cNvSpPr txBox="1"/>
          <p:nvPr/>
        </p:nvSpPr>
        <p:spPr>
          <a:xfrm>
            <a:off x="4617720" y="3840480"/>
            <a:ext cx="2926080" cy="1828800"/>
          </a:xfrm>
          <a:prstGeom prst="rect">
            <a:avLst/>
          </a:prstGeom>
          <a:noFill/>
          <a:ln/>
        </p:spPr>
        <p:txBody>
          <a:bodyPr wrap="square" lIns="0" tIns="0" rIns="0" bIns="0" rtlCol="0" anchor="t"/>
          <a:lstStyle/>
          <a:p>
            <a:pPr indent="0" marL="0">
              <a:buNone/>
            </a:pPr>
            <a:r>
              <a:rPr lang="en-US" sz="1500" dirty="0">
                <a:solidFill>
                  <a:schemeClr val="bg2"/>
                </a:solidFill>
              </a:rPr>
              <a:t>Most AI video tools add alerts to another screen. An alert on a screen nobody is looking at helps nobody at 2 a.m.</a:t>
            </a:r>
            <a:endParaRPr lang="en-US" sz="1500" dirty="0"/>
          </a:p>
        </p:txBody>
      </p:sp>
      <p:sp>
        <p:nvSpPr>
          <p:cNvPr id="13" name="Intro card 3"/>
          <p:cNvSpPr/>
          <p:nvPr/>
        </p:nvSpPr>
        <p:spPr>
          <a:xfrm>
            <a:off x="8046720" y="1554480"/>
            <a:ext cx="3520440" cy="4343400"/>
          </a:xfrm>
          <a:prstGeom prst="roundRect">
            <a:avLst>
              <a:gd name="adj" fmla="val 3636"/>
            </a:avLst>
          </a:prstGeom>
          <a:solidFill>
            <a:schemeClr val="tx2"/>
          </a:solidFill>
          <a:ln w="9525">
            <a:solidFill>
              <a:srgbClr val="2A2B31"/>
            </a:solidFill>
            <a:prstDash val="solid"/>
          </a:ln>
        </p:spPr>
      </p:sp>
      <p:sp>
        <p:nvSpPr>
          <p:cNvPr id="14" name="A ringing phone gets attention tile"/>
          <p:cNvSpPr/>
          <p:nvPr/>
        </p:nvSpPr>
        <p:spPr>
          <a:xfrm>
            <a:off x="8366760" y="1920240"/>
            <a:ext cx="868680" cy="868680"/>
          </a:xfrm>
          <a:prstGeom prst="roundRect">
            <a:avLst>
              <a:gd name="adj" fmla="val 22000"/>
            </a:avLst>
          </a:prstGeom>
          <a:solidFill>
            <a:schemeClr val="accent1"/>
          </a:solidFill>
          <a:ln/>
        </p:spPr>
      </p:sp>
      <p:pic>
        <p:nvPicPr>
          <p:cNvPr id="15" name="A ringing phone gets attention icon" descr="A ringing phone gets attention">    </p:cNvPr>
          <p:cNvPicPr>
            <a:picLocks noChangeAspect="1"/>
          </p:cNvPicPr>
          <p:nvPr/>
        </p:nvPicPr>
        <p:blipFill>
          <a:blip r:embed="rId3"/>
          <a:stretch>
            <a:fillRect/>
          </a:stretch>
        </p:blipFill>
        <p:spPr>
          <a:xfrm>
            <a:off x="8575243" y="2128723"/>
            <a:ext cx="451714" cy="451714"/>
          </a:xfrm>
          <a:prstGeom prst="rect">
            <a:avLst/>
          </a:prstGeom>
        </p:spPr>
      </p:pic>
      <p:sp>
        <p:nvSpPr>
          <p:cNvPr id="16" name="Intro head 3"/>
          <p:cNvSpPr txBox="1"/>
          <p:nvPr/>
        </p:nvSpPr>
        <p:spPr>
          <a:xfrm>
            <a:off x="8366760" y="3017520"/>
            <a:ext cx="2926080" cy="777240"/>
          </a:xfrm>
          <a:prstGeom prst="rect">
            <a:avLst/>
          </a:prstGeom>
          <a:noFill/>
          <a:ln/>
        </p:spPr>
        <p:txBody>
          <a:bodyPr wrap="square" lIns="0" tIns="0" rIns="0" bIns="0" rtlCol="0" anchor="t"/>
          <a:lstStyle/>
          <a:p>
            <a:pPr indent="0" marL="0">
              <a:buNone/>
            </a:pPr>
            <a:r>
              <a:rPr lang="en-US" sz="2000" b="1" dirty="0">
                <a:solidFill>
                  <a:schemeClr val="bg1"/>
                </a:solidFill>
              </a:rPr>
              <a:t>A ringing phone gets attention</a:t>
            </a:r>
            <a:endParaRPr lang="en-US" sz="2000" dirty="0"/>
          </a:p>
        </p:txBody>
      </p:sp>
      <p:sp>
        <p:nvSpPr>
          <p:cNvPr id="17" name="Intro body 3"/>
          <p:cNvSpPr txBox="1"/>
          <p:nvPr/>
        </p:nvSpPr>
        <p:spPr>
          <a:xfrm>
            <a:off x="8366760" y="3840480"/>
            <a:ext cx="2926080" cy="1828800"/>
          </a:xfrm>
          <a:prstGeom prst="rect">
            <a:avLst/>
          </a:prstGeom>
          <a:noFill/>
          <a:ln/>
        </p:spPr>
        <p:txBody>
          <a:bodyPr wrap="square" lIns="0" tIns="0" rIns="0" bIns="0" rtlCol="0" anchor="t"/>
          <a:lstStyle/>
          <a:p>
            <a:pPr indent="0" marL="0">
              <a:buNone/>
            </a:pPr>
            <a:r>
              <a:rPr lang="en-US" sz="1500" dirty="0">
                <a:solidFill>
                  <a:schemeClr val="bg2"/>
                </a:solidFill>
              </a:rPr>
              <a:t>RingGuard closes the loop: it confirms the event, finds the right person and calls them, then keeps escalating until someone responds.</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bg1"/>
                </a:solidFill>
              </a:rPr>
              <a:t>Problem statement and objectives</a:t>
            </a:r>
            <a:endParaRPr lang="en-US" sz="3200" dirty="0"/>
          </a:p>
        </p:txBody>
      </p:sp>
      <p:sp>
        <p:nvSpPr>
          <p:cNvPr id="3" name="Problem card"/>
          <p:cNvSpPr/>
          <p:nvPr/>
        </p:nvSpPr>
        <p:spPr>
          <a:xfrm>
            <a:off x="548640" y="1325880"/>
            <a:ext cx="4846320" cy="4709160"/>
          </a:xfrm>
          <a:prstGeom prst="roundRect">
            <a:avLst>
              <a:gd name="adj" fmla="val 2718"/>
            </a:avLst>
          </a:prstGeom>
          <a:solidFill>
            <a:srgbClr val="1F1114"/>
          </a:solidFill>
          <a:ln w="9525">
            <a:solidFill>
              <a:srgbClr val="2A2B31"/>
            </a:solidFill>
            <a:prstDash val="solid"/>
          </a:ln>
        </p:spPr>
      </p:sp>
      <p:sp>
        <p:nvSpPr>
          <p:cNvPr id="4" name="Problem tile"/>
          <p:cNvSpPr/>
          <p:nvPr/>
        </p:nvSpPr>
        <p:spPr>
          <a:xfrm>
            <a:off x="868680" y="1645920"/>
            <a:ext cx="777240" cy="777240"/>
          </a:xfrm>
          <a:prstGeom prst="roundRect">
            <a:avLst>
              <a:gd name="adj" fmla="val 22000"/>
            </a:avLst>
          </a:prstGeom>
          <a:solidFill>
            <a:schemeClr val="accent1"/>
          </a:solidFill>
          <a:ln/>
        </p:spPr>
      </p:sp>
      <p:pic>
        <p:nvPicPr>
          <p:cNvPr id="5" name="Problem icon" descr="Problem">    </p:cNvPr>
          <p:cNvPicPr>
            <a:picLocks noChangeAspect="1"/>
          </p:cNvPicPr>
          <p:nvPr/>
        </p:nvPicPr>
        <p:blipFill>
          <a:blip r:embed="rId1"/>
          <a:stretch>
            <a:fillRect/>
          </a:stretch>
        </p:blipFill>
        <p:spPr>
          <a:xfrm>
            <a:off x="1055218" y="1832458"/>
            <a:ext cx="404165" cy="404165"/>
          </a:xfrm>
          <a:prstGeom prst="rect">
            <a:avLst/>
          </a:prstGeom>
        </p:spPr>
      </p:pic>
      <p:sp>
        <p:nvSpPr>
          <p:cNvPr id="6" name="Problem head"/>
          <p:cNvSpPr txBox="1"/>
          <p:nvPr/>
        </p:nvSpPr>
        <p:spPr>
          <a:xfrm>
            <a:off x="1828800" y="1645920"/>
            <a:ext cx="3200400" cy="777240"/>
          </a:xfrm>
          <a:prstGeom prst="rect">
            <a:avLst/>
          </a:prstGeom>
          <a:noFill/>
          <a:ln/>
        </p:spPr>
        <p:txBody>
          <a:bodyPr wrap="square" lIns="0" tIns="0" rIns="0" bIns="0" rtlCol="0" anchor="ctr"/>
          <a:lstStyle/>
          <a:p>
            <a:pPr indent="0" marL="0">
              <a:buNone/>
            </a:pPr>
            <a:r>
              <a:rPr lang="en-US" sz="2200" b="1" dirty="0">
                <a:solidFill>
                  <a:schemeClr val="bg1"/>
                </a:solidFill>
              </a:rPr>
              <a:t>The problem</a:t>
            </a:r>
            <a:endParaRPr lang="en-US" sz="2200" dirty="0"/>
          </a:p>
        </p:txBody>
      </p:sp>
      <p:sp>
        <p:nvSpPr>
          <p:cNvPr id="7" name="Problem text"/>
          <p:cNvSpPr txBox="1"/>
          <p:nvPr/>
        </p:nvSpPr>
        <p:spPr>
          <a:xfrm>
            <a:off x="868680" y="2651760"/>
            <a:ext cx="4206240" cy="3108960"/>
          </a:xfrm>
          <a:prstGeom prst="rect">
            <a:avLst/>
          </a:prstGeom>
          <a:noFill/>
          <a:ln/>
        </p:spPr>
        <p:txBody>
          <a:bodyPr wrap="square" lIns="0" tIns="0" rIns="0" bIns="0" rtlCol="0" anchor="t"/>
          <a:lstStyle/>
          <a:p>
            <a:pPr indent="0" marL="0">
              <a:buNone/>
            </a:pPr>
            <a:r>
              <a:rPr lang="en-US" sz="1600" dirty="0">
                <a:solidFill>
                  <a:schemeClr val="bg1"/>
                </a:solidFill>
              </a:rPr>
              <a:t>Fires, falls, intruders in restricted areas and missing safety gear happen in seconds, but in most workplaces they are noticed late, by chance, or only on the recording afterwards. Existing alerts depend on someone watching a screen, and sending video to the cloud raises privacy and cost concerns.</a:t>
            </a:r>
            <a:endParaRPr lang="en-US" sz="1600" dirty="0"/>
          </a:p>
        </p:txBody>
      </p:sp>
      <p:sp>
        <p:nvSpPr>
          <p:cNvPr id="8" name="Objective dot 1"/>
          <p:cNvSpPr/>
          <p:nvPr/>
        </p:nvSpPr>
        <p:spPr>
          <a:xfrm>
            <a:off x="5806440" y="1481328"/>
            <a:ext cx="548640" cy="548640"/>
          </a:xfrm>
          <a:prstGeom prst="ellipse">
            <a:avLst/>
          </a:prstGeom>
          <a:solidFill>
            <a:schemeClr val="accent2"/>
          </a:solidFill>
          <a:ln/>
        </p:spPr>
      </p:sp>
      <p:sp>
        <p:nvSpPr>
          <p:cNvPr id="9" name="Objective number 1"/>
          <p:cNvSpPr txBox="1"/>
          <p:nvPr/>
        </p:nvSpPr>
        <p:spPr>
          <a:xfrm>
            <a:off x="5806440" y="1481328"/>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10" name="Objective 1"/>
          <p:cNvSpPr txBox="1"/>
          <p:nvPr/>
        </p:nvSpPr>
        <p:spPr>
          <a:xfrm>
            <a:off x="6583680" y="1371600"/>
            <a:ext cx="5029200" cy="777240"/>
          </a:xfrm>
          <a:prstGeom prst="rect">
            <a:avLst/>
          </a:prstGeom>
          <a:noFill/>
          <a:ln/>
        </p:spPr>
        <p:txBody>
          <a:bodyPr wrap="square" lIns="0" tIns="0" rIns="0" bIns="0" rtlCol="0" anchor="ctr"/>
          <a:lstStyle/>
          <a:p>
            <a:pPr indent="0" marL="0">
              <a:buNone/>
            </a:pPr>
            <a:r>
              <a:rPr lang="en-US" sz="1500" b="1" dirty="0">
                <a:solidFill>
                  <a:schemeClr val="bg1"/>
                </a:solidFill>
              </a:rPr>
              <a:t>Detect  </a:t>
            </a:r>
            <a:pPr indent="0" marL="0">
              <a:buNone/>
            </a:pPr>
            <a:r>
              <a:rPr lang="en-US" sz="1500" dirty="0">
                <a:solidFill>
                  <a:schemeClr val="bg2"/>
                </a:solidFill>
              </a:rPr>
              <a:t>fire, smoke, falls, restricted entry, PPE, riders without helmets, crowding, unattended bags</a:t>
            </a:r>
            <a:endParaRPr lang="en-US" sz="1500" dirty="0"/>
          </a:p>
        </p:txBody>
      </p:sp>
      <p:sp>
        <p:nvSpPr>
          <p:cNvPr id="11" name="Objective dot 2"/>
          <p:cNvSpPr/>
          <p:nvPr/>
        </p:nvSpPr>
        <p:spPr>
          <a:xfrm>
            <a:off x="5806440" y="2414016"/>
            <a:ext cx="548640" cy="548640"/>
          </a:xfrm>
          <a:prstGeom prst="ellipse">
            <a:avLst/>
          </a:prstGeom>
          <a:solidFill>
            <a:schemeClr val="accent2"/>
          </a:solidFill>
          <a:ln/>
        </p:spPr>
      </p:sp>
      <p:sp>
        <p:nvSpPr>
          <p:cNvPr id="12" name="Objective number 2"/>
          <p:cNvSpPr txBox="1"/>
          <p:nvPr/>
        </p:nvSpPr>
        <p:spPr>
          <a:xfrm>
            <a:off x="5806440" y="2414016"/>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3" name="Objective 2"/>
          <p:cNvSpPr txBox="1"/>
          <p:nvPr/>
        </p:nvSpPr>
        <p:spPr>
          <a:xfrm>
            <a:off x="6583680" y="2304288"/>
            <a:ext cx="5029200" cy="777240"/>
          </a:xfrm>
          <a:prstGeom prst="rect">
            <a:avLst/>
          </a:prstGeom>
          <a:noFill/>
          <a:ln/>
        </p:spPr>
        <p:txBody>
          <a:bodyPr wrap="square" lIns="0" tIns="0" rIns="0" bIns="0" rtlCol="0" anchor="ctr"/>
          <a:lstStyle/>
          <a:p>
            <a:pPr indent="0" marL="0">
              <a:buNone/>
            </a:pPr>
            <a:r>
              <a:rPr lang="en-US" sz="1500" b="1" dirty="0">
                <a:solidFill>
                  <a:schemeClr val="bg1"/>
                </a:solidFill>
              </a:rPr>
              <a:t>Confirm  </a:t>
            </a:r>
            <a:pPr indent="0" marL="0">
              <a:buNone/>
            </a:pPr>
            <a:r>
              <a:rPr lang="en-US" sz="1500" dirty="0">
                <a:solidFill>
                  <a:schemeClr val="bg2"/>
                </a:solidFill>
              </a:rPr>
              <a:t>turn single detections into incidents with rules, so one wrong frame never raises an alarm</a:t>
            </a:r>
            <a:endParaRPr lang="en-US" sz="1500" dirty="0"/>
          </a:p>
        </p:txBody>
      </p:sp>
      <p:sp>
        <p:nvSpPr>
          <p:cNvPr id="14" name="Objective dot 3"/>
          <p:cNvSpPr/>
          <p:nvPr/>
        </p:nvSpPr>
        <p:spPr>
          <a:xfrm>
            <a:off x="5806440" y="3346704"/>
            <a:ext cx="548640" cy="548640"/>
          </a:xfrm>
          <a:prstGeom prst="ellipse">
            <a:avLst/>
          </a:prstGeom>
          <a:solidFill>
            <a:schemeClr val="accent2"/>
          </a:solidFill>
          <a:ln/>
        </p:spPr>
      </p:sp>
      <p:sp>
        <p:nvSpPr>
          <p:cNvPr id="15" name="Objective number 3"/>
          <p:cNvSpPr txBox="1"/>
          <p:nvPr/>
        </p:nvSpPr>
        <p:spPr>
          <a:xfrm>
            <a:off x="5806440" y="3346704"/>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6" name="Objective 3"/>
          <p:cNvSpPr txBox="1"/>
          <p:nvPr/>
        </p:nvSpPr>
        <p:spPr>
          <a:xfrm>
            <a:off x="6583680" y="3236976"/>
            <a:ext cx="5029200" cy="777240"/>
          </a:xfrm>
          <a:prstGeom prst="rect">
            <a:avLst/>
          </a:prstGeom>
          <a:noFill/>
          <a:ln/>
        </p:spPr>
        <p:txBody>
          <a:bodyPr wrap="square" lIns="0" tIns="0" rIns="0" bIns="0" rtlCol="0" anchor="ctr"/>
          <a:lstStyle/>
          <a:p>
            <a:pPr indent="0" marL="0">
              <a:buNone/>
            </a:pPr>
            <a:r>
              <a:rPr lang="en-US" sz="1500" b="1" dirty="0">
                <a:solidFill>
                  <a:schemeClr val="bg1"/>
                </a:solidFill>
              </a:rPr>
              <a:t>Act fast  </a:t>
            </a:r>
            <a:pPr indent="0" marL="0">
              <a:buNone/>
            </a:pPr>
            <a:r>
              <a:rPr lang="en-US" sz="1500" dirty="0">
                <a:solidFill>
                  <a:schemeClr val="bg2"/>
                </a:solidFill>
              </a:rPr>
              <a:t>dashboard in under 2 s, phone ringing in under 15 s, escalate until someone acknowledges</a:t>
            </a:r>
            <a:endParaRPr lang="en-US" sz="1500" dirty="0"/>
          </a:p>
        </p:txBody>
      </p:sp>
      <p:sp>
        <p:nvSpPr>
          <p:cNvPr id="17" name="Objective dot 4"/>
          <p:cNvSpPr/>
          <p:nvPr/>
        </p:nvSpPr>
        <p:spPr>
          <a:xfrm>
            <a:off x="5806440" y="4279392"/>
            <a:ext cx="548640" cy="548640"/>
          </a:xfrm>
          <a:prstGeom prst="ellipse">
            <a:avLst/>
          </a:prstGeom>
          <a:solidFill>
            <a:schemeClr val="accent2"/>
          </a:solidFill>
          <a:ln/>
        </p:spPr>
      </p:sp>
      <p:sp>
        <p:nvSpPr>
          <p:cNvPr id="18" name="Objective number 4"/>
          <p:cNvSpPr txBox="1"/>
          <p:nvPr/>
        </p:nvSpPr>
        <p:spPr>
          <a:xfrm>
            <a:off x="5806440" y="4279392"/>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9" name="Objective 4"/>
          <p:cNvSpPr txBox="1"/>
          <p:nvPr/>
        </p:nvSpPr>
        <p:spPr>
          <a:xfrm>
            <a:off x="6583680" y="4169664"/>
            <a:ext cx="5029200" cy="777240"/>
          </a:xfrm>
          <a:prstGeom prst="rect">
            <a:avLst/>
          </a:prstGeom>
          <a:noFill/>
          <a:ln/>
        </p:spPr>
        <p:txBody>
          <a:bodyPr wrap="square" lIns="0" tIns="0" rIns="0" bIns="0" rtlCol="0" anchor="ctr"/>
          <a:lstStyle/>
          <a:p>
            <a:pPr indent="0" marL="0">
              <a:buNone/>
            </a:pPr>
            <a:r>
              <a:rPr lang="en-US" sz="1500" b="1" dirty="0">
                <a:solidFill>
                  <a:schemeClr val="bg1"/>
                </a:solidFill>
              </a:rPr>
              <a:t>Talk  </a:t>
            </a:r>
            <a:pPr indent="0" marL="0">
              <a:buNone/>
            </a:pPr>
            <a:r>
              <a:rPr lang="en-US" sz="1500" dirty="0">
                <a:solidFill>
                  <a:schemeClr val="bg2"/>
                </a:solidFill>
              </a:rPr>
              <a:t>a voice agent that speaks with the guard and answers questions about incidents</a:t>
            </a:r>
            <a:endParaRPr lang="en-US" sz="1500" dirty="0"/>
          </a:p>
        </p:txBody>
      </p:sp>
      <p:sp>
        <p:nvSpPr>
          <p:cNvPr id="20" name="Objective dot 5"/>
          <p:cNvSpPr/>
          <p:nvPr/>
        </p:nvSpPr>
        <p:spPr>
          <a:xfrm>
            <a:off x="5806440" y="5212080"/>
            <a:ext cx="548640" cy="548640"/>
          </a:xfrm>
          <a:prstGeom prst="ellipse">
            <a:avLst/>
          </a:prstGeom>
          <a:solidFill>
            <a:schemeClr val="accent2"/>
          </a:solidFill>
          <a:ln/>
        </p:spPr>
      </p:sp>
      <p:sp>
        <p:nvSpPr>
          <p:cNvPr id="21" name="Objective number 5"/>
          <p:cNvSpPr txBox="1"/>
          <p:nvPr/>
        </p:nvSpPr>
        <p:spPr>
          <a:xfrm>
            <a:off x="5806440" y="52120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22" name="Objective 5"/>
          <p:cNvSpPr txBox="1"/>
          <p:nvPr/>
        </p:nvSpPr>
        <p:spPr>
          <a:xfrm>
            <a:off x="6583680" y="5102352"/>
            <a:ext cx="5029200" cy="777240"/>
          </a:xfrm>
          <a:prstGeom prst="rect">
            <a:avLst/>
          </a:prstGeom>
          <a:noFill/>
          <a:ln/>
        </p:spPr>
        <p:txBody>
          <a:bodyPr wrap="square" lIns="0" tIns="0" rIns="0" bIns="0" rtlCol="0" anchor="ctr"/>
          <a:lstStyle/>
          <a:p>
            <a:pPr indent="0" marL="0">
              <a:buNone/>
            </a:pPr>
            <a:r>
              <a:rPr lang="en-US" sz="1500" b="1" dirty="0">
                <a:solidFill>
                  <a:schemeClr val="bg1"/>
                </a:solidFill>
              </a:rPr>
              <a:t>Stay private  </a:t>
            </a:r>
            <a:pPr indent="0" marL="0">
              <a:buNone/>
            </a:pPr>
            <a:r>
              <a:rPr lang="en-US" sz="1500" dirty="0">
                <a:solidFill>
                  <a:schemeClr val="bg2"/>
                </a:solidFill>
              </a:rPr>
              <a:t>run on-premise on a laptop CPU: video and faces never leave the site</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bg1"/>
                </a:solidFill>
              </a:rPr>
              <a:t>Related work and where RingGuard differs</a:t>
            </a:r>
            <a:endParaRPr lang="en-US" sz="3200" dirty="0"/>
          </a:p>
        </p:txBody>
      </p:sp>
      <p:graphicFrame>
        <p:nvGraphicFramePr>
          <p:cNvPr id="6" name="Comparison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566160"/>
                <a:gridCol w="1417320"/>
                <a:gridCol w="1600200"/>
                <a:gridCol w="1325880"/>
                <a:gridCol w="1783080"/>
                <a:gridCol w="1399032"/>
              </a:tblGrid>
              <a:tr h="56692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Approach</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26272D"/>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Detects events</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26272D"/>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Confirms with rules</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26272D"/>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Calls people</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26272D"/>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Talks back (voice AI)</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26272D"/>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Video stays on site</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26272D"/>
                    </a:solidFill>
                  </a:tcPr>
                </a:tc>
              </a:tr>
              <a:tr h="566928">
                <a:tc>
                  <a:txBody>
                    <a:bodyPr/>
                    <a:lstStyle/>
                    <a:p>
                      <a:pPr algn="l" indent="0" marL="0">
                        <a:buNone/>
                      </a:pPr>
                      <a:r>
                        <a:rPr lang="en-US" sz="1400" dirty="0">
                          <a:solidFill>
                            <a:srgbClr val="D4D4D8"/>
                          </a:solidFill>
                          <a:latin typeface="Calibri" pitchFamily="34" charset="0"/>
                          <a:ea typeface="Calibri" pitchFamily="34" charset="-122"/>
                          <a:cs typeface="Calibri" pitchFamily="34" charset="-120"/>
                        </a:rPr>
                        <a:t>Conventional CCTV / NVR recording</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r>
              <a:tr h="566928">
                <a:tc>
                  <a:txBody>
                    <a:bodyPr/>
                    <a:lstStyle/>
                    <a:p>
                      <a:pPr algn="l" indent="0" marL="0">
                        <a:buNone/>
                      </a:pPr>
                      <a:r>
                        <a:rPr lang="en-US" sz="1400" dirty="0">
                          <a:solidFill>
                            <a:srgbClr val="D4D4D8"/>
                          </a:solidFill>
                          <a:latin typeface="Calibri" pitchFamily="34" charset="0"/>
                          <a:ea typeface="Calibri" pitchFamily="34" charset="-122"/>
                          <a:cs typeface="Calibri" pitchFamily="34" charset="-120"/>
                        </a:rPr>
                        <a:t>Cloud AI video analytics platforms</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r>
              <a:tr h="566928">
                <a:tc>
                  <a:txBody>
                    <a:bodyPr/>
                    <a:lstStyle/>
                    <a:p>
                      <a:pPr algn="l" indent="0" marL="0">
                        <a:buNone/>
                      </a:pPr>
                      <a:r>
                        <a:rPr lang="en-US" sz="1400" dirty="0">
                          <a:solidFill>
                            <a:srgbClr val="D4D4D8"/>
                          </a:solidFill>
                          <a:latin typeface="Calibri" pitchFamily="34" charset="0"/>
                          <a:ea typeface="Calibri" pitchFamily="34" charset="-122"/>
                          <a:cs typeface="Calibri" pitchFamily="34" charset="-120"/>
                        </a:rPr>
                        <a:t>Research fire / PPE detectors (YOLO, CNN)</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r>
              <a:tr h="566928">
                <a:tc>
                  <a:txBody>
                    <a:bodyPr/>
                    <a:lstStyle/>
                    <a:p>
                      <a:pPr algn="l" indent="0" marL="0">
                        <a:buNone/>
                      </a:pPr>
                      <a:r>
                        <a:rPr lang="en-US" sz="1400" dirty="0">
                          <a:solidFill>
                            <a:srgbClr val="D4D4D8"/>
                          </a:solidFill>
                          <a:latin typeface="Calibri" pitchFamily="34" charset="0"/>
                          <a:ea typeface="Calibri" pitchFamily="34" charset="-122"/>
                          <a:cs typeface="Calibri" pitchFamily="34" charset="-120"/>
                        </a:rPr>
                        <a:t>Smoke detectors and alarm panels</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l" indent="0" marL="0">
                        <a:buNone/>
                      </a:pPr>
                      <a:r>
                        <a:rPr lang="en-US" sz="1400" dirty="0">
                          <a:solidFill>
                            <a:srgbClr val="D4D4D8"/>
                          </a:solidFill>
                          <a:latin typeface="Calibri" pitchFamily="34" charset="0"/>
                          <a:ea typeface="Calibri" pitchFamily="34" charset="-122"/>
                          <a:cs typeface="Calibri" pitchFamily="34" charset="-120"/>
                        </a:rPr>
                        <a:t>sometimes</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D4D4D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r>
              <a:tr h="566928">
                <a:tc>
                  <a:txBody>
                    <a:bodyPr/>
                    <a:lstStyle/>
                    <a:p>
                      <a:pPr algn="l" indent="0" marL="0">
                        <a:buNone/>
                      </a:pPr>
                      <a:r>
                        <a:rPr lang="en-US" sz="1400" dirty="0">
                          <a:solidFill>
                            <a:srgbClr val="D4D4D8"/>
                          </a:solidFill>
                          <a:latin typeface="Calibri" pitchFamily="34" charset="0"/>
                          <a:ea typeface="Calibri" pitchFamily="34" charset="-122"/>
                          <a:cs typeface="Calibri" pitchFamily="34" charset="-120"/>
                        </a:rPr>
                        <a:t>RingGuard (ours)</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B4F23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B4F23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B4F23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B4F23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c>
                  <a:txBody>
                    <a:bodyPr/>
                    <a:lstStyle/>
                    <a:p>
                      <a:pPr algn="ctr" indent="0" marL="0">
                        <a:buNone/>
                      </a:pPr>
                      <a:r>
                        <a:rPr lang="en-US" sz="1400" dirty="0">
                          <a:solidFill>
                            <a:srgbClr val="B4F23C"/>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2A2B31"/>
                      </a:solidFill>
                      <a:prstDash val="solid"/>
                      <a:round/>
                      <a:headEnd type="none" w="med" len="med"/>
                      <a:tailEnd type="none" w="med" len="med"/>
                    </a:lnL>
                    <a:lnR w="9525" cap="flat" cmpd="sng" algn="ctr">
                      <a:solidFill>
                        <a:srgbClr val="2A2B31"/>
                      </a:solidFill>
                      <a:prstDash val="solid"/>
                      <a:round/>
                      <a:headEnd type="none" w="med" len="med"/>
                      <a:tailEnd type="none" w="med" len="med"/>
                    </a:lnR>
                    <a:lnT w="9525" cap="flat" cmpd="sng" algn="ctr">
                      <a:solidFill>
                        <a:srgbClr val="2A2B31"/>
                      </a:solidFill>
                      <a:prstDash val="solid"/>
                      <a:round/>
                      <a:headEnd type="none" w="med" len="med"/>
                      <a:tailEnd type="none" w="med" len="med"/>
                    </a:lnT>
                    <a:lnB w="9525" cap="flat" cmpd="sng" algn="ctr">
                      <a:solidFill>
                        <a:srgbClr val="2A2B31"/>
                      </a:solidFill>
                      <a:prstDash val="solid"/>
                      <a:round/>
                      <a:headEnd type="none" w="med" len="med"/>
                      <a:tailEnd type="none" w="med" len="med"/>
                    </a:lnB>
                    <a:solidFill>
                      <a:srgbClr val="141519"/>
                    </a:solidFill>
                  </a:tcPr>
                </a:tc>
              </a:tr>
            </a:tbl>
          </a:graphicData>
        </a:graphic>
      </p:graphicFrame>
      <p:sp>
        <p:nvSpPr>
          <p:cNvPr id="4" name="Table note"/>
          <p:cNvSpPr txBox="1"/>
          <p:nvPr/>
        </p:nvSpPr>
        <p:spPr>
          <a:xfrm>
            <a:off x="548640" y="5120640"/>
            <a:ext cx="11094415" cy="822960"/>
          </a:xfrm>
          <a:prstGeom prst="rect">
            <a:avLst/>
          </a:prstGeom>
          <a:noFill/>
          <a:ln/>
        </p:spPr>
        <p:txBody>
          <a:bodyPr wrap="square" lIns="0" tIns="0" rIns="0" bIns="0" rtlCol="0" anchor="ctr"/>
          <a:lstStyle/>
          <a:p>
            <a:pPr indent="0" marL="0">
              <a:buNone/>
            </a:pPr>
            <a:r>
              <a:rPr lang="en-US" sz="1400" dirty="0">
                <a:solidFill>
                  <a:schemeClr val="bg2"/>
                </a:solidFill>
              </a:rPr>
              <a:t>● yes   ○ no.  Our contribution is not a new detector; it is the closed loop from camera to a confirmed incident to a conversation with the right person, on hardware a small site already owns.</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bg1"/>
                </a:solidFill>
              </a:rPr>
              <a:t>System architecture</a:t>
            </a:r>
            <a:endParaRPr lang="en-US" sz="3200" dirty="0"/>
          </a:p>
        </p:txBody>
      </p:sp>
      <p:sp>
        <p:nvSpPr>
          <p:cNvPr id="3" name="Cameras"/>
          <p:cNvSpPr/>
          <p:nvPr/>
        </p:nvSpPr>
        <p:spPr>
          <a:xfrm>
            <a:off x="548640" y="1371600"/>
            <a:ext cx="2514600" cy="1417320"/>
          </a:xfrm>
          <a:prstGeom prst="roundRect">
            <a:avLst>
              <a:gd name="adj" fmla="val 9032"/>
            </a:avLst>
          </a:prstGeom>
          <a:solidFill>
            <a:schemeClr val="tx2"/>
          </a:solidFill>
          <a:ln w="9525">
            <a:solidFill>
              <a:srgbClr val="2A2B31"/>
            </a:solidFill>
            <a:prstDash val="solid"/>
          </a:ln>
        </p:spPr>
      </p:sp>
      <p:sp>
        <p:nvSpPr>
          <p:cNvPr id="4" name="Cameras tile"/>
          <p:cNvSpPr/>
          <p:nvPr/>
        </p:nvSpPr>
        <p:spPr>
          <a:xfrm>
            <a:off x="731520" y="1554480"/>
            <a:ext cx="566928" cy="566928"/>
          </a:xfrm>
          <a:prstGeom prst="roundRect">
            <a:avLst>
              <a:gd name="adj" fmla="val 22000"/>
            </a:avLst>
          </a:prstGeom>
          <a:solidFill>
            <a:schemeClr val="accent4"/>
          </a:solidFill>
          <a:ln/>
        </p:spPr>
      </p:sp>
      <p:pic>
        <p:nvPicPr>
          <p:cNvPr id="5" name="Cameras icon" descr="Cameras">    </p:cNvPr>
          <p:cNvPicPr>
            <a:picLocks noChangeAspect="1"/>
          </p:cNvPicPr>
          <p:nvPr/>
        </p:nvPicPr>
        <p:blipFill>
          <a:blip r:embed="rId1"/>
          <a:stretch>
            <a:fillRect/>
          </a:stretch>
        </p:blipFill>
        <p:spPr>
          <a:xfrm>
            <a:off x="867583" y="1690543"/>
            <a:ext cx="294803" cy="294803"/>
          </a:xfrm>
          <a:prstGeom prst="rect">
            <a:avLst/>
          </a:prstGeom>
        </p:spPr>
      </p:pic>
      <p:sp>
        <p:nvSpPr>
          <p:cNvPr id="6" name="Cameras head"/>
          <p:cNvSpPr txBox="1"/>
          <p:nvPr/>
        </p:nvSpPr>
        <p:spPr>
          <a:xfrm>
            <a:off x="1417320" y="1536192"/>
            <a:ext cx="1508760" cy="365760"/>
          </a:xfrm>
          <a:prstGeom prst="rect">
            <a:avLst/>
          </a:prstGeom>
          <a:noFill/>
          <a:ln/>
        </p:spPr>
        <p:txBody>
          <a:bodyPr wrap="square" lIns="0" tIns="0" rIns="0" bIns="0" rtlCol="0" anchor="ctr"/>
          <a:lstStyle/>
          <a:p>
            <a:pPr indent="0" marL="0">
              <a:buNone/>
            </a:pPr>
            <a:r>
              <a:rPr lang="en-US" sz="1500" b="1" dirty="0">
                <a:solidFill>
                  <a:schemeClr val="bg1"/>
                </a:solidFill>
              </a:rPr>
              <a:t>Cameras</a:t>
            </a:r>
            <a:endParaRPr lang="en-US" sz="1500" dirty="0"/>
          </a:p>
        </p:txBody>
      </p:sp>
      <p:sp>
        <p:nvSpPr>
          <p:cNvPr id="7" name="Cameras text"/>
          <p:cNvSpPr txBox="1"/>
          <p:nvPr/>
        </p:nvSpPr>
        <p:spPr>
          <a:xfrm>
            <a:off x="1417320" y="1874520"/>
            <a:ext cx="1508760" cy="822960"/>
          </a:xfrm>
          <a:prstGeom prst="rect">
            <a:avLst/>
          </a:prstGeom>
          <a:noFill/>
          <a:ln/>
        </p:spPr>
        <p:txBody>
          <a:bodyPr wrap="square" lIns="0" tIns="0" rIns="0" bIns="0" rtlCol="0" anchor="t"/>
          <a:lstStyle/>
          <a:p>
            <a:pPr indent="0" marL="0">
              <a:buNone/>
            </a:pPr>
            <a:r>
              <a:rPr lang="en-US" sz="1150" dirty="0">
                <a:solidFill>
                  <a:schemeClr val="bg2"/>
                </a:solidFill>
              </a:rPr>
              <a:t>Android phones (IP Webcam), laptop webcam, RTSP CCTV</a:t>
            </a:r>
            <a:endParaRPr lang="en-US" sz="1150" dirty="0"/>
          </a:p>
        </p:txBody>
      </p:sp>
      <p:sp>
        <p:nvSpPr>
          <p:cNvPr id="8" name="Sensors"/>
          <p:cNvSpPr/>
          <p:nvPr/>
        </p:nvSpPr>
        <p:spPr>
          <a:xfrm>
            <a:off x="548640" y="2971800"/>
            <a:ext cx="2514600" cy="1417320"/>
          </a:xfrm>
          <a:prstGeom prst="roundRect">
            <a:avLst>
              <a:gd name="adj" fmla="val 9032"/>
            </a:avLst>
          </a:prstGeom>
          <a:solidFill>
            <a:schemeClr val="tx2"/>
          </a:solidFill>
          <a:ln w="9525">
            <a:solidFill>
              <a:srgbClr val="2A2B31"/>
            </a:solidFill>
            <a:prstDash val="solid"/>
          </a:ln>
        </p:spPr>
      </p:sp>
      <p:sp>
        <p:nvSpPr>
          <p:cNvPr id="9" name="Sensors tile"/>
          <p:cNvSpPr/>
          <p:nvPr/>
        </p:nvSpPr>
        <p:spPr>
          <a:xfrm>
            <a:off x="731520" y="3154680"/>
            <a:ext cx="566928" cy="566928"/>
          </a:xfrm>
          <a:prstGeom prst="roundRect">
            <a:avLst>
              <a:gd name="adj" fmla="val 22000"/>
            </a:avLst>
          </a:prstGeom>
          <a:solidFill>
            <a:schemeClr val="accent5"/>
          </a:solidFill>
          <a:ln/>
        </p:spPr>
      </p:sp>
      <p:pic>
        <p:nvPicPr>
          <p:cNvPr id="10" name="Sensors icon" descr="Sensors">    </p:cNvPr>
          <p:cNvPicPr>
            <a:picLocks noChangeAspect="1"/>
          </p:cNvPicPr>
          <p:nvPr/>
        </p:nvPicPr>
        <p:blipFill>
          <a:blip r:embed="rId2"/>
          <a:stretch>
            <a:fillRect/>
          </a:stretch>
        </p:blipFill>
        <p:spPr>
          <a:xfrm>
            <a:off x="867583" y="3290743"/>
            <a:ext cx="294803" cy="294803"/>
          </a:xfrm>
          <a:prstGeom prst="rect">
            <a:avLst/>
          </a:prstGeom>
        </p:spPr>
      </p:pic>
      <p:sp>
        <p:nvSpPr>
          <p:cNvPr id="11" name="Sensors head"/>
          <p:cNvSpPr txBox="1"/>
          <p:nvPr/>
        </p:nvSpPr>
        <p:spPr>
          <a:xfrm>
            <a:off x="1417320" y="3136392"/>
            <a:ext cx="1508760" cy="365760"/>
          </a:xfrm>
          <a:prstGeom prst="rect">
            <a:avLst/>
          </a:prstGeom>
          <a:noFill/>
          <a:ln/>
        </p:spPr>
        <p:txBody>
          <a:bodyPr wrap="square" lIns="0" tIns="0" rIns="0" bIns="0" rtlCol="0" anchor="ctr"/>
          <a:lstStyle/>
          <a:p>
            <a:pPr indent="0" marL="0">
              <a:buNone/>
            </a:pPr>
            <a:r>
              <a:rPr lang="en-US" sz="1500" b="1" dirty="0">
                <a:solidFill>
                  <a:schemeClr val="bg1"/>
                </a:solidFill>
              </a:rPr>
              <a:t>Sensors (next)</a:t>
            </a:r>
            <a:endParaRPr lang="en-US" sz="1500" dirty="0"/>
          </a:p>
        </p:txBody>
      </p:sp>
      <p:sp>
        <p:nvSpPr>
          <p:cNvPr id="12" name="Sensors text"/>
          <p:cNvSpPr txBox="1"/>
          <p:nvPr/>
        </p:nvSpPr>
        <p:spPr>
          <a:xfrm>
            <a:off x="1417320" y="3474720"/>
            <a:ext cx="1508760" cy="822960"/>
          </a:xfrm>
          <a:prstGeom prst="rect">
            <a:avLst/>
          </a:prstGeom>
          <a:noFill/>
          <a:ln/>
        </p:spPr>
        <p:txBody>
          <a:bodyPr wrap="square" lIns="0" tIns="0" rIns="0" bIns="0" rtlCol="0" anchor="t"/>
          <a:lstStyle/>
          <a:p>
            <a:pPr indent="0" marL="0">
              <a:buNone/>
            </a:pPr>
            <a:r>
              <a:rPr lang="en-US" sz="1150" dirty="0">
                <a:solidFill>
                  <a:schemeClr val="bg2"/>
                </a:solidFill>
              </a:rPr>
              <a:t>ESP32 smoke sensor, panic button over HTTP</a:t>
            </a:r>
            <a:endParaRPr lang="en-US" sz="1150" dirty="0"/>
          </a:p>
        </p:txBody>
      </p:sp>
      <p:sp>
        <p:nvSpPr>
          <p:cNvPr id="13" name="Badges"/>
          <p:cNvSpPr/>
          <p:nvPr/>
        </p:nvSpPr>
        <p:spPr>
          <a:xfrm>
            <a:off x="548640" y="4572000"/>
            <a:ext cx="2514600" cy="1325880"/>
          </a:xfrm>
          <a:prstGeom prst="roundRect">
            <a:avLst>
              <a:gd name="adj" fmla="val 9655"/>
            </a:avLst>
          </a:prstGeom>
          <a:solidFill>
            <a:schemeClr val="tx2"/>
          </a:solidFill>
          <a:ln w="9525">
            <a:solidFill>
              <a:srgbClr val="2A2B31"/>
            </a:solidFill>
            <a:prstDash val="solid"/>
          </a:ln>
        </p:spPr>
      </p:sp>
      <p:sp>
        <p:nvSpPr>
          <p:cNvPr id="14" name="Badges tile"/>
          <p:cNvSpPr/>
          <p:nvPr/>
        </p:nvSpPr>
        <p:spPr>
          <a:xfrm>
            <a:off x="731520" y="4754880"/>
            <a:ext cx="566928" cy="566928"/>
          </a:xfrm>
          <a:prstGeom prst="roundRect">
            <a:avLst>
              <a:gd name="adj" fmla="val 22000"/>
            </a:avLst>
          </a:prstGeom>
          <a:solidFill>
            <a:schemeClr val="accent6"/>
          </a:solidFill>
          <a:ln/>
        </p:spPr>
      </p:sp>
      <p:pic>
        <p:nvPicPr>
          <p:cNvPr id="15" name="Badges icon" descr="Badges">    </p:cNvPr>
          <p:cNvPicPr>
            <a:picLocks noChangeAspect="1"/>
          </p:cNvPicPr>
          <p:nvPr/>
        </p:nvPicPr>
        <p:blipFill>
          <a:blip r:embed="rId3"/>
          <a:stretch>
            <a:fillRect/>
          </a:stretch>
        </p:blipFill>
        <p:spPr>
          <a:xfrm>
            <a:off x="867583" y="4890943"/>
            <a:ext cx="294803" cy="294803"/>
          </a:xfrm>
          <a:prstGeom prst="rect">
            <a:avLst/>
          </a:prstGeom>
        </p:spPr>
      </p:pic>
      <p:sp>
        <p:nvSpPr>
          <p:cNvPr id="16" name="Badges head"/>
          <p:cNvSpPr txBox="1"/>
          <p:nvPr/>
        </p:nvSpPr>
        <p:spPr>
          <a:xfrm>
            <a:off x="1417320" y="4736592"/>
            <a:ext cx="1508760" cy="365760"/>
          </a:xfrm>
          <a:prstGeom prst="rect">
            <a:avLst/>
          </a:prstGeom>
          <a:noFill/>
          <a:ln/>
        </p:spPr>
        <p:txBody>
          <a:bodyPr wrap="square" lIns="0" tIns="0" rIns="0" bIns="0" rtlCol="0" anchor="ctr"/>
          <a:lstStyle/>
          <a:p>
            <a:pPr indent="0" marL="0">
              <a:buNone/>
            </a:pPr>
            <a:r>
              <a:rPr lang="en-US" sz="1500" b="1" dirty="0">
                <a:solidFill>
                  <a:schemeClr val="bg1"/>
                </a:solidFill>
              </a:rPr>
              <a:t>Badge / QR</a:t>
            </a:r>
            <a:endParaRPr lang="en-US" sz="1500" dirty="0"/>
          </a:p>
        </p:txBody>
      </p:sp>
      <p:sp>
        <p:nvSpPr>
          <p:cNvPr id="17" name="Badges text"/>
          <p:cNvSpPr txBox="1"/>
          <p:nvPr/>
        </p:nvSpPr>
        <p:spPr>
          <a:xfrm>
            <a:off x="1417320" y="5074920"/>
            <a:ext cx="1508760" cy="731520"/>
          </a:xfrm>
          <a:prstGeom prst="rect">
            <a:avLst/>
          </a:prstGeom>
          <a:noFill/>
          <a:ln/>
        </p:spPr>
        <p:txBody>
          <a:bodyPr wrap="square" lIns="0" tIns="0" rIns="0" bIns="0" rtlCol="0" anchor="t"/>
          <a:lstStyle/>
          <a:p>
            <a:pPr indent="0" marL="0">
              <a:buNone/>
            </a:pPr>
            <a:r>
              <a:rPr lang="en-US" sz="1150" dirty="0">
                <a:solidFill>
                  <a:schemeClr val="bg2"/>
                </a:solidFill>
              </a:rPr>
              <a:t>Duty check-in, badge scans per area</a:t>
            </a:r>
            <a:endParaRPr lang="en-US" sz="1150" dirty="0"/>
          </a:p>
        </p:txBody>
      </p:sp>
      <p:sp>
        <p:nvSpPr>
          <p:cNvPr id="18" name="Worker card"/>
          <p:cNvSpPr/>
          <p:nvPr/>
        </p:nvSpPr>
        <p:spPr>
          <a:xfrm>
            <a:off x="3429000" y="1371600"/>
            <a:ext cx="3017520" cy="4526280"/>
          </a:xfrm>
          <a:prstGeom prst="roundRect">
            <a:avLst>
              <a:gd name="adj" fmla="val 4242"/>
            </a:avLst>
          </a:prstGeom>
          <a:solidFill>
            <a:srgbClr val="1A1B20"/>
          </a:solidFill>
          <a:ln w="9525">
            <a:solidFill>
              <a:srgbClr val="2A2B31"/>
            </a:solidFill>
            <a:prstDash val="solid"/>
          </a:ln>
        </p:spPr>
      </p:sp>
      <p:sp>
        <p:nvSpPr>
          <p:cNvPr id="19" name="Worker tile"/>
          <p:cNvSpPr/>
          <p:nvPr/>
        </p:nvSpPr>
        <p:spPr>
          <a:xfrm>
            <a:off x="3611880" y="1554480"/>
            <a:ext cx="566928" cy="566928"/>
          </a:xfrm>
          <a:prstGeom prst="roundRect">
            <a:avLst>
              <a:gd name="adj" fmla="val 22000"/>
            </a:avLst>
          </a:prstGeom>
          <a:solidFill>
            <a:schemeClr val="accent2"/>
          </a:solidFill>
          <a:ln/>
        </p:spPr>
      </p:sp>
      <p:pic>
        <p:nvPicPr>
          <p:cNvPr id="20" name="Worker icon" descr="Worker">    </p:cNvPr>
          <p:cNvPicPr>
            <a:picLocks noChangeAspect="1"/>
          </p:cNvPicPr>
          <p:nvPr/>
        </p:nvPicPr>
        <p:blipFill>
          <a:blip r:embed="rId4"/>
          <a:stretch>
            <a:fillRect/>
          </a:stretch>
        </p:blipFill>
        <p:spPr>
          <a:xfrm>
            <a:off x="3747943" y="1690543"/>
            <a:ext cx="294803" cy="294803"/>
          </a:xfrm>
          <a:prstGeom prst="rect">
            <a:avLst/>
          </a:prstGeom>
        </p:spPr>
      </p:pic>
      <p:sp>
        <p:nvSpPr>
          <p:cNvPr id="21" name="Worker head"/>
          <p:cNvSpPr txBox="1"/>
          <p:nvPr/>
        </p:nvSpPr>
        <p:spPr>
          <a:xfrm>
            <a:off x="4297680" y="1536192"/>
            <a:ext cx="2103120" cy="320040"/>
          </a:xfrm>
          <a:prstGeom prst="rect">
            <a:avLst/>
          </a:prstGeom>
          <a:noFill/>
          <a:ln/>
        </p:spPr>
        <p:txBody>
          <a:bodyPr wrap="square" lIns="0" tIns="0" rIns="0" bIns="0" rtlCol="0" anchor="ctr"/>
          <a:lstStyle/>
          <a:p>
            <a:pPr indent="0" marL="0">
              <a:buNone/>
            </a:pPr>
            <a:r>
              <a:rPr lang="en-US" sz="1500" b="1" dirty="0">
                <a:solidFill>
                  <a:schemeClr val="bg1"/>
                </a:solidFill>
              </a:rPr>
              <a:t>Camera worker</a:t>
            </a:r>
            <a:endParaRPr lang="en-US" sz="1500" dirty="0"/>
          </a:p>
        </p:txBody>
      </p:sp>
      <p:sp>
        <p:nvSpPr>
          <p:cNvPr id="22" name="Worker sub"/>
          <p:cNvSpPr txBox="1"/>
          <p:nvPr/>
        </p:nvSpPr>
        <p:spPr>
          <a:xfrm>
            <a:off x="4297680" y="1847088"/>
            <a:ext cx="2103120" cy="274320"/>
          </a:xfrm>
          <a:prstGeom prst="rect">
            <a:avLst/>
          </a:prstGeom>
          <a:noFill/>
          <a:ln/>
        </p:spPr>
        <p:txBody>
          <a:bodyPr wrap="square" lIns="0" tIns="0" rIns="0" bIns="0" rtlCol="0" anchor="ctr"/>
          <a:lstStyle/>
          <a:p>
            <a:pPr indent="0" marL="0">
              <a:buNone/>
            </a:pPr>
            <a:r>
              <a:rPr lang="en-US" sz="1150" dirty="0">
                <a:solidFill>
                  <a:schemeClr val="bg2"/>
                </a:solidFill>
              </a:rPr>
              <a:t>one process per camera</a:t>
            </a:r>
            <a:endParaRPr lang="en-US" sz="1150" dirty="0"/>
          </a:p>
        </p:txBody>
      </p:sp>
      <p:sp>
        <p:nvSpPr>
          <p:cNvPr id="23" name="Worker step 1"/>
          <p:cNvSpPr/>
          <p:nvPr/>
        </p:nvSpPr>
        <p:spPr>
          <a:xfrm>
            <a:off x="3611880" y="2286000"/>
            <a:ext cx="2651760" cy="411480"/>
          </a:xfrm>
          <a:prstGeom prst="roundRect">
            <a:avLst>
              <a:gd name="adj" fmla="val 22222"/>
            </a:avLst>
          </a:prstGeom>
          <a:solidFill>
            <a:srgbClr val="26272D"/>
          </a:solidFill>
          <a:ln/>
        </p:spPr>
      </p:sp>
      <p:sp>
        <p:nvSpPr>
          <p:cNvPr id="24" name="Worker step text 1"/>
          <p:cNvSpPr txBox="1"/>
          <p:nvPr/>
        </p:nvSpPr>
        <p:spPr>
          <a:xfrm>
            <a:off x="3749040" y="2286000"/>
            <a:ext cx="2468880" cy="411480"/>
          </a:xfrm>
          <a:prstGeom prst="rect">
            <a:avLst/>
          </a:prstGeom>
          <a:noFill/>
          <a:ln/>
        </p:spPr>
        <p:txBody>
          <a:bodyPr wrap="square" lIns="0" tIns="0" rIns="0" bIns="0" rtlCol="0" anchor="ctr"/>
          <a:lstStyle/>
          <a:p>
            <a:pPr indent="0" marL="0">
              <a:buNone/>
            </a:pPr>
            <a:r>
              <a:rPr lang="en-US" sz="1200" dirty="0">
                <a:solidFill>
                  <a:schemeClr val="bg1"/>
                </a:solidFill>
              </a:rPr>
              <a:t>Latest-frame capture</a:t>
            </a:r>
            <a:endParaRPr lang="en-US" sz="1200" dirty="0"/>
          </a:p>
        </p:txBody>
      </p:sp>
      <p:sp>
        <p:nvSpPr>
          <p:cNvPr id="25" name="Worker step 2"/>
          <p:cNvSpPr/>
          <p:nvPr/>
        </p:nvSpPr>
        <p:spPr>
          <a:xfrm>
            <a:off x="3611880" y="2788920"/>
            <a:ext cx="2651760" cy="411480"/>
          </a:xfrm>
          <a:prstGeom prst="roundRect">
            <a:avLst>
              <a:gd name="adj" fmla="val 22222"/>
            </a:avLst>
          </a:prstGeom>
          <a:solidFill>
            <a:srgbClr val="26272D"/>
          </a:solidFill>
          <a:ln/>
        </p:spPr>
      </p:sp>
      <p:sp>
        <p:nvSpPr>
          <p:cNvPr id="26" name="Worker step text 2"/>
          <p:cNvSpPr txBox="1"/>
          <p:nvPr/>
        </p:nvSpPr>
        <p:spPr>
          <a:xfrm>
            <a:off x="3749040" y="2788920"/>
            <a:ext cx="2468880" cy="411480"/>
          </a:xfrm>
          <a:prstGeom prst="rect">
            <a:avLst/>
          </a:prstGeom>
          <a:noFill/>
          <a:ln/>
        </p:spPr>
        <p:txBody>
          <a:bodyPr wrap="square" lIns="0" tIns="0" rIns="0" bIns="0" rtlCol="0" anchor="ctr"/>
          <a:lstStyle/>
          <a:p>
            <a:pPr indent="0" marL="0">
              <a:buNone/>
            </a:pPr>
            <a:r>
              <a:rPr lang="en-US" sz="1200" dirty="0">
                <a:solidFill>
                  <a:schemeClr val="bg1"/>
                </a:solidFill>
              </a:rPr>
              <a:t>YOLO11-pose + ByteTrack</a:t>
            </a:r>
            <a:endParaRPr lang="en-US" sz="1200" dirty="0"/>
          </a:p>
        </p:txBody>
      </p:sp>
      <p:sp>
        <p:nvSpPr>
          <p:cNvPr id="27" name="Worker step 3"/>
          <p:cNvSpPr/>
          <p:nvPr/>
        </p:nvSpPr>
        <p:spPr>
          <a:xfrm>
            <a:off x="3611880" y="3291840"/>
            <a:ext cx="2651760" cy="411480"/>
          </a:xfrm>
          <a:prstGeom prst="roundRect">
            <a:avLst>
              <a:gd name="adj" fmla="val 22222"/>
            </a:avLst>
          </a:prstGeom>
          <a:solidFill>
            <a:srgbClr val="26272D"/>
          </a:solidFill>
          <a:ln/>
        </p:spPr>
      </p:sp>
      <p:sp>
        <p:nvSpPr>
          <p:cNvPr id="28" name="Worker step text 3"/>
          <p:cNvSpPr txBox="1"/>
          <p:nvPr/>
        </p:nvSpPr>
        <p:spPr>
          <a:xfrm>
            <a:off x="3749040" y="3291840"/>
            <a:ext cx="2468880" cy="411480"/>
          </a:xfrm>
          <a:prstGeom prst="rect">
            <a:avLst/>
          </a:prstGeom>
          <a:noFill/>
          <a:ln/>
        </p:spPr>
        <p:txBody>
          <a:bodyPr wrap="square" lIns="0" tIns="0" rIns="0" bIns="0" rtlCol="0" anchor="ctr"/>
          <a:lstStyle/>
          <a:p>
            <a:pPr indent="0" marL="0">
              <a:buNone/>
            </a:pPr>
            <a:r>
              <a:rPr lang="en-US" sz="1200" dirty="0">
                <a:solidFill>
                  <a:schemeClr val="bg1"/>
                </a:solidFill>
              </a:rPr>
              <a:t>Fire/smoke · PPE · helmet</a:t>
            </a:r>
            <a:endParaRPr lang="en-US" sz="1200" dirty="0"/>
          </a:p>
        </p:txBody>
      </p:sp>
      <p:sp>
        <p:nvSpPr>
          <p:cNvPr id="29" name="Worker step 4"/>
          <p:cNvSpPr/>
          <p:nvPr/>
        </p:nvSpPr>
        <p:spPr>
          <a:xfrm>
            <a:off x="3611880" y="3794760"/>
            <a:ext cx="2651760" cy="411480"/>
          </a:xfrm>
          <a:prstGeom prst="roundRect">
            <a:avLst>
              <a:gd name="adj" fmla="val 22222"/>
            </a:avLst>
          </a:prstGeom>
          <a:solidFill>
            <a:srgbClr val="26272D"/>
          </a:solidFill>
          <a:ln/>
        </p:spPr>
      </p:sp>
      <p:sp>
        <p:nvSpPr>
          <p:cNvPr id="30" name="Worker step text 4"/>
          <p:cNvSpPr txBox="1"/>
          <p:nvPr/>
        </p:nvSpPr>
        <p:spPr>
          <a:xfrm>
            <a:off x="3749040" y="3794760"/>
            <a:ext cx="2468880" cy="411480"/>
          </a:xfrm>
          <a:prstGeom prst="rect">
            <a:avLst/>
          </a:prstGeom>
          <a:noFill/>
          <a:ln/>
        </p:spPr>
        <p:txBody>
          <a:bodyPr wrap="square" lIns="0" tIns="0" rIns="0" bIns="0" rtlCol="0" anchor="ctr"/>
          <a:lstStyle/>
          <a:p>
            <a:pPr indent="0" marL="0">
              <a:buNone/>
            </a:pPr>
            <a:r>
              <a:rPr lang="en-US" sz="1200" dirty="0">
                <a:solidFill>
                  <a:schemeClr val="bg1"/>
                </a:solidFill>
              </a:rPr>
              <a:t>Face ID (YuNet + SFace)</a:t>
            </a:r>
            <a:endParaRPr lang="en-US" sz="1200" dirty="0"/>
          </a:p>
        </p:txBody>
      </p:sp>
      <p:sp>
        <p:nvSpPr>
          <p:cNvPr id="31" name="Worker step 5"/>
          <p:cNvSpPr/>
          <p:nvPr/>
        </p:nvSpPr>
        <p:spPr>
          <a:xfrm>
            <a:off x="3611880" y="4297680"/>
            <a:ext cx="2651760" cy="411480"/>
          </a:xfrm>
          <a:prstGeom prst="roundRect">
            <a:avLst>
              <a:gd name="adj" fmla="val 22222"/>
            </a:avLst>
          </a:prstGeom>
          <a:solidFill>
            <a:srgbClr val="26272D"/>
          </a:solidFill>
          <a:ln/>
        </p:spPr>
      </p:sp>
      <p:sp>
        <p:nvSpPr>
          <p:cNvPr id="32" name="Worker step text 5"/>
          <p:cNvSpPr txBox="1"/>
          <p:nvPr/>
        </p:nvSpPr>
        <p:spPr>
          <a:xfrm>
            <a:off x="3749040" y="4297680"/>
            <a:ext cx="2468880" cy="411480"/>
          </a:xfrm>
          <a:prstGeom prst="rect">
            <a:avLst/>
          </a:prstGeom>
          <a:noFill/>
          <a:ln/>
        </p:spPr>
        <p:txBody>
          <a:bodyPr wrap="square" lIns="0" tIns="0" rIns="0" bIns="0" rtlCol="0" anchor="ctr"/>
          <a:lstStyle/>
          <a:p>
            <a:pPr indent="0" marL="0">
              <a:buNone/>
            </a:pPr>
            <a:r>
              <a:rPr lang="en-US" sz="1200" dirty="0">
                <a:solidFill>
                  <a:schemeClr val="bg1"/>
                </a:solidFill>
              </a:rPr>
              <a:t>Rules engine</a:t>
            </a:r>
            <a:endParaRPr lang="en-US" sz="1200" dirty="0"/>
          </a:p>
        </p:txBody>
      </p:sp>
      <p:sp>
        <p:nvSpPr>
          <p:cNvPr id="33" name="Worker step 6"/>
          <p:cNvSpPr/>
          <p:nvPr/>
        </p:nvSpPr>
        <p:spPr>
          <a:xfrm>
            <a:off x="3611880" y="4800600"/>
            <a:ext cx="2651760" cy="411480"/>
          </a:xfrm>
          <a:prstGeom prst="roundRect">
            <a:avLst>
              <a:gd name="adj" fmla="val 22222"/>
            </a:avLst>
          </a:prstGeom>
          <a:solidFill>
            <a:srgbClr val="26272D"/>
          </a:solidFill>
          <a:ln/>
        </p:spPr>
      </p:sp>
      <p:sp>
        <p:nvSpPr>
          <p:cNvPr id="34" name="Worker step text 6"/>
          <p:cNvSpPr txBox="1"/>
          <p:nvPr/>
        </p:nvSpPr>
        <p:spPr>
          <a:xfrm>
            <a:off x="3749040" y="4800600"/>
            <a:ext cx="2468880" cy="411480"/>
          </a:xfrm>
          <a:prstGeom prst="rect">
            <a:avLst/>
          </a:prstGeom>
          <a:noFill/>
          <a:ln/>
        </p:spPr>
        <p:txBody>
          <a:bodyPr wrap="square" lIns="0" tIns="0" rIns="0" bIns="0" rtlCol="0" anchor="ctr"/>
          <a:lstStyle/>
          <a:p>
            <a:pPr indent="0" marL="0">
              <a:buNone/>
            </a:pPr>
            <a:r>
              <a:rPr lang="en-US" sz="1200" dirty="0">
                <a:solidFill>
                  <a:schemeClr val="bg1"/>
                </a:solidFill>
              </a:rPr>
              <a:t>Clip, snapshot, all-day MP4</a:t>
            </a:r>
            <a:endParaRPr lang="en-US" sz="1200" dirty="0"/>
          </a:p>
        </p:txBody>
      </p:sp>
      <p:sp>
        <p:nvSpPr>
          <p:cNvPr id="35" name="Worker step 7"/>
          <p:cNvSpPr/>
          <p:nvPr/>
        </p:nvSpPr>
        <p:spPr>
          <a:xfrm>
            <a:off x="3611880" y="5303520"/>
            <a:ext cx="2651760" cy="411480"/>
          </a:xfrm>
          <a:prstGeom prst="roundRect">
            <a:avLst>
              <a:gd name="adj" fmla="val 22222"/>
            </a:avLst>
          </a:prstGeom>
          <a:solidFill>
            <a:srgbClr val="26272D"/>
          </a:solidFill>
          <a:ln/>
        </p:spPr>
      </p:sp>
      <p:sp>
        <p:nvSpPr>
          <p:cNvPr id="36" name="Worker step text 7"/>
          <p:cNvSpPr txBox="1"/>
          <p:nvPr/>
        </p:nvSpPr>
        <p:spPr>
          <a:xfrm>
            <a:off x="3749040" y="5303520"/>
            <a:ext cx="2468880" cy="411480"/>
          </a:xfrm>
          <a:prstGeom prst="rect">
            <a:avLst/>
          </a:prstGeom>
          <a:noFill/>
          <a:ln/>
        </p:spPr>
        <p:txBody>
          <a:bodyPr wrap="square" lIns="0" tIns="0" rIns="0" bIns="0" rtlCol="0" anchor="ctr"/>
          <a:lstStyle/>
          <a:p>
            <a:pPr indent="0" marL="0">
              <a:buNone/>
            </a:pPr>
            <a:r>
              <a:rPr lang="en-US" sz="1200" dirty="0">
                <a:solidFill>
                  <a:schemeClr val="bg1"/>
                </a:solidFill>
              </a:rPr>
              <a:t>Live MJPEG view (25 fps)</a:t>
            </a:r>
            <a:endParaRPr lang="en-US" sz="1200" dirty="0"/>
          </a:p>
        </p:txBody>
      </p:sp>
      <p:sp>
        <p:nvSpPr>
          <p:cNvPr id="37" name="API card"/>
          <p:cNvSpPr/>
          <p:nvPr/>
        </p:nvSpPr>
        <p:spPr>
          <a:xfrm>
            <a:off x="6903720" y="1371600"/>
            <a:ext cx="2377440" cy="4526280"/>
          </a:xfrm>
          <a:prstGeom prst="roundRect">
            <a:avLst>
              <a:gd name="adj" fmla="val 5385"/>
            </a:avLst>
          </a:prstGeom>
          <a:solidFill>
            <a:srgbClr val="1A1B20"/>
          </a:solidFill>
          <a:ln w="9525">
            <a:solidFill>
              <a:srgbClr val="2A2B31"/>
            </a:solidFill>
            <a:prstDash val="solid"/>
          </a:ln>
        </p:spPr>
      </p:sp>
      <p:sp>
        <p:nvSpPr>
          <p:cNvPr id="38" name="API tile"/>
          <p:cNvSpPr/>
          <p:nvPr/>
        </p:nvSpPr>
        <p:spPr>
          <a:xfrm>
            <a:off x="7086600" y="1554480"/>
            <a:ext cx="566928" cy="566928"/>
          </a:xfrm>
          <a:prstGeom prst="roundRect">
            <a:avLst>
              <a:gd name="adj" fmla="val 22000"/>
            </a:avLst>
          </a:prstGeom>
          <a:solidFill>
            <a:schemeClr val="accent1"/>
          </a:solidFill>
          <a:ln/>
        </p:spPr>
      </p:sp>
      <p:pic>
        <p:nvPicPr>
          <p:cNvPr id="39" name="API icon" descr="API">    </p:cNvPr>
          <p:cNvPicPr>
            <a:picLocks noChangeAspect="1"/>
          </p:cNvPicPr>
          <p:nvPr/>
        </p:nvPicPr>
        <p:blipFill>
          <a:blip r:embed="rId5"/>
          <a:stretch>
            <a:fillRect/>
          </a:stretch>
        </p:blipFill>
        <p:spPr>
          <a:xfrm>
            <a:off x="7222663" y="1690543"/>
            <a:ext cx="294803" cy="294803"/>
          </a:xfrm>
          <a:prstGeom prst="rect">
            <a:avLst/>
          </a:prstGeom>
        </p:spPr>
      </p:pic>
      <p:sp>
        <p:nvSpPr>
          <p:cNvPr id="40" name="API head"/>
          <p:cNvSpPr txBox="1"/>
          <p:nvPr/>
        </p:nvSpPr>
        <p:spPr>
          <a:xfrm>
            <a:off x="7772400" y="1536192"/>
            <a:ext cx="1463040" cy="320040"/>
          </a:xfrm>
          <a:prstGeom prst="rect">
            <a:avLst/>
          </a:prstGeom>
          <a:noFill/>
          <a:ln/>
        </p:spPr>
        <p:txBody>
          <a:bodyPr wrap="square" lIns="0" tIns="0" rIns="0" bIns="0" rtlCol="0" anchor="ctr"/>
          <a:lstStyle/>
          <a:p>
            <a:pPr indent="0" marL="0">
              <a:buNone/>
            </a:pPr>
            <a:r>
              <a:rPr lang="en-US" sz="1500" b="1" dirty="0">
                <a:solidFill>
                  <a:schemeClr val="bg1"/>
                </a:solidFill>
              </a:rPr>
              <a:t>FastAPI core</a:t>
            </a:r>
            <a:endParaRPr lang="en-US" sz="1500" dirty="0"/>
          </a:p>
        </p:txBody>
      </p:sp>
      <p:sp>
        <p:nvSpPr>
          <p:cNvPr id="41" name="API sub"/>
          <p:cNvSpPr txBox="1"/>
          <p:nvPr/>
        </p:nvSpPr>
        <p:spPr>
          <a:xfrm>
            <a:off x="7772400" y="1847088"/>
            <a:ext cx="1463040" cy="274320"/>
          </a:xfrm>
          <a:prstGeom prst="rect">
            <a:avLst/>
          </a:prstGeom>
          <a:noFill/>
          <a:ln/>
        </p:spPr>
        <p:txBody>
          <a:bodyPr wrap="square" lIns="0" tIns="0" rIns="0" bIns="0" rtlCol="0" anchor="ctr"/>
          <a:lstStyle/>
          <a:p>
            <a:pPr indent="0" marL="0">
              <a:buNone/>
            </a:pPr>
            <a:r>
              <a:rPr lang="en-US" sz="1150" dirty="0">
                <a:solidFill>
                  <a:schemeClr val="bg2"/>
                </a:solidFill>
              </a:rPr>
              <a:t>local server</a:t>
            </a:r>
            <a:endParaRPr lang="en-US" sz="1150" dirty="0"/>
          </a:p>
        </p:txBody>
      </p:sp>
      <p:sp>
        <p:nvSpPr>
          <p:cNvPr id="42" name="API item 1"/>
          <p:cNvSpPr/>
          <p:nvPr/>
        </p:nvSpPr>
        <p:spPr>
          <a:xfrm>
            <a:off x="7086600" y="2286000"/>
            <a:ext cx="2011680" cy="411480"/>
          </a:xfrm>
          <a:prstGeom prst="roundRect">
            <a:avLst>
              <a:gd name="adj" fmla="val 22222"/>
            </a:avLst>
          </a:prstGeom>
          <a:solidFill>
            <a:srgbClr val="26272D"/>
          </a:solidFill>
          <a:ln/>
        </p:spPr>
      </p:sp>
      <p:sp>
        <p:nvSpPr>
          <p:cNvPr id="43" name="API item text 1"/>
          <p:cNvSpPr txBox="1"/>
          <p:nvPr/>
        </p:nvSpPr>
        <p:spPr>
          <a:xfrm>
            <a:off x="7178040" y="2286000"/>
            <a:ext cx="1874520" cy="411480"/>
          </a:xfrm>
          <a:prstGeom prst="rect">
            <a:avLst/>
          </a:prstGeom>
          <a:noFill/>
          <a:ln/>
        </p:spPr>
        <p:txBody>
          <a:bodyPr wrap="square" lIns="0" tIns="0" rIns="0" bIns="0" rtlCol="0" anchor="ctr"/>
          <a:lstStyle/>
          <a:p>
            <a:pPr indent="0" marL="0">
              <a:buNone/>
            </a:pPr>
            <a:r>
              <a:rPr lang="en-US" sz="1200" dirty="0">
                <a:solidFill>
                  <a:schemeClr val="bg1"/>
                </a:solidFill>
              </a:rPr>
              <a:t>PostgreSQL</a:t>
            </a:r>
            <a:endParaRPr lang="en-US" sz="1200" dirty="0"/>
          </a:p>
        </p:txBody>
      </p:sp>
      <p:sp>
        <p:nvSpPr>
          <p:cNvPr id="44" name="API item 2"/>
          <p:cNvSpPr/>
          <p:nvPr/>
        </p:nvSpPr>
        <p:spPr>
          <a:xfrm>
            <a:off x="7086600" y="2788920"/>
            <a:ext cx="2011680" cy="411480"/>
          </a:xfrm>
          <a:prstGeom prst="roundRect">
            <a:avLst>
              <a:gd name="adj" fmla="val 22222"/>
            </a:avLst>
          </a:prstGeom>
          <a:solidFill>
            <a:srgbClr val="26272D"/>
          </a:solidFill>
          <a:ln/>
        </p:spPr>
      </p:sp>
      <p:sp>
        <p:nvSpPr>
          <p:cNvPr id="45" name="API item text 2"/>
          <p:cNvSpPr txBox="1"/>
          <p:nvPr/>
        </p:nvSpPr>
        <p:spPr>
          <a:xfrm>
            <a:off x="7178040" y="2788920"/>
            <a:ext cx="1874520" cy="411480"/>
          </a:xfrm>
          <a:prstGeom prst="rect">
            <a:avLst/>
          </a:prstGeom>
          <a:noFill/>
          <a:ln/>
        </p:spPr>
        <p:txBody>
          <a:bodyPr wrap="square" lIns="0" tIns="0" rIns="0" bIns="0" rtlCol="0" anchor="ctr"/>
          <a:lstStyle/>
          <a:p>
            <a:pPr indent="0" marL="0">
              <a:buNone/>
            </a:pPr>
            <a:r>
              <a:rPr lang="en-US" sz="1200" dirty="0">
                <a:solidFill>
                  <a:schemeClr val="bg1"/>
                </a:solidFill>
              </a:rPr>
              <a:t>Incidents + audit</a:t>
            </a:r>
            <a:endParaRPr lang="en-US" sz="1200" dirty="0"/>
          </a:p>
        </p:txBody>
      </p:sp>
      <p:sp>
        <p:nvSpPr>
          <p:cNvPr id="46" name="API item 3"/>
          <p:cNvSpPr/>
          <p:nvPr/>
        </p:nvSpPr>
        <p:spPr>
          <a:xfrm>
            <a:off x="7086600" y="3291840"/>
            <a:ext cx="2011680" cy="411480"/>
          </a:xfrm>
          <a:prstGeom prst="roundRect">
            <a:avLst>
              <a:gd name="adj" fmla="val 22222"/>
            </a:avLst>
          </a:prstGeom>
          <a:solidFill>
            <a:srgbClr val="26272D"/>
          </a:solidFill>
          <a:ln/>
        </p:spPr>
      </p:sp>
      <p:sp>
        <p:nvSpPr>
          <p:cNvPr id="47" name="API item text 3"/>
          <p:cNvSpPr txBox="1"/>
          <p:nvPr/>
        </p:nvSpPr>
        <p:spPr>
          <a:xfrm>
            <a:off x="7178040" y="3291840"/>
            <a:ext cx="1874520" cy="411480"/>
          </a:xfrm>
          <a:prstGeom prst="rect">
            <a:avLst/>
          </a:prstGeom>
          <a:noFill/>
          <a:ln/>
        </p:spPr>
        <p:txBody>
          <a:bodyPr wrap="square" lIns="0" tIns="0" rIns="0" bIns="0" rtlCol="0" anchor="ctr"/>
          <a:lstStyle/>
          <a:p>
            <a:pPr indent="0" marL="0">
              <a:buNone/>
            </a:pPr>
            <a:r>
              <a:rPr lang="en-US" sz="1200" dirty="0">
                <a:solidFill>
                  <a:schemeClr val="bg1"/>
                </a:solidFill>
              </a:rPr>
              <a:t>Escalation ladder</a:t>
            </a:r>
            <a:endParaRPr lang="en-US" sz="1200" dirty="0"/>
          </a:p>
        </p:txBody>
      </p:sp>
      <p:sp>
        <p:nvSpPr>
          <p:cNvPr id="48" name="API item 4"/>
          <p:cNvSpPr/>
          <p:nvPr/>
        </p:nvSpPr>
        <p:spPr>
          <a:xfrm>
            <a:off x="7086600" y="3794760"/>
            <a:ext cx="2011680" cy="411480"/>
          </a:xfrm>
          <a:prstGeom prst="roundRect">
            <a:avLst>
              <a:gd name="adj" fmla="val 22222"/>
            </a:avLst>
          </a:prstGeom>
          <a:solidFill>
            <a:srgbClr val="26272D"/>
          </a:solidFill>
          <a:ln/>
        </p:spPr>
      </p:sp>
      <p:sp>
        <p:nvSpPr>
          <p:cNvPr id="49" name="API item text 4"/>
          <p:cNvSpPr txBox="1"/>
          <p:nvPr/>
        </p:nvSpPr>
        <p:spPr>
          <a:xfrm>
            <a:off x="7178040" y="3794760"/>
            <a:ext cx="1874520" cy="411480"/>
          </a:xfrm>
          <a:prstGeom prst="rect">
            <a:avLst/>
          </a:prstGeom>
          <a:noFill/>
          <a:ln/>
        </p:spPr>
        <p:txBody>
          <a:bodyPr wrap="square" lIns="0" tIns="0" rIns="0" bIns="0" rtlCol="0" anchor="ctr"/>
          <a:lstStyle/>
          <a:p>
            <a:pPr indent="0" marL="0">
              <a:buNone/>
            </a:pPr>
            <a:r>
              <a:rPr lang="en-US" sz="1200" dirty="0">
                <a:solidFill>
                  <a:schemeClr val="bg1"/>
                </a:solidFill>
              </a:rPr>
              <a:t>Roles &amp; camera scope</a:t>
            </a:r>
            <a:endParaRPr lang="en-US" sz="1200" dirty="0"/>
          </a:p>
        </p:txBody>
      </p:sp>
      <p:sp>
        <p:nvSpPr>
          <p:cNvPr id="50" name="API item 5"/>
          <p:cNvSpPr/>
          <p:nvPr/>
        </p:nvSpPr>
        <p:spPr>
          <a:xfrm>
            <a:off x="7086600" y="4297680"/>
            <a:ext cx="2011680" cy="411480"/>
          </a:xfrm>
          <a:prstGeom prst="roundRect">
            <a:avLst>
              <a:gd name="adj" fmla="val 22222"/>
            </a:avLst>
          </a:prstGeom>
          <a:solidFill>
            <a:srgbClr val="26272D"/>
          </a:solidFill>
          <a:ln/>
        </p:spPr>
      </p:sp>
      <p:sp>
        <p:nvSpPr>
          <p:cNvPr id="51" name="API item text 5"/>
          <p:cNvSpPr txBox="1"/>
          <p:nvPr/>
        </p:nvSpPr>
        <p:spPr>
          <a:xfrm>
            <a:off x="7178040" y="4297680"/>
            <a:ext cx="1874520" cy="411480"/>
          </a:xfrm>
          <a:prstGeom prst="rect">
            <a:avLst/>
          </a:prstGeom>
          <a:noFill/>
          <a:ln/>
        </p:spPr>
        <p:txBody>
          <a:bodyPr wrap="square" lIns="0" tIns="0" rIns="0" bIns="0" rtlCol="0" anchor="ctr"/>
          <a:lstStyle/>
          <a:p>
            <a:pPr indent="0" marL="0">
              <a:buNone/>
            </a:pPr>
            <a:r>
              <a:rPr lang="en-US" sz="1200" dirty="0">
                <a:solidFill>
                  <a:schemeClr val="bg1"/>
                </a:solidFill>
              </a:rPr>
              <a:t>WebSocket events</a:t>
            </a:r>
            <a:endParaRPr lang="en-US" sz="1200" dirty="0"/>
          </a:p>
        </p:txBody>
      </p:sp>
      <p:sp>
        <p:nvSpPr>
          <p:cNvPr id="52" name="API item 6"/>
          <p:cNvSpPr/>
          <p:nvPr/>
        </p:nvSpPr>
        <p:spPr>
          <a:xfrm>
            <a:off x="7086600" y="4800600"/>
            <a:ext cx="2011680" cy="411480"/>
          </a:xfrm>
          <a:prstGeom prst="roundRect">
            <a:avLst>
              <a:gd name="adj" fmla="val 22222"/>
            </a:avLst>
          </a:prstGeom>
          <a:solidFill>
            <a:srgbClr val="26272D"/>
          </a:solidFill>
          <a:ln/>
        </p:spPr>
      </p:sp>
      <p:sp>
        <p:nvSpPr>
          <p:cNvPr id="53" name="API item text 6"/>
          <p:cNvSpPr txBox="1"/>
          <p:nvPr/>
        </p:nvSpPr>
        <p:spPr>
          <a:xfrm>
            <a:off x="7178040" y="4800600"/>
            <a:ext cx="1874520" cy="411480"/>
          </a:xfrm>
          <a:prstGeom prst="rect">
            <a:avLst/>
          </a:prstGeom>
          <a:noFill/>
          <a:ln/>
        </p:spPr>
        <p:txBody>
          <a:bodyPr wrap="square" lIns="0" tIns="0" rIns="0" bIns="0" rtlCol="0" anchor="ctr"/>
          <a:lstStyle/>
          <a:p>
            <a:pPr indent="0" marL="0">
              <a:buNone/>
            </a:pPr>
            <a:r>
              <a:rPr lang="en-US" sz="1200" dirty="0">
                <a:solidFill>
                  <a:schemeClr val="bg1"/>
                </a:solidFill>
              </a:rPr>
              <a:t>Signed media links</a:t>
            </a:r>
            <a:endParaRPr lang="en-US" sz="1200" dirty="0"/>
          </a:p>
        </p:txBody>
      </p:sp>
      <p:sp>
        <p:nvSpPr>
          <p:cNvPr id="54" name="API item 7"/>
          <p:cNvSpPr/>
          <p:nvPr/>
        </p:nvSpPr>
        <p:spPr>
          <a:xfrm>
            <a:off x="7086600" y="5303520"/>
            <a:ext cx="2011680" cy="411480"/>
          </a:xfrm>
          <a:prstGeom prst="roundRect">
            <a:avLst>
              <a:gd name="adj" fmla="val 22222"/>
            </a:avLst>
          </a:prstGeom>
          <a:solidFill>
            <a:srgbClr val="26272D"/>
          </a:solidFill>
          <a:ln/>
        </p:spPr>
      </p:sp>
      <p:sp>
        <p:nvSpPr>
          <p:cNvPr id="55" name="API item text 7"/>
          <p:cNvSpPr txBox="1"/>
          <p:nvPr/>
        </p:nvSpPr>
        <p:spPr>
          <a:xfrm>
            <a:off x="7178040" y="5303520"/>
            <a:ext cx="1874520" cy="411480"/>
          </a:xfrm>
          <a:prstGeom prst="rect">
            <a:avLst/>
          </a:prstGeom>
          <a:noFill/>
          <a:ln/>
        </p:spPr>
        <p:txBody>
          <a:bodyPr wrap="square" lIns="0" tIns="0" rIns="0" bIns="0" rtlCol="0" anchor="ctr"/>
          <a:lstStyle/>
          <a:p>
            <a:pPr indent="0" marL="0">
              <a:buNone/>
            </a:pPr>
            <a:r>
              <a:rPr lang="en-US" sz="1200" dirty="0">
                <a:solidFill>
                  <a:schemeClr val="bg1"/>
                </a:solidFill>
              </a:rPr>
              <a:t>Friday assistant</a:t>
            </a:r>
            <a:endParaRPr lang="en-US" sz="1200" dirty="0"/>
          </a:p>
        </p:txBody>
      </p:sp>
      <p:sp>
        <p:nvSpPr>
          <p:cNvPr id="56" name="Dashboard"/>
          <p:cNvSpPr/>
          <p:nvPr/>
        </p:nvSpPr>
        <p:spPr>
          <a:xfrm>
            <a:off x="9692640" y="1371600"/>
            <a:ext cx="1947672" cy="1417320"/>
          </a:xfrm>
          <a:prstGeom prst="roundRect">
            <a:avLst>
              <a:gd name="adj" fmla="val 9032"/>
            </a:avLst>
          </a:prstGeom>
          <a:solidFill>
            <a:schemeClr val="tx2"/>
          </a:solidFill>
          <a:ln w="9525">
            <a:solidFill>
              <a:srgbClr val="2A2B31"/>
            </a:solidFill>
            <a:prstDash val="solid"/>
          </a:ln>
        </p:spPr>
      </p:sp>
      <p:sp>
        <p:nvSpPr>
          <p:cNvPr id="57" name="Dashboard tile"/>
          <p:cNvSpPr/>
          <p:nvPr/>
        </p:nvSpPr>
        <p:spPr>
          <a:xfrm>
            <a:off x="9875520" y="1554480"/>
            <a:ext cx="566928" cy="566928"/>
          </a:xfrm>
          <a:prstGeom prst="roundRect">
            <a:avLst>
              <a:gd name="adj" fmla="val 22000"/>
            </a:avLst>
          </a:prstGeom>
          <a:solidFill>
            <a:schemeClr val="accent4"/>
          </a:solidFill>
          <a:ln/>
        </p:spPr>
      </p:sp>
      <p:pic>
        <p:nvPicPr>
          <p:cNvPr id="58" name="Dashboard icon" descr="Dashboard">    </p:cNvPr>
          <p:cNvPicPr>
            <a:picLocks noChangeAspect="1"/>
          </p:cNvPicPr>
          <p:nvPr/>
        </p:nvPicPr>
        <p:blipFill>
          <a:blip r:embed="rId6"/>
          <a:stretch>
            <a:fillRect/>
          </a:stretch>
        </p:blipFill>
        <p:spPr>
          <a:xfrm>
            <a:off x="10011583" y="1690543"/>
            <a:ext cx="294803" cy="294803"/>
          </a:xfrm>
          <a:prstGeom prst="rect">
            <a:avLst/>
          </a:prstGeom>
        </p:spPr>
      </p:pic>
      <p:sp>
        <p:nvSpPr>
          <p:cNvPr id="59" name="Dashboard head"/>
          <p:cNvSpPr txBox="1"/>
          <p:nvPr/>
        </p:nvSpPr>
        <p:spPr>
          <a:xfrm>
            <a:off x="10561320" y="1536192"/>
            <a:ext cx="941832" cy="365760"/>
          </a:xfrm>
          <a:prstGeom prst="rect">
            <a:avLst/>
          </a:prstGeom>
          <a:noFill/>
          <a:ln/>
        </p:spPr>
        <p:txBody>
          <a:bodyPr wrap="square" lIns="0" tIns="0" rIns="0" bIns="0" rtlCol="0" anchor="ctr"/>
          <a:lstStyle/>
          <a:p>
            <a:pPr indent="0" marL="0">
              <a:buNone/>
            </a:pPr>
            <a:r>
              <a:rPr lang="en-US" sz="1500" b="1" dirty="0">
                <a:solidFill>
                  <a:schemeClr val="bg1"/>
                </a:solidFill>
              </a:rPr>
              <a:t>Dashboard</a:t>
            </a:r>
            <a:endParaRPr lang="en-US" sz="1500" dirty="0"/>
          </a:p>
        </p:txBody>
      </p:sp>
      <p:sp>
        <p:nvSpPr>
          <p:cNvPr id="60" name="Dashboard text"/>
          <p:cNvSpPr txBox="1"/>
          <p:nvPr/>
        </p:nvSpPr>
        <p:spPr>
          <a:xfrm>
            <a:off x="10561320" y="1874520"/>
            <a:ext cx="941832" cy="822960"/>
          </a:xfrm>
          <a:prstGeom prst="rect">
            <a:avLst/>
          </a:prstGeom>
          <a:noFill/>
          <a:ln/>
        </p:spPr>
        <p:txBody>
          <a:bodyPr wrap="square" lIns="0" tIns="0" rIns="0" bIns="0" rtlCol="0" anchor="t"/>
          <a:lstStyle/>
          <a:p>
            <a:pPr indent="0" marL="0">
              <a:buNone/>
            </a:pPr>
            <a:r>
              <a:rPr lang="en-US" sz="1150" dirty="0">
                <a:solidFill>
                  <a:schemeClr val="bg2"/>
                </a:solidFill>
              </a:rPr>
              <a:t>React live grid, alarms, Friday</a:t>
            </a:r>
            <a:endParaRPr lang="en-US" sz="1150" dirty="0"/>
          </a:p>
        </p:txBody>
      </p:sp>
      <p:sp>
        <p:nvSpPr>
          <p:cNvPr id="61" name="Calls"/>
          <p:cNvSpPr/>
          <p:nvPr/>
        </p:nvSpPr>
        <p:spPr>
          <a:xfrm>
            <a:off x="9692640" y="2971800"/>
            <a:ext cx="1947672" cy="1417320"/>
          </a:xfrm>
          <a:prstGeom prst="roundRect">
            <a:avLst>
              <a:gd name="adj" fmla="val 9032"/>
            </a:avLst>
          </a:prstGeom>
          <a:solidFill>
            <a:schemeClr val="tx2"/>
          </a:solidFill>
          <a:ln w="9525">
            <a:solidFill>
              <a:srgbClr val="2A2B31"/>
            </a:solidFill>
            <a:prstDash val="solid"/>
          </a:ln>
        </p:spPr>
      </p:sp>
      <p:sp>
        <p:nvSpPr>
          <p:cNvPr id="62" name="Calls tile"/>
          <p:cNvSpPr/>
          <p:nvPr/>
        </p:nvSpPr>
        <p:spPr>
          <a:xfrm>
            <a:off x="9875520" y="3154680"/>
            <a:ext cx="566928" cy="566928"/>
          </a:xfrm>
          <a:prstGeom prst="roundRect">
            <a:avLst>
              <a:gd name="adj" fmla="val 22000"/>
            </a:avLst>
          </a:prstGeom>
          <a:solidFill>
            <a:schemeClr val="accent1"/>
          </a:solidFill>
          <a:ln/>
        </p:spPr>
      </p:sp>
      <p:pic>
        <p:nvPicPr>
          <p:cNvPr id="63" name="Calls icon" descr="Calls">    </p:cNvPr>
          <p:cNvPicPr>
            <a:picLocks noChangeAspect="1"/>
          </p:cNvPicPr>
          <p:nvPr/>
        </p:nvPicPr>
        <p:blipFill>
          <a:blip r:embed="rId7"/>
          <a:stretch>
            <a:fillRect/>
          </a:stretch>
        </p:blipFill>
        <p:spPr>
          <a:xfrm>
            <a:off x="10011583" y="3290743"/>
            <a:ext cx="294803" cy="294803"/>
          </a:xfrm>
          <a:prstGeom prst="rect">
            <a:avLst/>
          </a:prstGeom>
        </p:spPr>
      </p:pic>
      <p:sp>
        <p:nvSpPr>
          <p:cNvPr id="64" name="Calls head"/>
          <p:cNvSpPr txBox="1"/>
          <p:nvPr/>
        </p:nvSpPr>
        <p:spPr>
          <a:xfrm>
            <a:off x="10561320" y="3136392"/>
            <a:ext cx="941832" cy="365760"/>
          </a:xfrm>
          <a:prstGeom prst="rect">
            <a:avLst/>
          </a:prstGeom>
          <a:noFill/>
          <a:ln/>
        </p:spPr>
        <p:txBody>
          <a:bodyPr wrap="square" lIns="0" tIns="0" rIns="0" bIns="0" rtlCol="0" anchor="ctr"/>
          <a:lstStyle/>
          <a:p>
            <a:pPr indent="0" marL="0">
              <a:buNone/>
            </a:pPr>
            <a:r>
              <a:rPr lang="en-US" sz="1500" b="1" dirty="0">
                <a:solidFill>
                  <a:schemeClr val="bg1"/>
                </a:solidFill>
              </a:rPr>
              <a:t>Phone calls</a:t>
            </a:r>
            <a:endParaRPr lang="en-US" sz="1500" dirty="0"/>
          </a:p>
        </p:txBody>
      </p:sp>
      <p:sp>
        <p:nvSpPr>
          <p:cNvPr id="65" name="Calls text"/>
          <p:cNvSpPr txBox="1"/>
          <p:nvPr/>
        </p:nvSpPr>
        <p:spPr>
          <a:xfrm>
            <a:off x="10561320" y="3474720"/>
            <a:ext cx="941832" cy="822960"/>
          </a:xfrm>
          <a:prstGeom prst="rect">
            <a:avLst/>
          </a:prstGeom>
          <a:noFill/>
          <a:ln/>
        </p:spPr>
        <p:txBody>
          <a:bodyPr wrap="square" lIns="0" tIns="0" rIns="0" bIns="0" rtlCol="0" anchor="t"/>
          <a:lstStyle/>
          <a:p>
            <a:pPr indent="0" marL="0">
              <a:buNone/>
            </a:pPr>
            <a:r>
              <a:rPr lang="en-US" sz="1150" dirty="0">
                <a:solidFill>
                  <a:schemeClr val="bg2"/>
                </a:solidFill>
              </a:rPr>
              <a:t>Twilio voice + WhatsApp</a:t>
            </a:r>
            <a:endParaRPr lang="en-US" sz="1150" dirty="0"/>
          </a:p>
        </p:txBody>
      </p:sp>
      <p:sp>
        <p:nvSpPr>
          <p:cNvPr id="66" name="Cloud AI"/>
          <p:cNvSpPr/>
          <p:nvPr/>
        </p:nvSpPr>
        <p:spPr>
          <a:xfrm>
            <a:off x="9692640" y="4572000"/>
            <a:ext cx="1947672" cy="1325880"/>
          </a:xfrm>
          <a:prstGeom prst="roundRect">
            <a:avLst>
              <a:gd name="adj" fmla="val 9655"/>
            </a:avLst>
          </a:prstGeom>
          <a:solidFill>
            <a:schemeClr val="tx2"/>
          </a:solidFill>
          <a:ln w="9525">
            <a:solidFill>
              <a:srgbClr val="2A2B31"/>
            </a:solidFill>
            <a:prstDash val="solid"/>
          </a:ln>
        </p:spPr>
      </p:sp>
      <p:sp>
        <p:nvSpPr>
          <p:cNvPr id="67" name="Cloud AI tile"/>
          <p:cNvSpPr/>
          <p:nvPr/>
        </p:nvSpPr>
        <p:spPr>
          <a:xfrm>
            <a:off x="9875520" y="4754880"/>
            <a:ext cx="566928" cy="566928"/>
          </a:xfrm>
          <a:prstGeom prst="roundRect">
            <a:avLst>
              <a:gd name="adj" fmla="val 22000"/>
            </a:avLst>
          </a:prstGeom>
          <a:solidFill>
            <a:schemeClr val="accent5"/>
          </a:solidFill>
          <a:ln/>
        </p:spPr>
      </p:sp>
      <p:pic>
        <p:nvPicPr>
          <p:cNvPr id="68" name="Cloud AI icon" descr="Cloud AI">    </p:cNvPr>
          <p:cNvPicPr>
            <a:picLocks noChangeAspect="1"/>
          </p:cNvPicPr>
          <p:nvPr/>
        </p:nvPicPr>
        <p:blipFill>
          <a:blip r:embed="rId8"/>
          <a:stretch>
            <a:fillRect/>
          </a:stretch>
        </p:blipFill>
        <p:spPr>
          <a:xfrm>
            <a:off x="10011583" y="4890943"/>
            <a:ext cx="294803" cy="294803"/>
          </a:xfrm>
          <a:prstGeom prst="rect">
            <a:avLst/>
          </a:prstGeom>
        </p:spPr>
      </p:pic>
      <p:sp>
        <p:nvSpPr>
          <p:cNvPr id="69" name="Cloud AI head"/>
          <p:cNvSpPr txBox="1"/>
          <p:nvPr/>
        </p:nvSpPr>
        <p:spPr>
          <a:xfrm>
            <a:off x="10561320" y="4736592"/>
            <a:ext cx="941832" cy="365760"/>
          </a:xfrm>
          <a:prstGeom prst="rect">
            <a:avLst/>
          </a:prstGeom>
          <a:noFill/>
          <a:ln/>
        </p:spPr>
        <p:txBody>
          <a:bodyPr wrap="square" lIns="0" tIns="0" rIns="0" bIns="0" rtlCol="0" anchor="ctr"/>
          <a:lstStyle/>
          <a:p>
            <a:pPr indent="0" marL="0">
              <a:buNone/>
            </a:pPr>
            <a:r>
              <a:rPr lang="en-US" sz="1500" b="1" dirty="0">
                <a:solidFill>
                  <a:schemeClr val="bg1"/>
                </a:solidFill>
              </a:rPr>
              <a:t>Cloud AI</a:t>
            </a:r>
            <a:endParaRPr lang="en-US" sz="1500" dirty="0"/>
          </a:p>
        </p:txBody>
      </p:sp>
      <p:sp>
        <p:nvSpPr>
          <p:cNvPr id="70" name="Cloud AI text"/>
          <p:cNvSpPr txBox="1"/>
          <p:nvPr/>
        </p:nvSpPr>
        <p:spPr>
          <a:xfrm>
            <a:off x="10561320" y="5074920"/>
            <a:ext cx="941832" cy="731520"/>
          </a:xfrm>
          <a:prstGeom prst="rect">
            <a:avLst/>
          </a:prstGeom>
          <a:noFill/>
          <a:ln/>
        </p:spPr>
        <p:txBody>
          <a:bodyPr wrap="square" lIns="0" tIns="0" rIns="0" bIns="0" rtlCol="0" anchor="t"/>
          <a:lstStyle/>
          <a:p>
            <a:pPr indent="0" marL="0">
              <a:buNone/>
            </a:pPr>
            <a:r>
              <a:rPr lang="en-US" sz="1150" dirty="0">
                <a:solidFill>
                  <a:schemeClr val="bg2"/>
                </a:solidFill>
              </a:rPr>
              <a:t>Groq, Whisper, Rumik: text only</a:t>
            </a:r>
            <a:endParaRPr lang="en-US" sz="1150" dirty="0"/>
          </a:p>
        </p:txBody>
      </p:sp>
      <p:sp>
        <p:nvSpPr>
          <p:cNvPr id="71" name="Arrow cameras-worker"/>
          <p:cNvSpPr/>
          <p:nvPr/>
        </p:nvSpPr>
        <p:spPr>
          <a:xfrm>
            <a:off x="3063240" y="2075688"/>
            <a:ext cx="365760" cy="914"/>
          </a:xfrm>
          <a:prstGeom prst="line">
            <a:avLst/>
          </a:prstGeom>
          <a:noFill/>
          <a:ln w="22225">
            <a:solidFill>
              <a:srgbClr val="52525B"/>
            </a:solidFill>
            <a:prstDash val="solid"/>
            <a:tailEnd type="triangle"/>
          </a:ln>
        </p:spPr>
      </p:sp>
      <p:sp>
        <p:nvSpPr>
          <p:cNvPr id="72" name="Arrow sensors-worker"/>
          <p:cNvSpPr/>
          <p:nvPr/>
        </p:nvSpPr>
        <p:spPr>
          <a:xfrm>
            <a:off x="3063240" y="3657600"/>
            <a:ext cx="365760" cy="914"/>
          </a:xfrm>
          <a:prstGeom prst="line">
            <a:avLst/>
          </a:prstGeom>
          <a:noFill/>
          <a:ln w="22225">
            <a:solidFill>
              <a:srgbClr val="52525B"/>
            </a:solidFill>
            <a:prstDash val="solid"/>
            <a:tailEnd type="triangle"/>
          </a:ln>
        </p:spPr>
      </p:sp>
      <p:sp>
        <p:nvSpPr>
          <p:cNvPr id="73" name="Arrow worker-api"/>
          <p:cNvSpPr/>
          <p:nvPr/>
        </p:nvSpPr>
        <p:spPr>
          <a:xfrm>
            <a:off x="6446520" y="3566160"/>
            <a:ext cx="457200" cy="914"/>
          </a:xfrm>
          <a:prstGeom prst="line">
            <a:avLst/>
          </a:prstGeom>
          <a:noFill/>
          <a:ln w="22225">
            <a:solidFill>
              <a:srgbClr val="B4F23C"/>
            </a:solidFill>
            <a:prstDash val="solid"/>
            <a:tailEnd type="triangle"/>
          </a:ln>
        </p:spPr>
      </p:sp>
      <p:sp>
        <p:nvSpPr>
          <p:cNvPr id="74" name="Arrow api-dashboard"/>
          <p:cNvSpPr/>
          <p:nvPr/>
        </p:nvSpPr>
        <p:spPr>
          <a:xfrm>
            <a:off x="9281160" y="2075688"/>
            <a:ext cx="411480" cy="914"/>
          </a:xfrm>
          <a:prstGeom prst="line">
            <a:avLst/>
          </a:prstGeom>
          <a:noFill/>
          <a:ln w="22225">
            <a:solidFill>
              <a:srgbClr val="52525B"/>
            </a:solidFill>
            <a:prstDash val="solid"/>
            <a:tailEnd type="triangle"/>
          </a:ln>
        </p:spPr>
      </p:sp>
      <p:sp>
        <p:nvSpPr>
          <p:cNvPr id="75" name="Arrow api-calls"/>
          <p:cNvSpPr/>
          <p:nvPr/>
        </p:nvSpPr>
        <p:spPr>
          <a:xfrm>
            <a:off x="9281160" y="3657600"/>
            <a:ext cx="411480" cy="914"/>
          </a:xfrm>
          <a:prstGeom prst="line">
            <a:avLst/>
          </a:prstGeom>
          <a:noFill/>
          <a:ln w="22225">
            <a:solidFill>
              <a:srgbClr val="F43F5E"/>
            </a:solidFill>
            <a:prstDash val="solid"/>
            <a:tailEnd type="triangle"/>
          </a:ln>
        </p:spPr>
      </p:sp>
      <p:sp>
        <p:nvSpPr>
          <p:cNvPr id="76" name="Arrow api-cloud"/>
          <p:cNvSpPr/>
          <p:nvPr/>
        </p:nvSpPr>
        <p:spPr>
          <a:xfrm>
            <a:off x="9281160" y="5212080"/>
            <a:ext cx="411480" cy="914"/>
          </a:xfrm>
          <a:prstGeom prst="line">
            <a:avLst/>
          </a:prstGeom>
          <a:noFill/>
          <a:ln w="22225">
            <a:solidFill>
              <a:srgbClr val="52525B"/>
            </a:solidFill>
            <a:prstDash val="solid"/>
            <a:tailEnd type="triangle"/>
          </a:ln>
        </p:spPr>
      </p:sp>
      <p:sp>
        <p:nvSpPr>
          <p:cNvPr id="77" name="Privacy line"/>
          <p:cNvSpPr txBox="1"/>
          <p:nvPr/>
        </p:nvSpPr>
        <p:spPr>
          <a:xfrm>
            <a:off x="548640" y="6035040"/>
            <a:ext cx="11094415" cy="320040"/>
          </a:xfrm>
          <a:prstGeom prst="rect">
            <a:avLst/>
          </a:prstGeom>
          <a:noFill/>
          <a:ln/>
        </p:spPr>
        <p:txBody>
          <a:bodyPr wrap="square" lIns="0" tIns="0" rIns="0" bIns="0" rtlCol="0" anchor="ctr"/>
          <a:lstStyle/>
          <a:p>
            <a:pPr indent="0" marL="0">
              <a:buNone/>
            </a:pPr>
            <a:r>
              <a:rPr lang="en-US" sz="1300" i="1" dirty="0">
                <a:solidFill>
                  <a:schemeClr val="accent2"/>
                </a:solidFill>
              </a:rPr>
              <a:t>Video, faces and recordings stay on the laptop. Only short alert text leaves the site.</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bg1"/>
                </a:solidFill>
              </a:rPr>
              <a:t>Technology stack</a:t>
            </a:r>
            <a:endParaRPr lang="en-US" sz="3200" dirty="0"/>
          </a:p>
        </p:txBody>
      </p:sp>
      <p:sp>
        <p:nvSpPr>
          <p:cNvPr id="3" name="Stack card 1"/>
          <p:cNvSpPr/>
          <p:nvPr/>
        </p:nvSpPr>
        <p:spPr>
          <a:xfrm>
            <a:off x="548640" y="1325880"/>
            <a:ext cx="5440680" cy="1417320"/>
          </a:xfrm>
          <a:prstGeom prst="roundRect">
            <a:avLst>
              <a:gd name="adj" fmla="val 9032"/>
            </a:avLst>
          </a:prstGeom>
          <a:solidFill>
            <a:schemeClr val="tx2"/>
          </a:solidFill>
          <a:ln w="9525">
            <a:solidFill>
              <a:srgbClr val="2A2B31"/>
            </a:solidFill>
            <a:prstDash val="solid"/>
          </a:ln>
        </p:spPr>
      </p:sp>
      <p:sp>
        <p:nvSpPr>
          <p:cNvPr id="4" name="Vision tile"/>
          <p:cNvSpPr/>
          <p:nvPr/>
        </p:nvSpPr>
        <p:spPr>
          <a:xfrm>
            <a:off x="777240" y="1600200"/>
            <a:ext cx="822960" cy="822960"/>
          </a:xfrm>
          <a:prstGeom prst="roundRect">
            <a:avLst>
              <a:gd name="adj" fmla="val 22000"/>
            </a:avLst>
          </a:prstGeom>
          <a:solidFill>
            <a:schemeClr val="accent2"/>
          </a:solidFill>
          <a:ln/>
        </p:spPr>
      </p:sp>
      <p:pic>
        <p:nvPicPr>
          <p:cNvPr id="5" name="Vision icon" descr="Vision">    </p:cNvPr>
          <p:cNvPicPr>
            <a:picLocks noChangeAspect="1"/>
          </p:cNvPicPr>
          <p:nvPr/>
        </p:nvPicPr>
        <p:blipFill>
          <a:blip r:embed="rId1"/>
          <a:stretch>
            <a:fillRect/>
          </a:stretch>
        </p:blipFill>
        <p:spPr>
          <a:xfrm>
            <a:off x="974750" y="1797710"/>
            <a:ext cx="427939" cy="427939"/>
          </a:xfrm>
          <a:prstGeom prst="rect">
            <a:avLst/>
          </a:prstGeom>
        </p:spPr>
      </p:pic>
      <p:sp>
        <p:nvSpPr>
          <p:cNvPr id="6" name="Stack head 1"/>
          <p:cNvSpPr txBox="1"/>
          <p:nvPr/>
        </p:nvSpPr>
        <p:spPr>
          <a:xfrm>
            <a:off x="1783080" y="1490472"/>
            <a:ext cx="4023360" cy="365760"/>
          </a:xfrm>
          <a:prstGeom prst="rect">
            <a:avLst/>
          </a:prstGeom>
          <a:noFill/>
          <a:ln/>
        </p:spPr>
        <p:txBody>
          <a:bodyPr wrap="square" lIns="0" tIns="0" rIns="0" bIns="0" rtlCol="0" anchor="ctr"/>
          <a:lstStyle/>
          <a:p>
            <a:pPr indent="0" marL="0">
              <a:buNone/>
            </a:pPr>
            <a:r>
              <a:rPr lang="en-US" sz="1700" b="1" dirty="0">
                <a:solidFill>
                  <a:schemeClr val="bg1"/>
                </a:solidFill>
              </a:rPr>
              <a:t>Vision</a:t>
            </a:r>
            <a:endParaRPr lang="en-US" sz="1700" dirty="0"/>
          </a:p>
        </p:txBody>
      </p:sp>
      <p:sp>
        <p:nvSpPr>
          <p:cNvPr id="7" name="Stack text 1"/>
          <p:cNvSpPr txBox="1"/>
          <p:nvPr/>
        </p:nvSpPr>
        <p:spPr>
          <a:xfrm>
            <a:off x="1783080" y="1856232"/>
            <a:ext cx="4069080" cy="822960"/>
          </a:xfrm>
          <a:prstGeom prst="rect">
            <a:avLst/>
          </a:prstGeom>
          <a:noFill/>
          <a:ln/>
        </p:spPr>
        <p:txBody>
          <a:bodyPr wrap="square" lIns="0" tIns="0" rIns="0" bIns="0" rtlCol="0" anchor="t"/>
          <a:lstStyle/>
          <a:p>
            <a:pPr indent="0" marL="0">
              <a:buNone/>
            </a:pPr>
            <a:r>
              <a:rPr lang="en-US" sz="1250" dirty="0">
                <a:solidFill>
                  <a:schemeClr val="bg2"/>
                </a:solidFill>
              </a:rPr>
              <a:t>Ultralytics YOLO11n-pose · ByteTrack · custom YOLO11n fire/smoke, PPE, rider-helmet · OpenCV YuNet + SFace · OpenVINO (Intel CPU) · FFmpeg H.264</a:t>
            </a:r>
            <a:endParaRPr lang="en-US" sz="1250" dirty="0"/>
          </a:p>
        </p:txBody>
      </p:sp>
      <p:sp>
        <p:nvSpPr>
          <p:cNvPr id="8" name="Stack card 2"/>
          <p:cNvSpPr/>
          <p:nvPr/>
        </p:nvSpPr>
        <p:spPr>
          <a:xfrm>
            <a:off x="6172200" y="1325880"/>
            <a:ext cx="5440680" cy="1417320"/>
          </a:xfrm>
          <a:prstGeom prst="roundRect">
            <a:avLst>
              <a:gd name="adj" fmla="val 9032"/>
            </a:avLst>
          </a:prstGeom>
          <a:solidFill>
            <a:schemeClr val="tx2"/>
          </a:solidFill>
          <a:ln w="9525">
            <a:solidFill>
              <a:srgbClr val="2A2B31"/>
            </a:solidFill>
            <a:prstDash val="solid"/>
          </a:ln>
        </p:spPr>
      </p:sp>
      <p:sp>
        <p:nvSpPr>
          <p:cNvPr id="9" name="Backend tile"/>
          <p:cNvSpPr/>
          <p:nvPr/>
        </p:nvSpPr>
        <p:spPr>
          <a:xfrm>
            <a:off x="6400800" y="1600200"/>
            <a:ext cx="822960" cy="822960"/>
          </a:xfrm>
          <a:prstGeom prst="roundRect">
            <a:avLst>
              <a:gd name="adj" fmla="val 22000"/>
            </a:avLst>
          </a:prstGeom>
          <a:solidFill>
            <a:schemeClr val="accent1"/>
          </a:solidFill>
          <a:ln/>
        </p:spPr>
      </p:sp>
      <p:pic>
        <p:nvPicPr>
          <p:cNvPr id="10" name="Backend icon" descr="Backend">    </p:cNvPr>
          <p:cNvPicPr>
            <a:picLocks noChangeAspect="1"/>
          </p:cNvPicPr>
          <p:nvPr/>
        </p:nvPicPr>
        <p:blipFill>
          <a:blip r:embed="rId2"/>
          <a:stretch>
            <a:fillRect/>
          </a:stretch>
        </p:blipFill>
        <p:spPr>
          <a:xfrm>
            <a:off x="6598310" y="1797710"/>
            <a:ext cx="427939" cy="427939"/>
          </a:xfrm>
          <a:prstGeom prst="rect">
            <a:avLst/>
          </a:prstGeom>
        </p:spPr>
      </p:pic>
      <p:sp>
        <p:nvSpPr>
          <p:cNvPr id="11" name="Stack head 2"/>
          <p:cNvSpPr txBox="1"/>
          <p:nvPr/>
        </p:nvSpPr>
        <p:spPr>
          <a:xfrm>
            <a:off x="7406640" y="1490472"/>
            <a:ext cx="4023360" cy="365760"/>
          </a:xfrm>
          <a:prstGeom prst="rect">
            <a:avLst/>
          </a:prstGeom>
          <a:noFill/>
          <a:ln/>
        </p:spPr>
        <p:txBody>
          <a:bodyPr wrap="square" lIns="0" tIns="0" rIns="0" bIns="0" rtlCol="0" anchor="ctr"/>
          <a:lstStyle/>
          <a:p>
            <a:pPr indent="0" marL="0">
              <a:buNone/>
            </a:pPr>
            <a:r>
              <a:rPr lang="en-US" sz="1700" b="1" dirty="0">
                <a:solidFill>
                  <a:schemeClr val="bg1"/>
                </a:solidFill>
              </a:rPr>
              <a:t>Backend</a:t>
            </a:r>
            <a:endParaRPr lang="en-US" sz="1700" dirty="0"/>
          </a:p>
        </p:txBody>
      </p:sp>
      <p:sp>
        <p:nvSpPr>
          <p:cNvPr id="12" name="Stack text 2"/>
          <p:cNvSpPr txBox="1"/>
          <p:nvPr/>
        </p:nvSpPr>
        <p:spPr>
          <a:xfrm>
            <a:off x="7406640" y="1856232"/>
            <a:ext cx="4069080" cy="822960"/>
          </a:xfrm>
          <a:prstGeom prst="rect">
            <a:avLst/>
          </a:prstGeom>
          <a:noFill/>
          <a:ln/>
        </p:spPr>
        <p:txBody>
          <a:bodyPr wrap="square" lIns="0" tIns="0" rIns="0" bIns="0" rtlCol="0" anchor="t"/>
          <a:lstStyle/>
          <a:p>
            <a:pPr indent="0" marL="0">
              <a:buNone/>
            </a:pPr>
            <a:r>
              <a:rPr lang="en-US" sz="1250" dirty="0">
                <a:solidFill>
                  <a:schemeClr val="bg2"/>
                </a:solidFill>
              </a:rPr>
              <a:t>Python 3.11 · FastAPI · Uvicorn · SQLAlchemy 2 · Alembic · PostgreSQL · APScheduler · httpx · psutil</a:t>
            </a:r>
            <a:endParaRPr lang="en-US" sz="1250" dirty="0"/>
          </a:p>
        </p:txBody>
      </p:sp>
      <p:sp>
        <p:nvSpPr>
          <p:cNvPr id="13" name="Stack card 3"/>
          <p:cNvSpPr/>
          <p:nvPr/>
        </p:nvSpPr>
        <p:spPr>
          <a:xfrm>
            <a:off x="548640" y="2926080"/>
            <a:ext cx="5440680" cy="1417320"/>
          </a:xfrm>
          <a:prstGeom prst="roundRect">
            <a:avLst>
              <a:gd name="adj" fmla="val 9032"/>
            </a:avLst>
          </a:prstGeom>
          <a:solidFill>
            <a:schemeClr val="tx2"/>
          </a:solidFill>
          <a:ln w="9525">
            <a:solidFill>
              <a:srgbClr val="2A2B31"/>
            </a:solidFill>
            <a:prstDash val="solid"/>
          </a:ln>
        </p:spPr>
      </p:sp>
      <p:sp>
        <p:nvSpPr>
          <p:cNvPr id="14" name="Calls &amp; alerts tile"/>
          <p:cNvSpPr/>
          <p:nvPr/>
        </p:nvSpPr>
        <p:spPr>
          <a:xfrm>
            <a:off x="777240" y="3200400"/>
            <a:ext cx="822960" cy="822960"/>
          </a:xfrm>
          <a:prstGeom prst="roundRect">
            <a:avLst>
              <a:gd name="adj" fmla="val 22000"/>
            </a:avLst>
          </a:prstGeom>
          <a:solidFill>
            <a:schemeClr val="accent3"/>
          </a:solidFill>
          <a:ln/>
        </p:spPr>
      </p:sp>
      <p:pic>
        <p:nvPicPr>
          <p:cNvPr id="15" name="Calls &amp; alerts icon" descr="Calls &amp; alerts">    </p:cNvPr>
          <p:cNvPicPr>
            <a:picLocks noChangeAspect="1"/>
          </p:cNvPicPr>
          <p:nvPr/>
        </p:nvPicPr>
        <p:blipFill>
          <a:blip r:embed="rId3"/>
          <a:stretch>
            <a:fillRect/>
          </a:stretch>
        </p:blipFill>
        <p:spPr>
          <a:xfrm>
            <a:off x="974750" y="3397910"/>
            <a:ext cx="427939" cy="427939"/>
          </a:xfrm>
          <a:prstGeom prst="rect">
            <a:avLst/>
          </a:prstGeom>
        </p:spPr>
      </p:pic>
      <p:sp>
        <p:nvSpPr>
          <p:cNvPr id="16" name="Stack head 3"/>
          <p:cNvSpPr txBox="1"/>
          <p:nvPr/>
        </p:nvSpPr>
        <p:spPr>
          <a:xfrm>
            <a:off x="1783080" y="3090672"/>
            <a:ext cx="4023360" cy="365760"/>
          </a:xfrm>
          <a:prstGeom prst="rect">
            <a:avLst/>
          </a:prstGeom>
          <a:noFill/>
          <a:ln/>
        </p:spPr>
        <p:txBody>
          <a:bodyPr wrap="square" lIns="0" tIns="0" rIns="0" bIns="0" rtlCol="0" anchor="ctr"/>
          <a:lstStyle/>
          <a:p>
            <a:pPr indent="0" marL="0">
              <a:buNone/>
            </a:pPr>
            <a:r>
              <a:rPr lang="en-US" sz="1700" b="1" dirty="0">
                <a:solidFill>
                  <a:schemeClr val="bg1"/>
                </a:solidFill>
              </a:rPr>
              <a:t>Calls &amp; alerts</a:t>
            </a:r>
            <a:endParaRPr lang="en-US" sz="1700" dirty="0"/>
          </a:p>
        </p:txBody>
      </p:sp>
      <p:sp>
        <p:nvSpPr>
          <p:cNvPr id="17" name="Stack text 3"/>
          <p:cNvSpPr txBox="1"/>
          <p:nvPr/>
        </p:nvSpPr>
        <p:spPr>
          <a:xfrm>
            <a:off x="1783080" y="3456432"/>
            <a:ext cx="4069080" cy="822960"/>
          </a:xfrm>
          <a:prstGeom prst="rect">
            <a:avLst/>
          </a:prstGeom>
          <a:noFill/>
          <a:ln/>
        </p:spPr>
        <p:txBody>
          <a:bodyPr wrap="square" lIns="0" tIns="0" rIns="0" bIns="0" rtlCol="0" anchor="t"/>
          <a:lstStyle/>
          <a:p>
            <a:pPr indent="0" marL="0">
              <a:buNone/>
            </a:pPr>
            <a:r>
              <a:rPr lang="en-US" sz="1250" dirty="0">
                <a:solidFill>
                  <a:schemeClr val="bg2"/>
                </a:solidFill>
              </a:rPr>
              <a:t>Twilio Voice (TwiML, speech + keypad gather, signed webhooks) · WhatsApp · ngrok · 1 call/s queue</a:t>
            </a:r>
            <a:endParaRPr lang="en-US" sz="1250" dirty="0"/>
          </a:p>
        </p:txBody>
      </p:sp>
      <p:sp>
        <p:nvSpPr>
          <p:cNvPr id="18" name="Stack card 4"/>
          <p:cNvSpPr/>
          <p:nvPr/>
        </p:nvSpPr>
        <p:spPr>
          <a:xfrm>
            <a:off x="6172200" y="2926080"/>
            <a:ext cx="5440680" cy="1417320"/>
          </a:xfrm>
          <a:prstGeom prst="roundRect">
            <a:avLst>
              <a:gd name="adj" fmla="val 9032"/>
            </a:avLst>
          </a:prstGeom>
          <a:solidFill>
            <a:schemeClr val="tx2"/>
          </a:solidFill>
          <a:ln w="9525">
            <a:solidFill>
              <a:srgbClr val="2A2B31"/>
            </a:solidFill>
            <a:prstDash val="solid"/>
          </a:ln>
        </p:spPr>
      </p:sp>
      <p:sp>
        <p:nvSpPr>
          <p:cNvPr id="19" name="AI assistant tile"/>
          <p:cNvSpPr/>
          <p:nvPr/>
        </p:nvSpPr>
        <p:spPr>
          <a:xfrm>
            <a:off x="6400800" y="3200400"/>
            <a:ext cx="822960" cy="822960"/>
          </a:xfrm>
          <a:prstGeom prst="roundRect">
            <a:avLst>
              <a:gd name="adj" fmla="val 22000"/>
            </a:avLst>
          </a:prstGeom>
          <a:solidFill>
            <a:schemeClr val="accent5"/>
          </a:solidFill>
          <a:ln/>
        </p:spPr>
      </p:sp>
      <p:pic>
        <p:nvPicPr>
          <p:cNvPr id="20" name="AI assistant icon" descr="AI assistant">    </p:cNvPr>
          <p:cNvPicPr>
            <a:picLocks noChangeAspect="1"/>
          </p:cNvPicPr>
          <p:nvPr/>
        </p:nvPicPr>
        <p:blipFill>
          <a:blip r:embed="rId4"/>
          <a:stretch>
            <a:fillRect/>
          </a:stretch>
        </p:blipFill>
        <p:spPr>
          <a:xfrm>
            <a:off x="6598310" y="3397910"/>
            <a:ext cx="427939" cy="427939"/>
          </a:xfrm>
          <a:prstGeom prst="rect">
            <a:avLst/>
          </a:prstGeom>
        </p:spPr>
      </p:pic>
      <p:sp>
        <p:nvSpPr>
          <p:cNvPr id="21" name="Stack head 4"/>
          <p:cNvSpPr txBox="1"/>
          <p:nvPr/>
        </p:nvSpPr>
        <p:spPr>
          <a:xfrm>
            <a:off x="7406640" y="3090672"/>
            <a:ext cx="4023360" cy="365760"/>
          </a:xfrm>
          <a:prstGeom prst="rect">
            <a:avLst/>
          </a:prstGeom>
          <a:noFill/>
          <a:ln/>
        </p:spPr>
        <p:txBody>
          <a:bodyPr wrap="square" lIns="0" tIns="0" rIns="0" bIns="0" rtlCol="0" anchor="ctr"/>
          <a:lstStyle/>
          <a:p>
            <a:pPr indent="0" marL="0">
              <a:buNone/>
            </a:pPr>
            <a:r>
              <a:rPr lang="en-US" sz="1700" b="1" dirty="0">
                <a:solidFill>
                  <a:schemeClr val="bg1"/>
                </a:solidFill>
              </a:rPr>
              <a:t>AI assistant</a:t>
            </a:r>
            <a:endParaRPr lang="en-US" sz="1700" dirty="0"/>
          </a:p>
        </p:txBody>
      </p:sp>
      <p:sp>
        <p:nvSpPr>
          <p:cNvPr id="22" name="Stack text 4"/>
          <p:cNvSpPr txBox="1"/>
          <p:nvPr/>
        </p:nvSpPr>
        <p:spPr>
          <a:xfrm>
            <a:off x="7406640" y="3456432"/>
            <a:ext cx="4069080" cy="822960"/>
          </a:xfrm>
          <a:prstGeom prst="rect">
            <a:avLst/>
          </a:prstGeom>
          <a:noFill/>
          <a:ln/>
        </p:spPr>
        <p:txBody>
          <a:bodyPr wrap="square" lIns="0" tIns="0" rIns="0" bIns="0" rtlCol="0" anchor="t"/>
          <a:lstStyle/>
          <a:p>
            <a:pPr indent="0" marL="0">
              <a:buNone/>
            </a:pPr>
            <a:r>
              <a:rPr lang="en-US" sz="1250" dirty="0">
                <a:solidFill>
                  <a:schemeClr val="bg2"/>
                </a:solidFill>
              </a:rPr>
              <a:t>Groq LLM (JSON mode, function calling) · Ollama llama3.2:3b offline · Groq Whisper / faster-whisper · Rumik Silk TTS · Vosk / openWakeWord "Hey Friday"</a:t>
            </a:r>
            <a:endParaRPr lang="en-US" sz="1250" dirty="0"/>
          </a:p>
        </p:txBody>
      </p:sp>
      <p:sp>
        <p:nvSpPr>
          <p:cNvPr id="23" name="Stack card 5"/>
          <p:cNvSpPr/>
          <p:nvPr/>
        </p:nvSpPr>
        <p:spPr>
          <a:xfrm>
            <a:off x="548640" y="4526280"/>
            <a:ext cx="5440680" cy="1417320"/>
          </a:xfrm>
          <a:prstGeom prst="roundRect">
            <a:avLst>
              <a:gd name="adj" fmla="val 9032"/>
            </a:avLst>
          </a:prstGeom>
          <a:solidFill>
            <a:schemeClr val="tx2"/>
          </a:solidFill>
          <a:ln w="9525">
            <a:solidFill>
              <a:srgbClr val="2A2B31"/>
            </a:solidFill>
            <a:prstDash val="solid"/>
          </a:ln>
        </p:spPr>
      </p:sp>
      <p:sp>
        <p:nvSpPr>
          <p:cNvPr id="24" name="Frontend tile"/>
          <p:cNvSpPr/>
          <p:nvPr/>
        </p:nvSpPr>
        <p:spPr>
          <a:xfrm>
            <a:off x="777240" y="4800600"/>
            <a:ext cx="822960" cy="822960"/>
          </a:xfrm>
          <a:prstGeom prst="roundRect">
            <a:avLst>
              <a:gd name="adj" fmla="val 22000"/>
            </a:avLst>
          </a:prstGeom>
          <a:solidFill>
            <a:schemeClr val="accent4"/>
          </a:solidFill>
          <a:ln/>
        </p:spPr>
      </p:sp>
      <p:pic>
        <p:nvPicPr>
          <p:cNvPr id="25" name="Frontend icon" descr="Frontend">    </p:cNvPr>
          <p:cNvPicPr>
            <a:picLocks noChangeAspect="1"/>
          </p:cNvPicPr>
          <p:nvPr/>
        </p:nvPicPr>
        <p:blipFill>
          <a:blip r:embed="rId5"/>
          <a:stretch>
            <a:fillRect/>
          </a:stretch>
        </p:blipFill>
        <p:spPr>
          <a:xfrm>
            <a:off x="974750" y="4998110"/>
            <a:ext cx="427939" cy="427939"/>
          </a:xfrm>
          <a:prstGeom prst="rect">
            <a:avLst/>
          </a:prstGeom>
        </p:spPr>
      </p:pic>
      <p:sp>
        <p:nvSpPr>
          <p:cNvPr id="26" name="Stack head 5"/>
          <p:cNvSpPr txBox="1"/>
          <p:nvPr/>
        </p:nvSpPr>
        <p:spPr>
          <a:xfrm>
            <a:off x="1783080" y="4690872"/>
            <a:ext cx="4023360" cy="365760"/>
          </a:xfrm>
          <a:prstGeom prst="rect">
            <a:avLst/>
          </a:prstGeom>
          <a:noFill/>
          <a:ln/>
        </p:spPr>
        <p:txBody>
          <a:bodyPr wrap="square" lIns="0" tIns="0" rIns="0" bIns="0" rtlCol="0" anchor="ctr"/>
          <a:lstStyle/>
          <a:p>
            <a:pPr indent="0" marL="0">
              <a:buNone/>
            </a:pPr>
            <a:r>
              <a:rPr lang="en-US" sz="1700" b="1" dirty="0">
                <a:solidFill>
                  <a:schemeClr val="bg1"/>
                </a:solidFill>
              </a:rPr>
              <a:t>Frontend</a:t>
            </a:r>
            <a:endParaRPr lang="en-US" sz="1700" dirty="0"/>
          </a:p>
        </p:txBody>
      </p:sp>
      <p:sp>
        <p:nvSpPr>
          <p:cNvPr id="27" name="Stack text 5"/>
          <p:cNvSpPr txBox="1"/>
          <p:nvPr/>
        </p:nvSpPr>
        <p:spPr>
          <a:xfrm>
            <a:off x="1783080" y="5056632"/>
            <a:ext cx="4069080" cy="822960"/>
          </a:xfrm>
          <a:prstGeom prst="rect">
            <a:avLst/>
          </a:prstGeom>
          <a:noFill/>
          <a:ln/>
        </p:spPr>
        <p:txBody>
          <a:bodyPr wrap="square" lIns="0" tIns="0" rIns="0" bIns="0" rtlCol="0" anchor="t"/>
          <a:lstStyle/>
          <a:p>
            <a:pPr indent="0" marL="0">
              <a:buNone/>
            </a:pPr>
            <a:r>
              <a:rPr lang="en-US" sz="1250" dirty="0">
                <a:solidFill>
                  <a:schemeClr val="bg2"/>
                </a:solidFill>
              </a:rPr>
              <a:t>React 19 · TypeScript · Vite · Tailwind · TanStack Query · framer-motion · three.js voice orb · WebSocket</a:t>
            </a:r>
            <a:endParaRPr lang="en-US" sz="1250" dirty="0"/>
          </a:p>
        </p:txBody>
      </p:sp>
      <p:sp>
        <p:nvSpPr>
          <p:cNvPr id="28" name="Stack card 6"/>
          <p:cNvSpPr/>
          <p:nvPr/>
        </p:nvSpPr>
        <p:spPr>
          <a:xfrm>
            <a:off x="6172200" y="4526280"/>
            <a:ext cx="5440680" cy="1417320"/>
          </a:xfrm>
          <a:prstGeom prst="roundRect">
            <a:avLst>
              <a:gd name="adj" fmla="val 9032"/>
            </a:avLst>
          </a:prstGeom>
          <a:solidFill>
            <a:schemeClr val="tx2"/>
          </a:solidFill>
          <a:ln w="9525">
            <a:solidFill>
              <a:srgbClr val="2A2B31"/>
            </a:solidFill>
            <a:prstDash val="solid"/>
          </a:ln>
        </p:spPr>
      </p:sp>
      <p:sp>
        <p:nvSpPr>
          <p:cNvPr id="29" name="Training &amp; quality tile"/>
          <p:cNvSpPr/>
          <p:nvPr/>
        </p:nvSpPr>
        <p:spPr>
          <a:xfrm>
            <a:off x="6400800" y="4800600"/>
            <a:ext cx="822960" cy="822960"/>
          </a:xfrm>
          <a:prstGeom prst="roundRect">
            <a:avLst>
              <a:gd name="adj" fmla="val 22000"/>
            </a:avLst>
          </a:prstGeom>
          <a:solidFill>
            <a:schemeClr val="accent6"/>
          </a:solidFill>
          <a:ln/>
        </p:spPr>
      </p:sp>
      <p:pic>
        <p:nvPicPr>
          <p:cNvPr id="30" name="Training &amp; quality icon" descr="Training &amp; quality">    </p:cNvPr>
          <p:cNvPicPr>
            <a:picLocks noChangeAspect="1"/>
          </p:cNvPicPr>
          <p:nvPr/>
        </p:nvPicPr>
        <p:blipFill>
          <a:blip r:embed="rId6"/>
          <a:stretch>
            <a:fillRect/>
          </a:stretch>
        </p:blipFill>
        <p:spPr>
          <a:xfrm>
            <a:off x="6598310" y="4998110"/>
            <a:ext cx="427939" cy="427939"/>
          </a:xfrm>
          <a:prstGeom prst="rect">
            <a:avLst/>
          </a:prstGeom>
        </p:spPr>
      </p:pic>
      <p:sp>
        <p:nvSpPr>
          <p:cNvPr id="31" name="Stack head 6"/>
          <p:cNvSpPr txBox="1"/>
          <p:nvPr/>
        </p:nvSpPr>
        <p:spPr>
          <a:xfrm>
            <a:off x="7406640" y="4690872"/>
            <a:ext cx="4023360" cy="365760"/>
          </a:xfrm>
          <a:prstGeom prst="rect">
            <a:avLst/>
          </a:prstGeom>
          <a:noFill/>
          <a:ln/>
        </p:spPr>
        <p:txBody>
          <a:bodyPr wrap="square" lIns="0" tIns="0" rIns="0" bIns="0" rtlCol="0" anchor="ctr"/>
          <a:lstStyle/>
          <a:p>
            <a:pPr indent="0" marL="0">
              <a:buNone/>
            </a:pPr>
            <a:r>
              <a:rPr lang="en-US" sz="1700" b="1" dirty="0">
                <a:solidFill>
                  <a:schemeClr val="bg1"/>
                </a:solidFill>
              </a:rPr>
              <a:t>Training &amp; quality</a:t>
            </a:r>
            <a:endParaRPr lang="en-US" sz="1700" dirty="0"/>
          </a:p>
        </p:txBody>
      </p:sp>
      <p:sp>
        <p:nvSpPr>
          <p:cNvPr id="32" name="Stack text 6"/>
          <p:cNvSpPr txBox="1"/>
          <p:nvPr/>
        </p:nvSpPr>
        <p:spPr>
          <a:xfrm>
            <a:off x="7406640" y="5056632"/>
            <a:ext cx="4069080" cy="822960"/>
          </a:xfrm>
          <a:prstGeom prst="rect">
            <a:avLst/>
          </a:prstGeom>
          <a:noFill/>
          <a:ln/>
        </p:spPr>
        <p:txBody>
          <a:bodyPr wrap="square" lIns="0" tIns="0" rIns="0" bIns="0" rtlCol="0" anchor="t"/>
          <a:lstStyle/>
          <a:p>
            <a:pPr indent="0" marL="0">
              <a:buNone/>
            </a:pPr>
            <a:r>
              <a:rPr lang="en-US" sz="1250" dirty="0">
                <a:solidFill>
                  <a:schemeClr val="bg2"/>
                </a:solidFill>
              </a:rPr>
              <a:t>Google Colab T4 · Roboflow datasets + Auto Label · pytest (300+ tests) · Playwright browser checks</a:t>
            </a:r>
            <a:endParaRPr lang="en-US" sz="12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bg1"/>
                </a:solidFill>
              </a:rPr>
              <a:t>Methodology: from pixels to a confirmed incident</a:t>
            </a:r>
            <a:endParaRPr lang="en-US" sz="3200" dirty="0"/>
          </a:p>
        </p:txBody>
      </p:sp>
      <p:sp>
        <p:nvSpPr>
          <p:cNvPr id="3" name="Step card 1"/>
          <p:cNvSpPr/>
          <p:nvPr/>
        </p:nvSpPr>
        <p:spPr>
          <a:xfrm>
            <a:off x="548640" y="1463040"/>
            <a:ext cx="2606040" cy="3566160"/>
          </a:xfrm>
          <a:prstGeom prst="roundRect">
            <a:avLst>
              <a:gd name="adj" fmla="val 4912"/>
            </a:avLst>
          </a:prstGeom>
          <a:solidFill>
            <a:schemeClr val="tx2"/>
          </a:solidFill>
          <a:ln w="9525">
            <a:solidFill>
              <a:srgbClr val="2A2B31"/>
            </a:solidFill>
            <a:prstDash val="solid"/>
          </a:ln>
        </p:spPr>
      </p:sp>
      <p:sp>
        <p:nvSpPr>
          <p:cNvPr id="4" name="1 · Capture tile"/>
          <p:cNvSpPr/>
          <p:nvPr/>
        </p:nvSpPr>
        <p:spPr>
          <a:xfrm>
            <a:off x="822960" y="1737360"/>
            <a:ext cx="777240" cy="777240"/>
          </a:xfrm>
          <a:prstGeom prst="roundRect">
            <a:avLst>
              <a:gd name="adj" fmla="val 22000"/>
            </a:avLst>
          </a:prstGeom>
          <a:solidFill>
            <a:schemeClr val="accent4"/>
          </a:solidFill>
          <a:ln/>
        </p:spPr>
      </p:sp>
      <p:pic>
        <p:nvPicPr>
          <p:cNvPr id="5" name="1 · Capture icon" descr="1 · Capture">    </p:cNvPr>
          <p:cNvPicPr>
            <a:picLocks noChangeAspect="1"/>
          </p:cNvPicPr>
          <p:nvPr/>
        </p:nvPicPr>
        <p:blipFill>
          <a:blip r:embed="rId1"/>
          <a:stretch>
            <a:fillRect/>
          </a:stretch>
        </p:blipFill>
        <p:spPr>
          <a:xfrm>
            <a:off x="1009498" y="1923898"/>
            <a:ext cx="404165" cy="404165"/>
          </a:xfrm>
          <a:prstGeom prst="rect">
            <a:avLst/>
          </a:prstGeom>
        </p:spPr>
      </p:pic>
      <p:sp>
        <p:nvSpPr>
          <p:cNvPr id="6" name="Step head 1"/>
          <p:cNvSpPr txBox="1"/>
          <p:nvPr/>
        </p:nvSpPr>
        <p:spPr>
          <a:xfrm>
            <a:off x="822960" y="2697480"/>
            <a:ext cx="2103120" cy="411480"/>
          </a:xfrm>
          <a:prstGeom prst="rect">
            <a:avLst/>
          </a:prstGeom>
          <a:noFill/>
          <a:ln/>
        </p:spPr>
        <p:txBody>
          <a:bodyPr wrap="square" lIns="0" tIns="0" rIns="0" bIns="0" rtlCol="0" anchor="ctr"/>
          <a:lstStyle/>
          <a:p>
            <a:pPr indent="0" marL="0">
              <a:buNone/>
            </a:pPr>
            <a:r>
              <a:rPr lang="en-US" sz="1800" b="1" dirty="0">
                <a:solidFill>
                  <a:schemeClr val="bg1"/>
                </a:solidFill>
              </a:rPr>
              <a:t>1 · Capture</a:t>
            </a:r>
            <a:endParaRPr lang="en-US" sz="1800" dirty="0"/>
          </a:p>
        </p:txBody>
      </p:sp>
      <p:sp>
        <p:nvSpPr>
          <p:cNvPr id="7" name="Step text 1"/>
          <p:cNvSpPr txBox="1"/>
          <p:nvPr/>
        </p:nvSpPr>
        <p:spPr>
          <a:xfrm>
            <a:off x="822960" y="3154680"/>
            <a:ext cx="2148840" cy="1783080"/>
          </a:xfrm>
          <a:prstGeom prst="rect">
            <a:avLst/>
          </a:prstGeom>
          <a:noFill/>
          <a:ln/>
        </p:spPr>
        <p:txBody>
          <a:bodyPr wrap="square" lIns="0" tIns="0" rIns="0" bIns="0" rtlCol="0" anchor="t"/>
          <a:lstStyle/>
          <a:p>
            <a:pPr indent="0" marL="0">
              <a:buNone/>
            </a:pPr>
            <a:r>
              <a:rPr lang="en-US" sz="1350" dirty="0">
                <a:solidFill>
                  <a:schemeClr val="bg2"/>
                </a:solidFill>
              </a:rPr>
              <a:t>A thread reads the camera nonstop and keeps only the newest frame, so analysis is never behind.</a:t>
            </a:r>
            <a:endParaRPr lang="en-US" sz="1350" dirty="0"/>
          </a:p>
        </p:txBody>
      </p:sp>
      <p:sp>
        <p:nvSpPr>
          <p:cNvPr id="8" name="Step arrow 1"/>
          <p:cNvSpPr/>
          <p:nvPr/>
        </p:nvSpPr>
        <p:spPr>
          <a:xfrm>
            <a:off x="3182112" y="3246120"/>
            <a:ext cx="182880" cy="914"/>
          </a:xfrm>
          <a:prstGeom prst="line">
            <a:avLst/>
          </a:prstGeom>
          <a:noFill/>
          <a:ln w="22225">
            <a:solidFill>
              <a:srgbClr val="B4F23C"/>
            </a:solidFill>
            <a:prstDash val="solid"/>
            <a:tailEnd type="triangle"/>
          </a:ln>
        </p:spPr>
      </p:sp>
      <p:sp>
        <p:nvSpPr>
          <p:cNvPr id="9" name="Step card 2"/>
          <p:cNvSpPr/>
          <p:nvPr/>
        </p:nvSpPr>
        <p:spPr>
          <a:xfrm>
            <a:off x="3383280" y="1463040"/>
            <a:ext cx="2606040" cy="3566160"/>
          </a:xfrm>
          <a:prstGeom prst="roundRect">
            <a:avLst>
              <a:gd name="adj" fmla="val 4912"/>
            </a:avLst>
          </a:prstGeom>
          <a:solidFill>
            <a:schemeClr val="tx2"/>
          </a:solidFill>
          <a:ln w="9525">
            <a:solidFill>
              <a:srgbClr val="2A2B31"/>
            </a:solidFill>
            <a:prstDash val="solid"/>
          </a:ln>
        </p:spPr>
      </p:sp>
      <p:sp>
        <p:nvSpPr>
          <p:cNvPr id="10" name="2 · Detect &amp; track tile"/>
          <p:cNvSpPr/>
          <p:nvPr/>
        </p:nvSpPr>
        <p:spPr>
          <a:xfrm>
            <a:off x="3657600" y="1737360"/>
            <a:ext cx="777240" cy="777240"/>
          </a:xfrm>
          <a:prstGeom prst="roundRect">
            <a:avLst>
              <a:gd name="adj" fmla="val 22000"/>
            </a:avLst>
          </a:prstGeom>
          <a:solidFill>
            <a:schemeClr val="accent2"/>
          </a:solidFill>
          <a:ln/>
        </p:spPr>
      </p:sp>
      <p:pic>
        <p:nvPicPr>
          <p:cNvPr id="11" name="2 · Detect &amp; track icon" descr="2 · Detect &amp; track">    </p:cNvPr>
          <p:cNvPicPr>
            <a:picLocks noChangeAspect="1"/>
          </p:cNvPicPr>
          <p:nvPr/>
        </p:nvPicPr>
        <p:blipFill>
          <a:blip r:embed="rId2"/>
          <a:stretch>
            <a:fillRect/>
          </a:stretch>
        </p:blipFill>
        <p:spPr>
          <a:xfrm>
            <a:off x="3844138" y="1923898"/>
            <a:ext cx="404165" cy="404165"/>
          </a:xfrm>
          <a:prstGeom prst="rect">
            <a:avLst/>
          </a:prstGeom>
        </p:spPr>
      </p:pic>
      <p:sp>
        <p:nvSpPr>
          <p:cNvPr id="12" name="Step head 2"/>
          <p:cNvSpPr txBox="1"/>
          <p:nvPr/>
        </p:nvSpPr>
        <p:spPr>
          <a:xfrm>
            <a:off x="3657600" y="2697480"/>
            <a:ext cx="2103120" cy="411480"/>
          </a:xfrm>
          <a:prstGeom prst="rect">
            <a:avLst/>
          </a:prstGeom>
          <a:noFill/>
          <a:ln/>
        </p:spPr>
        <p:txBody>
          <a:bodyPr wrap="square" lIns="0" tIns="0" rIns="0" bIns="0" rtlCol="0" anchor="ctr"/>
          <a:lstStyle/>
          <a:p>
            <a:pPr indent="0" marL="0">
              <a:buNone/>
            </a:pPr>
            <a:r>
              <a:rPr lang="en-US" sz="1800" b="1" dirty="0">
                <a:solidFill>
                  <a:schemeClr val="bg1"/>
                </a:solidFill>
              </a:rPr>
              <a:t>2 · Detect &amp; track</a:t>
            </a:r>
            <a:endParaRPr lang="en-US" sz="1800" dirty="0"/>
          </a:p>
        </p:txBody>
      </p:sp>
      <p:sp>
        <p:nvSpPr>
          <p:cNvPr id="13" name="Step text 2"/>
          <p:cNvSpPr txBox="1"/>
          <p:nvPr/>
        </p:nvSpPr>
        <p:spPr>
          <a:xfrm>
            <a:off x="3657600" y="3154680"/>
            <a:ext cx="2148840" cy="1783080"/>
          </a:xfrm>
          <a:prstGeom prst="rect">
            <a:avLst/>
          </a:prstGeom>
          <a:noFill/>
          <a:ln/>
        </p:spPr>
        <p:txBody>
          <a:bodyPr wrap="square" lIns="0" tIns="0" rIns="0" bIns="0" rtlCol="0" anchor="t"/>
          <a:lstStyle/>
          <a:p>
            <a:pPr indent="0" marL="0">
              <a:buNone/>
            </a:pPr>
            <a:r>
              <a:rPr lang="en-US" sz="1350" dirty="0">
                <a:solidFill>
                  <a:schemeClr val="bg2"/>
                </a:solidFill>
              </a:rPr>
              <a:t>YOLO11-pose finds people, keypoints and stable track IDs; extra models find fire, smoke, PPE, helmets.</a:t>
            </a:r>
            <a:endParaRPr lang="en-US" sz="1350" dirty="0"/>
          </a:p>
        </p:txBody>
      </p:sp>
      <p:sp>
        <p:nvSpPr>
          <p:cNvPr id="14" name="Step arrow 2"/>
          <p:cNvSpPr/>
          <p:nvPr/>
        </p:nvSpPr>
        <p:spPr>
          <a:xfrm>
            <a:off x="6016752" y="3246120"/>
            <a:ext cx="182880" cy="914"/>
          </a:xfrm>
          <a:prstGeom prst="line">
            <a:avLst/>
          </a:prstGeom>
          <a:noFill/>
          <a:ln w="22225">
            <a:solidFill>
              <a:srgbClr val="B4F23C"/>
            </a:solidFill>
            <a:prstDash val="solid"/>
            <a:tailEnd type="triangle"/>
          </a:ln>
        </p:spPr>
      </p:sp>
      <p:sp>
        <p:nvSpPr>
          <p:cNvPr id="15" name="Step card 3"/>
          <p:cNvSpPr/>
          <p:nvPr/>
        </p:nvSpPr>
        <p:spPr>
          <a:xfrm>
            <a:off x="6217920" y="1463040"/>
            <a:ext cx="2606040" cy="3566160"/>
          </a:xfrm>
          <a:prstGeom prst="roundRect">
            <a:avLst>
              <a:gd name="adj" fmla="val 4912"/>
            </a:avLst>
          </a:prstGeom>
          <a:solidFill>
            <a:schemeClr val="tx2"/>
          </a:solidFill>
          <a:ln w="9525">
            <a:solidFill>
              <a:srgbClr val="2A2B31"/>
            </a:solidFill>
            <a:prstDash val="solid"/>
          </a:ln>
        </p:spPr>
      </p:sp>
      <p:sp>
        <p:nvSpPr>
          <p:cNvPr id="16" name="3 · Rules tile"/>
          <p:cNvSpPr/>
          <p:nvPr/>
        </p:nvSpPr>
        <p:spPr>
          <a:xfrm>
            <a:off x="6492240" y="1737360"/>
            <a:ext cx="777240" cy="777240"/>
          </a:xfrm>
          <a:prstGeom prst="roundRect">
            <a:avLst>
              <a:gd name="adj" fmla="val 22000"/>
            </a:avLst>
          </a:prstGeom>
          <a:solidFill>
            <a:schemeClr val="accent6"/>
          </a:solidFill>
          <a:ln/>
        </p:spPr>
      </p:sp>
      <p:pic>
        <p:nvPicPr>
          <p:cNvPr id="17" name="3 · Rules icon" descr="3 · Rules">    </p:cNvPr>
          <p:cNvPicPr>
            <a:picLocks noChangeAspect="1"/>
          </p:cNvPicPr>
          <p:nvPr/>
        </p:nvPicPr>
        <p:blipFill>
          <a:blip r:embed="rId3"/>
          <a:stretch>
            <a:fillRect/>
          </a:stretch>
        </p:blipFill>
        <p:spPr>
          <a:xfrm>
            <a:off x="6678778" y="1923898"/>
            <a:ext cx="404165" cy="404165"/>
          </a:xfrm>
          <a:prstGeom prst="rect">
            <a:avLst/>
          </a:prstGeom>
        </p:spPr>
      </p:pic>
      <p:sp>
        <p:nvSpPr>
          <p:cNvPr id="18" name="Step head 3"/>
          <p:cNvSpPr txBox="1"/>
          <p:nvPr/>
        </p:nvSpPr>
        <p:spPr>
          <a:xfrm>
            <a:off x="6492240" y="2697480"/>
            <a:ext cx="2103120" cy="411480"/>
          </a:xfrm>
          <a:prstGeom prst="rect">
            <a:avLst/>
          </a:prstGeom>
          <a:noFill/>
          <a:ln/>
        </p:spPr>
        <p:txBody>
          <a:bodyPr wrap="square" lIns="0" tIns="0" rIns="0" bIns="0" rtlCol="0" anchor="ctr"/>
          <a:lstStyle/>
          <a:p>
            <a:pPr indent="0" marL="0">
              <a:buNone/>
            </a:pPr>
            <a:r>
              <a:rPr lang="en-US" sz="1800" b="1" dirty="0">
                <a:solidFill>
                  <a:schemeClr val="bg1"/>
                </a:solidFill>
              </a:rPr>
              <a:t>3 · Rules</a:t>
            </a:r>
            <a:endParaRPr lang="en-US" sz="1800" dirty="0"/>
          </a:p>
        </p:txBody>
      </p:sp>
      <p:sp>
        <p:nvSpPr>
          <p:cNvPr id="19" name="Step text 3"/>
          <p:cNvSpPr txBox="1"/>
          <p:nvPr/>
        </p:nvSpPr>
        <p:spPr>
          <a:xfrm>
            <a:off x="6492240" y="3154680"/>
            <a:ext cx="2148840" cy="1783080"/>
          </a:xfrm>
          <a:prstGeom prst="rect">
            <a:avLst/>
          </a:prstGeom>
          <a:noFill/>
          <a:ln/>
        </p:spPr>
        <p:txBody>
          <a:bodyPr wrap="square" lIns="0" tIns="0" rIns="0" bIns="0" rtlCol="0" anchor="t"/>
          <a:lstStyle/>
          <a:p>
            <a:pPr indent="0" marL="0">
              <a:buNone/>
            </a:pPr>
            <a:r>
              <a:rPr lang="en-US" sz="1350" dirty="0">
                <a:solidFill>
                  <a:schemeClr val="bg2"/>
                </a:solidFill>
              </a:rPr>
              <a:t>Feet in a zone for N s; fire in N of the last N+3 frames; torso flat and hips dropped for 5 s; per-type cooldown.</a:t>
            </a:r>
            <a:endParaRPr lang="en-US" sz="1350" dirty="0"/>
          </a:p>
        </p:txBody>
      </p:sp>
      <p:sp>
        <p:nvSpPr>
          <p:cNvPr id="20" name="Step arrow 3"/>
          <p:cNvSpPr/>
          <p:nvPr/>
        </p:nvSpPr>
        <p:spPr>
          <a:xfrm>
            <a:off x="8851392" y="3246120"/>
            <a:ext cx="182880" cy="914"/>
          </a:xfrm>
          <a:prstGeom prst="line">
            <a:avLst/>
          </a:prstGeom>
          <a:noFill/>
          <a:ln w="22225">
            <a:solidFill>
              <a:srgbClr val="B4F23C"/>
            </a:solidFill>
            <a:prstDash val="solid"/>
            <a:tailEnd type="triangle"/>
          </a:ln>
        </p:spPr>
      </p:sp>
      <p:sp>
        <p:nvSpPr>
          <p:cNvPr id="21" name="Step card 4"/>
          <p:cNvSpPr/>
          <p:nvPr/>
        </p:nvSpPr>
        <p:spPr>
          <a:xfrm>
            <a:off x="9052560" y="1463040"/>
            <a:ext cx="2606040" cy="3566160"/>
          </a:xfrm>
          <a:prstGeom prst="roundRect">
            <a:avLst>
              <a:gd name="adj" fmla="val 4912"/>
            </a:avLst>
          </a:prstGeom>
          <a:solidFill>
            <a:schemeClr val="tx2"/>
          </a:solidFill>
          <a:ln w="9525">
            <a:solidFill>
              <a:srgbClr val="2A2B31"/>
            </a:solidFill>
            <a:prstDash val="solid"/>
          </a:ln>
        </p:spPr>
      </p:sp>
      <p:sp>
        <p:nvSpPr>
          <p:cNvPr id="22" name="4 · Incident tile"/>
          <p:cNvSpPr/>
          <p:nvPr/>
        </p:nvSpPr>
        <p:spPr>
          <a:xfrm>
            <a:off x="9326880" y="1737360"/>
            <a:ext cx="777240" cy="777240"/>
          </a:xfrm>
          <a:prstGeom prst="roundRect">
            <a:avLst>
              <a:gd name="adj" fmla="val 22000"/>
            </a:avLst>
          </a:prstGeom>
          <a:solidFill>
            <a:schemeClr val="accent1"/>
          </a:solidFill>
          <a:ln/>
        </p:spPr>
      </p:sp>
      <p:pic>
        <p:nvPicPr>
          <p:cNvPr id="23" name="4 · Incident icon" descr="4 · Incident">    </p:cNvPr>
          <p:cNvPicPr>
            <a:picLocks noChangeAspect="1"/>
          </p:cNvPicPr>
          <p:nvPr/>
        </p:nvPicPr>
        <p:blipFill>
          <a:blip r:embed="rId4"/>
          <a:stretch>
            <a:fillRect/>
          </a:stretch>
        </p:blipFill>
        <p:spPr>
          <a:xfrm>
            <a:off x="9513418" y="1923898"/>
            <a:ext cx="404165" cy="404165"/>
          </a:xfrm>
          <a:prstGeom prst="rect">
            <a:avLst/>
          </a:prstGeom>
        </p:spPr>
      </p:pic>
      <p:sp>
        <p:nvSpPr>
          <p:cNvPr id="24" name="Step head 4"/>
          <p:cNvSpPr txBox="1"/>
          <p:nvPr/>
        </p:nvSpPr>
        <p:spPr>
          <a:xfrm>
            <a:off x="9326880" y="2697480"/>
            <a:ext cx="2103120" cy="411480"/>
          </a:xfrm>
          <a:prstGeom prst="rect">
            <a:avLst/>
          </a:prstGeom>
          <a:noFill/>
          <a:ln/>
        </p:spPr>
        <p:txBody>
          <a:bodyPr wrap="square" lIns="0" tIns="0" rIns="0" bIns="0" rtlCol="0" anchor="ctr"/>
          <a:lstStyle/>
          <a:p>
            <a:pPr indent="0" marL="0">
              <a:buNone/>
            </a:pPr>
            <a:r>
              <a:rPr lang="en-US" sz="1800" b="1" dirty="0">
                <a:solidFill>
                  <a:schemeClr val="bg1"/>
                </a:solidFill>
              </a:rPr>
              <a:t>4 · Incident</a:t>
            </a:r>
            <a:endParaRPr lang="en-US" sz="1800" dirty="0"/>
          </a:p>
        </p:txBody>
      </p:sp>
      <p:sp>
        <p:nvSpPr>
          <p:cNvPr id="25" name="Step text 4"/>
          <p:cNvSpPr txBox="1"/>
          <p:nvPr/>
        </p:nvSpPr>
        <p:spPr>
          <a:xfrm>
            <a:off x="9326880" y="3154680"/>
            <a:ext cx="2148840" cy="1783080"/>
          </a:xfrm>
          <a:prstGeom prst="rect">
            <a:avLst/>
          </a:prstGeom>
          <a:noFill/>
          <a:ln/>
        </p:spPr>
        <p:txBody>
          <a:bodyPr wrap="square" lIns="0" tIns="0" rIns="0" bIns="0" rtlCol="0" anchor="t"/>
          <a:lstStyle/>
          <a:p>
            <a:pPr indent="0" marL="0">
              <a:buNone/>
            </a:pPr>
            <a:r>
              <a:rPr lang="en-US" sz="1350" dirty="0">
                <a:solidFill>
                  <a:schemeClr val="bg2"/>
                </a:solidFill>
              </a:rPr>
              <a:t>Snapshot, 10 s clip (5 s before, 5 s after), database row, then the API is told within ~2 s.</a:t>
            </a:r>
            <a:endParaRPr lang="en-US" sz="1350" dirty="0"/>
          </a:p>
        </p:txBody>
      </p:sp>
      <p:sp>
        <p:nvSpPr>
          <p:cNvPr id="26" name="Principle card"/>
          <p:cNvSpPr/>
          <p:nvPr/>
        </p:nvSpPr>
        <p:spPr>
          <a:xfrm>
            <a:off x="548640" y="5257800"/>
            <a:ext cx="11094415" cy="777240"/>
          </a:xfrm>
          <a:prstGeom prst="roundRect">
            <a:avLst>
              <a:gd name="adj" fmla="val 16471"/>
            </a:avLst>
          </a:prstGeom>
          <a:solidFill>
            <a:srgbClr val="1A1F12"/>
          </a:solidFill>
          <a:ln w="9525">
            <a:solidFill>
              <a:srgbClr val="2A2B31"/>
            </a:solidFill>
            <a:prstDash val="solid"/>
          </a:ln>
        </p:spPr>
      </p:sp>
      <p:sp>
        <p:nvSpPr>
          <p:cNvPr id="27" name="Principle text"/>
          <p:cNvSpPr txBox="1"/>
          <p:nvPr/>
        </p:nvSpPr>
        <p:spPr>
          <a:xfrm>
            <a:off x="822960" y="5257800"/>
            <a:ext cx="10545775" cy="777240"/>
          </a:xfrm>
          <a:prstGeom prst="rect">
            <a:avLst/>
          </a:prstGeom>
          <a:noFill/>
          <a:ln/>
        </p:spPr>
        <p:txBody>
          <a:bodyPr wrap="square" lIns="0" tIns="0" rIns="0" bIns="0" rtlCol="0" anchor="ctr"/>
          <a:lstStyle/>
          <a:p>
            <a:pPr indent="0" marL="0">
              <a:buNone/>
            </a:pPr>
            <a:r>
              <a:rPr lang="en-US" sz="1500" b="1" dirty="0">
                <a:solidFill>
                  <a:schemeClr val="accent2"/>
                </a:solidFill>
              </a:rPr>
              <a:t>Design principle:  </a:t>
            </a:r>
            <a:pPr indent="0" marL="0">
              <a:buNone/>
            </a:pPr>
            <a:r>
              <a:rPr lang="en-US" sz="1500" dirty="0">
                <a:solidFill>
                  <a:schemeClr val="bg1"/>
                </a:solidFill>
              </a:rPr>
              <a:t>a detection is not an alarm. Thresholds live in settings, so a site tunes sensitivity without code changes.</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bg1"/>
                </a:solidFill>
              </a:rPr>
              <a:t>Methodology: training our own models</a:t>
            </a:r>
            <a:endParaRPr lang="en-US" sz="3200" dirty="0"/>
          </a:p>
        </p:txBody>
      </p:sp>
      <p:sp>
        <p:nvSpPr>
          <p:cNvPr id="3" name="Dataset card 1"/>
          <p:cNvSpPr/>
          <p:nvPr/>
        </p:nvSpPr>
        <p:spPr>
          <a:xfrm>
            <a:off x="548640" y="1371600"/>
            <a:ext cx="5120640" cy="1051560"/>
          </a:xfrm>
          <a:prstGeom prst="roundRect">
            <a:avLst>
              <a:gd name="adj" fmla="val 12174"/>
            </a:avLst>
          </a:prstGeom>
          <a:solidFill>
            <a:schemeClr val="tx2"/>
          </a:solidFill>
          <a:ln w="9525">
            <a:solidFill>
              <a:srgbClr val="2A2B31"/>
            </a:solidFill>
            <a:prstDash val="solid"/>
          </a:ln>
        </p:spPr>
      </p:sp>
      <p:sp>
        <p:nvSpPr>
          <p:cNvPr id="4" name="Dataset dot 1"/>
          <p:cNvSpPr/>
          <p:nvPr/>
        </p:nvSpPr>
        <p:spPr>
          <a:xfrm>
            <a:off x="822960" y="1719072"/>
            <a:ext cx="365760" cy="365760"/>
          </a:xfrm>
          <a:prstGeom prst="ellipse">
            <a:avLst/>
          </a:prstGeom>
          <a:solidFill>
            <a:schemeClr val="accent3"/>
          </a:solidFill>
          <a:ln/>
        </p:spPr>
      </p:sp>
      <p:sp>
        <p:nvSpPr>
          <p:cNvPr id="5" name="Dataset head 1"/>
          <p:cNvSpPr txBox="1"/>
          <p:nvPr/>
        </p:nvSpPr>
        <p:spPr>
          <a:xfrm>
            <a:off x="1417320" y="1481328"/>
            <a:ext cx="4023360" cy="365760"/>
          </a:xfrm>
          <a:prstGeom prst="rect">
            <a:avLst/>
          </a:prstGeom>
          <a:noFill/>
          <a:ln/>
        </p:spPr>
        <p:txBody>
          <a:bodyPr wrap="square" lIns="0" tIns="0" rIns="0" bIns="0" rtlCol="0" anchor="ctr"/>
          <a:lstStyle/>
          <a:p>
            <a:pPr indent="0" marL="0">
              <a:buNone/>
            </a:pPr>
            <a:r>
              <a:rPr lang="en-US" sz="1700" b="1" dirty="0">
                <a:solidFill>
                  <a:schemeClr val="bg1"/>
                </a:solidFill>
              </a:rPr>
              <a:t>Fire &amp; smoke</a:t>
            </a:r>
            <a:endParaRPr lang="en-US" sz="1700" dirty="0"/>
          </a:p>
        </p:txBody>
      </p:sp>
      <p:sp>
        <p:nvSpPr>
          <p:cNvPr id="6" name="Dataset text 1"/>
          <p:cNvSpPr txBox="1"/>
          <p:nvPr/>
        </p:nvSpPr>
        <p:spPr>
          <a:xfrm>
            <a:off x="1417320" y="1847088"/>
            <a:ext cx="4114800" cy="502920"/>
          </a:xfrm>
          <a:prstGeom prst="rect">
            <a:avLst/>
          </a:prstGeom>
          <a:noFill/>
          <a:ln/>
        </p:spPr>
        <p:txBody>
          <a:bodyPr wrap="square" lIns="0" tIns="0" rIns="0" bIns="0" rtlCol="0" anchor="ctr"/>
          <a:lstStyle/>
          <a:p>
            <a:pPr indent="0" marL="0">
              <a:buNone/>
            </a:pPr>
            <a:r>
              <a:rPr lang="en-US" sz="1300" dirty="0">
                <a:solidFill>
                  <a:schemeClr val="bg2"/>
                </a:solidFill>
              </a:rPr>
              <a:t>D-Fire (~21k images) + ~200 of our own lighter photos and no-flame photos</a:t>
            </a:r>
            <a:endParaRPr lang="en-US" sz="1300" dirty="0"/>
          </a:p>
        </p:txBody>
      </p:sp>
      <p:sp>
        <p:nvSpPr>
          <p:cNvPr id="7" name="Dataset card 2"/>
          <p:cNvSpPr/>
          <p:nvPr/>
        </p:nvSpPr>
        <p:spPr>
          <a:xfrm>
            <a:off x="548640" y="2560320"/>
            <a:ext cx="5120640" cy="1051560"/>
          </a:xfrm>
          <a:prstGeom prst="roundRect">
            <a:avLst>
              <a:gd name="adj" fmla="val 12174"/>
            </a:avLst>
          </a:prstGeom>
          <a:solidFill>
            <a:schemeClr val="tx2"/>
          </a:solidFill>
          <a:ln w="9525">
            <a:solidFill>
              <a:srgbClr val="2A2B31"/>
            </a:solidFill>
            <a:prstDash val="solid"/>
          </a:ln>
        </p:spPr>
      </p:sp>
      <p:sp>
        <p:nvSpPr>
          <p:cNvPr id="8" name="Dataset dot 2"/>
          <p:cNvSpPr/>
          <p:nvPr/>
        </p:nvSpPr>
        <p:spPr>
          <a:xfrm>
            <a:off x="822960" y="2907792"/>
            <a:ext cx="365760" cy="365760"/>
          </a:xfrm>
          <a:prstGeom prst="ellipse">
            <a:avLst/>
          </a:prstGeom>
          <a:solidFill>
            <a:schemeClr val="accent2"/>
          </a:solidFill>
          <a:ln/>
        </p:spPr>
      </p:sp>
      <p:sp>
        <p:nvSpPr>
          <p:cNvPr id="9" name="Dataset head 2"/>
          <p:cNvSpPr txBox="1"/>
          <p:nvPr/>
        </p:nvSpPr>
        <p:spPr>
          <a:xfrm>
            <a:off x="1417320" y="2670048"/>
            <a:ext cx="4023360" cy="365760"/>
          </a:xfrm>
          <a:prstGeom prst="rect">
            <a:avLst/>
          </a:prstGeom>
          <a:noFill/>
          <a:ln/>
        </p:spPr>
        <p:txBody>
          <a:bodyPr wrap="square" lIns="0" tIns="0" rIns="0" bIns="0" rtlCol="0" anchor="ctr"/>
          <a:lstStyle/>
          <a:p>
            <a:pPr indent="0" marL="0">
              <a:buNone/>
            </a:pPr>
            <a:r>
              <a:rPr lang="en-US" sz="1700" b="1" dirty="0">
                <a:solidFill>
                  <a:schemeClr val="bg1"/>
                </a:solidFill>
              </a:rPr>
              <a:t>PPE</a:t>
            </a:r>
            <a:endParaRPr lang="en-US" sz="1700" dirty="0"/>
          </a:p>
        </p:txBody>
      </p:sp>
      <p:sp>
        <p:nvSpPr>
          <p:cNvPr id="10" name="Dataset text 2"/>
          <p:cNvSpPr txBox="1"/>
          <p:nvPr/>
        </p:nvSpPr>
        <p:spPr>
          <a:xfrm>
            <a:off x="1417320" y="3035808"/>
            <a:ext cx="4114800" cy="502920"/>
          </a:xfrm>
          <a:prstGeom prst="rect">
            <a:avLst/>
          </a:prstGeom>
          <a:noFill/>
          <a:ln/>
        </p:spPr>
        <p:txBody>
          <a:bodyPr wrap="square" lIns="0" tIns="0" rIns="0" bIns="0" rtlCol="0" anchor="ctr"/>
          <a:lstStyle/>
          <a:p>
            <a:pPr indent="0" marL="0">
              <a:buNone/>
            </a:pPr>
            <a:r>
              <a:rPr lang="en-US" sz="1300" dirty="0">
                <a:solidFill>
                  <a:schemeClr val="bg2"/>
                </a:solidFill>
              </a:rPr>
              <a:t>Construction-PPE: helmet and high-visibility vest</a:t>
            </a:r>
            <a:endParaRPr lang="en-US" sz="1300" dirty="0"/>
          </a:p>
        </p:txBody>
      </p:sp>
      <p:sp>
        <p:nvSpPr>
          <p:cNvPr id="11" name="Dataset card 3"/>
          <p:cNvSpPr/>
          <p:nvPr/>
        </p:nvSpPr>
        <p:spPr>
          <a:xfrm>
            <a:off x="548640" y="3749040"/>
            <a:ext cx="5120640" cy="1051560"/>
          </a:xfrm>
          <a:prstGeom prst="roundRect">
            <a:avLst>
              <a:gd name="adj" fmla="val 12174"/>
            </a:avLst>
          </a:prstGeom>
          <a:solidFill>
            <a:schemeClr val="tx2"/>
          </a:solidFill>
          <a:ln w="9525">
            <a:solidFill>
              <a:srgbClr val="2A2B31"/>
            </a:solidFill>
            <a:prstDash val="solid"/>
          </a:ln>
        </p:spPr>
      </p:sp>
      <p:sp>
        <p:nvSpPr>
          <p:cNvPr id="12" name="Dataset dot 3"/>
          <p:cNvSpPr/>
          <p:nvPr/>
        </p:nvSpPr>
        <p:spPr>
          <a:xfrm>
            <a:off x="822960" y="4096512"/>
            <a:ext cx="365760" cy="365760"/>
          </a:xfrm>
          <a:prstGeom prst="ellipse">
            <a:avLst/>
          </a:prstGeom>
          <a:solidFill>
            <a:schemeClr val="accent6"/>
          </a:solidFill>
          <a:ln/>
        </p:spPr>
      </p:sp>
      <p:sp>
        <p:nvSpPr>
          <p:cNvPr id="13" name="Dataset head 3"/>
          <p:cNvSpPr txBox="1"/>
          <p:nvPr/>
        </p:nvSpPr>
        <p:spPr>
          <a:xfrm>
            <a:off x="1417320" y="3858768"/>
            <a:ext cx="4023360" cy="365760"/>
          </a:xfrm>
          <a:prstGeom prst="rect">
            <a:avLst/>
          </a:prstGeom>
          <a:noFill/>
          <a:ln/>
        </p:spPr>
        <p:txBody>
          <a:bodyPr wrap="square" lIns="0" tIns="0" rIns="0" bIns="0" rtlCol="0" anchor="ctr"/>
          <a:lstStyle/>
          <a:p>
            <a:pPr indent="0" marL="0">
              <a:buNone/>
            </a:pPr>
            <a:r>
              <a:rPr lang="en-US" sz="1700" b="1" dirty="0">
                <a:solidFill>
                  <a:schemeClr val="bg1"/>
                </a:solidFill>
              </a:rPr>
              <a:t>Rider helmet</a:t>
            </a:r>
            <a:endParaRPr lang="en-US" sz="1700" dirty="0"/>
          </a:p>
        </p:txBody>
      </p:sp>
      <p:sp>
        <p:nvSpPr>
          <p:cNvPr id="14" name="Dataset text 3"/>
          <p:cNvSpPr txBox="1"/>
          <p:nvPr/>
        </p:nvSpPr>
        <p:spPr>
          <a:xfrm>
            <a:off x="1417320" y="4224528"/>
            <a:ext cx="4114800" cy="502920"/>
          </a:xfrm>
          <a:prstGeom prst="rect">
            <a:avLst/>
          </a:prstGeom>
          <a:noFill/>
          <a:ln/>
        </p:spPr>
        <p:txBody>
          <a:bodyPr wrap="square" lIns="0" tIns="0" rIns="0" bIns="0" rtlCol="0" anchor="ctr"/>
          <a:lstStyle/>
          <a:p>
            <a:pPr indent="0" marL="0">
              <a:buNone/>
            </a:pPr>
            <a:r>
              <a:rPr lang="en-US" sz="1300" dirty="0">
                <a:solidFill>
                  <a:schemeClr val="bg2"/>
                </a:solidFill>
              </a:rPr>
              <a:t>984 images: helmet types vs bald / cap / bare head</a:t>
            </a:r>
            <a:endParaRPr lang="en-US" sz="1300" dirty="0"/>
          </a:p>
        </p:txBody>
      </p:sp>
      <p:sp>
        <p:nvSpPr>
          <p:cNvPr id="15" name="Pipeline card"/>
          <p:cNvSpPr/>
          <p:nvPr/>
        </p:nvSpPr>
        <p:spPr>
          <a:xfrm>
            <a:off x="5989320" y="1371600"/>
            <a:ext cx="5650992" cy="3429000"/>
          </a:xfrm>
          <a:prstGeom prst="roundRect">
            <a:avLst>
              <a:gd name="adj" fmla="val 3733"/>
            </a:avLst>
          </a:prstGeom>
          <a:solidFill>
            <a:srgbClr val="1A1B20"/>
          </a:solidFill>
          <a:ln w="9525">
            <a:solidFill>
              <a:srgbClr val="2A2B31"/>
            </a:solidFill>
            <a:prstDash val="solid"/>
          </a:ln>
        </p:spPr>
      </p:sp>
      <p:sp>
        <p:nvSpPr>
          <p:cNvPr id="16" name="Pipeline head"/>
          <p:cNvSpPr txBox="1"/>
          <p:nvPr/>
        </p:nvSpPr>
        <p:spPr>
          <a:xfrm>
            <a:off x="6263640" y="1508760"/>
            <a:ext cx="5120640" cy="411480"/>
          </a:xfrm>
          <a:prstGeom prst="rect">
            <a:avLst/>
          </a:prstGeom>
          <a:noFill/>
          <a:ln/>
        </p:spPr>
        <p:txBody>
          <a:bodyPr wrap="square" lIns="0" tIns="0" rIns="0" bIns="0" rtlCol="0" anchor="ctr"/>
          <a:lstStyle/>
          <a:p>
            <a:pPr indent="0" marL="0">
              <a:buNone/>
            </a:pPr>
            <a:r>
              <a:rPr lang="en-US" sz="1800" b="1" dirty="0">
                <a:solidFill>
                  <a:schemeClr val="accent2"/>
                </a:solidFill>
              </a:rPr>
              <a:t>Training pipeline</a:t>
            </a:r>
            <a:endParaRPr lang="en-US" sz="1800" dirty="0"/>
          </a:p>
        </p:txBody>
      </p:sp>
      <p:sp>
        <p:nvSpPr>
          <p:cNvPr id="17" name="Pipeline num bg 1"/>
          <p:cNvSpPr/>
          <p:nvPr/>
        </p:nvSpPr>
        <p:spPr>
          <a:xfrm>
            <a:off x="6263640" y="2121408"/>
            <a:ext cx="420624" cy="420624"/>
          </a:xfrm>
          <a:prstGeom prst="ellipse">
            <a:avLst/>
          </a:prstGeom>
          <a:solidFill>
            <a:srgbClr val="26272D"/>
          </a:solidFill>
          <a:ln w="12700">
            <a:solidFill>
              <a:srgbClr val="B4F23C"/>
            </a:solidFill>
            <a:prstDash val="solid"/>
          </a:ln>
        </p:spPr>
      </p:sp>
      <p:sp>
        <p:nvSpPr>
          <p:cNvPr id="18" name="Pipeline num 1"/>
          <p:cNvSpPr txBox="1"/>
          <p:nvPr/>
        </p:nvSpPr>
        <p:spPr>
          <a:xfrm>
            <a:off x="6263640" y="212140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9" name="Pipeline step 1"/>
          <p:cNvSpPr txBox="1"/>
          <p:nvPr/>
        </p:nvSpPr>
        <p:spPr>
          <a:xfrm>
            <a:off x="6858000" y="2057400"/>
            <a:ext cx="4572000" cy="548640"/>
          </a:xfrm>
          <a:prstGeom prst="rect">
            <a:avLst/>
          </a:prstGeom>
          <a:noFill/>
          <a:ln/>
        </p:spPr>
        <p:txBody>
          <a:bodyPr wrap="square" lIns="0" tIns="0" rIns="0" bIns="0" rtlCol="0" anchor="ctr"/>
          <a:lstStyle/>
          <a:p>
            <a:pPr indent="0" marL="0">
              <a:buNone/>
            </a:pPr>
            <a:r>
              <a:rPr lang="en-US" sz="1500" dirty="0">
                <a:solidFill>
                  <a:schemeClr val="bg1"/>
                </a:solidFill>
              </a:rPr>
              <a:t>Roboflow: fork, upload, Auto Label, review</a:t>
            </a:r>
            <a:endParaRPr lang="en-US" sz="1500" dirty="0"/>
          </a:p>
        </p:txBody>
      </p:sp>
      <p:sp>
        <p:nvSpPr>
          <p:cNvPr id="20" name="Pipeline num bg 2"/>
          <p:cNvSpPr/>
          <p:nvPr/>
        </p:nvSpPr>
        <p:spPr>
          <a:xfrm>
            <a:off x="6263640" y="2779776"/>
            <a:ext cx="420624" cy="420624"/>
          </a:xfrm>
          <a:prstGeom prst="ellipse">
            <a:avLst/>
          </a:prstGeom>
          <a:solidFill>
            <a:srgbClr val="26272D"/>
          </a:solidFill>
          <a:ln w="12700">
            <a:solidFill>
              <a:srgbClr val="B4F23C"/>
            </a:solidFill>
            <a:prstDash val="solid"/>
          </a:ln>
        </p:spPr>
      </p:sp>
      <p:sp>
        <p:nvSpPr>
          <p:cNvPr id="21" name="Pipeline num 2"/>
          <p:cNvSpPr txBox="1"/>
          <p:nvPr/>
        </p:nvSpPr>
        <p:spPr>
          <a:xfrm>
            <a:off x="6263640" y="277977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2" name="Pipeline step 2"/>
          <p:cNvSpPr txBox="1"/>
          <p:nvPr/>
        </p:nvSpPr>
        <p:spPr>
          <a:xfrm>
            <a:off x="6858000" y="2715768"/>
            <a:ext cx="4572000" cy="548640"/>
          </a:xfrm>
          <a:prstGeom prst="rect">
            <a:avLst/>
          </a:prstGeom>
          <a:noFill/>
          <a:ln/>
        </p:spPr>
        <p:txBody>
          <a:bodyPr wrap="square" lIns="0" tIns="0" rIns="0" bIns="0" rtlCol="0" anchor="ctr"/>
          <a:lstStyle/>
          <a:p>
            <a:pPr indent="0" marL="0">
              <a:buNone/>
            </a:pPr>
            <a:r>
              <a:rPr lang="en-US" sz="1500" dirty="0">
                <a:solidFill>
                  <a:schemeClr val="bg1"/>
                </a:solidFill>
              </a:rPr>
              <a:t>Colab T4: fine-tune YOLO11n, 480 px</a:t>
            </a:r>
            <a:endParaRPr lang="en-US" sz="1500" dirty="0"/>
          </a:p>
        </p:txBody>
      </p:sp>
      <p:sp>
        <p:nvSpPr>
          <p:cNvPr id="23" name="Pipeline num bg 3"/>
          <p:cNvSpPr/>
          <p:nvPr/>
        </p:nvSpPr>
        <p:spPr>
          <a:xfrm>
            <a:off x="6263640" y="3438144"/>
            <a:ext cx="420624" cy="420624"/>
          </a:xfrm>
          <a:prstGeom prst="ellipse">
            <a:avLst/>
          </a:prstGeom>
          <a:solidFill>
            <a:srgbClr val="26272D"/>
          </a:solidFill>
          <a:ln w="12700">
            <a:solidFill>
              <a:srgbClr val="B4F23C"/>
            </a:solidFill>
            <a:prstDash val="solid"/>
          </a:ln>
        </p:spPr>
      </p:sp>
      <p:sp>
        <p:nvSpPr>
          <p:cNvPr id="24" name="Pipeline num 3"/>
          <p:cNvSpPr txBox="1"/>
          <p:nvPr/>
        </p:nvSpPr>
        <p:spPr>
          <a:xfrm>
            <a:off x="6263640" y="343814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5" name="Pipeline step 3"/>
          <p:cNvSpPr txBox="1"/>
          <p:nvPr/>
        </p:nvSpPr>
        <p:spPr>
          <a:xfrm>
            <a:off x="6858000" y="3374136"/>
            <a:ext cx="4572000" cy="548640"/>
          </a:xfrm>
          <a:prstGeom prst="rect">
            <a:avLst/>
          </a:prstGeom>
          <a:noFill/>
          <a:ln/>
        </p:spPr>
        <p:txBody>
          <a:bodyPr wrap="square" lIns="0" tIns="0" rIns="0" bIns="0" rtlCol="0" anchor="ctr"/>
          <a:lstStyle/>
          <a:p>
            <a:pPr indent="0" marL="0">
              <a:buNone/>
            </a:pPr>
            <a:r>
              <a:rPr lang="en-US" sz="1500" dirty="0">
                <a:solidFill>
                  <a:schemeClr val="bg1"/>
                </a:solidFill>
              </a:rPr>
              <a:t>Export to OpenVINO (~2× faster on Intel CPU)</a:t>
            </a:r>
            <a:endParaRPr lang="en-US" sz="1500" dirty="0"/>
          </a:p>
        </p:txBody>
      </p:sp>
      <p:sp>
        <p:nvSpPr>
          <p:cNvPr id="26" name="Pipeline num bg 4"/>
          <p:cNvSpPr/>
          <p:nvPr/>
        </p:nvSpPr>
        <p:spPr>
          <a:xfrm>
            <a:off x="6263640" y="4096512"/>
            <a:ext cx="420624" cy="420624"/>
          </a:xfrm>
          <a:prstGeom prst="ellipse">
            <a:avLst/>
          </a:prstGeom>
          <a:solidFill>
            <a:srgbClr val="26272D"/>
          </a:solidFill>
          <a:ln w="12700">
            <a:solidFill>
              <a:srgbClr val="B4F23C"/>
            </a:solidFill>
            <a:prstDash val="solid"/>
          </a:ln>
        </p:spPr>
      </p:sp>
      <p:sp>
        <p:nvSpPr>
          <p:cNvPr id="27" name="Pipeline num 4"/>
          <p:cNvSpPr txBox="1"/>
          <p:nvPr/>
        </p:nvSpPr>
        <p:spPr>
          <a:xfrm>
            <a:off x="6263640" y="409651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Pipeline step 4"/>
          <p:cNvSpPr txBox="1"/>
          <p:nvPr/>
        </p:nvSpPr>
        <p:spPr>
          <a:xfrm>
            <a:off x="6858000" y="4032504"/>
            <a:ext cx="4572000" cy="548640"/>
          </a:xfrm>
          <a:prstGeom prst="rect">
            <a:avLst/>
          </a:prstGeom>
          <a:noFill/>
          <a:ln/>
        </p:spPr>
        <p:txBody>
          <a:bodyPr wrap="square" lIns="0" tIns="0" rIns="0" bIns="0" rtlCol="0" anchor="ctr"/>
          <a:lstStyle/>
          <a:p>
            <a:pPr indent="0" marL="0">
              <a:buNone/>
            </a:pPr>
            <a:r>
              <a:rPr lang="en-US" sz="1500" dirty="0">
                <a:solidFill>
                  <a:schemeClr val="bg1"/>
                </a:solidFill>
              </a:rPr>
              <a:t>Worker loads it; rules use FIRE_CONF / SMOKE_CONF</a:t>
            </a:r>
            <a:endParaRPr lang="en-US" sz="1500" dirty="0"/>
          </a:p>
        </p:txBody>
      </p:sp>
      <p:sp>
        <p:nvSpPr>
          <p:cNvPr id="29" name="Lesson card"/>
          <p:cNvSpPr/>
          <p:nvPr/>
        </p:nvSpPr>
        <p:spPr>
          <a:xfrm>
            <a:off x="5989320" y="4983480"/>
            <a:ext cx="5650992" cy="1051560"/>
          </a:xfrm>
          <a:prstGeom prst="roundRect">
            <a:avLst>
              <a:gd name="adj" fmla="val 12174"/>
            </a:avLst>
          </a:prstGeom>
          <a:solidFill>
            <a:srgbClr val="1F1810"/>
          </a:solidFill>
          <a:ln w="9525">
            <a:solidFill>
              <a:srgbClr val="2A2B31"/>
            </a:solidFill>
            <a:prstDash val="solid"/>
          </a:ln>
        </p:spPr>
      </p:sp>
      <p:sp>
        <p:nvSpPr>
          <p:cNvPr id="30" name="Lesson text"/>
          <p:cNvSpPr txBox="1"/>
          <p:nvPr/>
        </p:nvSpPr>
        <p:spPr>
          <a:xfrm>
            <a:off x="6217920" y="4983480"/>
            <a:ext cx="5257800" cy="1051560"/>
          </a:xfrm>
          <a:prstGeom prst="rect">
            <a:avLst/>
          </a:prstGeom>
          <a:noFill/>
          <a:ln/>
        </p:spPr>
        <p:txBody>
          <a:bodyPr wrap="square" lIns="0" tIns="0" rIns="0" bIns="0" rtlCol="0" anchor="ctr"/>
          <a:lstStyle/>
          <a:p>
            <a:pPr indent="0" marL="0">
              <a:buNone/>
            </a:pPr>
            <a:r>
              <a:rPr lang="en-US" sz="1400" b="1" dirty="0">
                <a:solidFill>
                  <a:schemeClr val="accent3"/>
                </a:solidFill>
              </a:rPr>
              <a:t>Lesson learned:  </a:t>
            </a:r>
            <a:pPr indent="0" marL="0">
              <a:buNone/>
            </a:pPr>
            <a:r>
              <a:rPr lang="en-US" sz="1400" dirty="0">
                <a:solidFill>
                  <a:schemeClr val="bg1"/>
                </a:solidFill>
              </a:rPr>
              <a:t>a close-up lighter looked like smoke to a model trained on distant fires; adding our own labelled footage fixed it.</a:t>
            </a:r>
            <a:endParaRPr lang="en-US" sz="1400" dirty="0"/>
          </a:p>
        </p:txBody>
      </p:sp>
      <p:sp>
        <p:nvSpPr>
          <p:cNvPr id="31" name="Faces note"/>
          <p:cNvSpPr txBox="1"/>
          <p:nvPr/>
        </p:nvSpPr>
        <p:spPr>
          <a:xfrm>
            <a:off x="548640" y="5029200"/>
            <a:ext cx="5120640" cy="914400"/>
          </a:xfrm>
          <a:prstGeom prst="rect">
            <a:avLst/>
          </a:prstGeom>
          <a:noFill/>
          <a:ln/>
        </p:spPr>
        <p:txBody>
          <a:bodyPr wrap="square" lIns="0" tIns="0" rIns="0" bIns="0" rtlCol="0" anchor="ctr"/>
          <a:lstStyle/>
          <a:p>
            <a:pPr indent="0" marL="0">
              <a:buNone/>
            </a:pPr>
            <a:r>
              <a:rPr lang="en-US" sz="1300" dirty="0">
                <a:solidFill>
                  <a:schemeClr val="bg2"/>
                </a:solidFill>
              </a:rPr>
              <a:t>Faces: pretrained YuNet + SFace (no training). Enrollment keeps 128-number fingerprints, never photos.</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bg1"/>
                </a:solidFill>
              </a:rPr>
              <a:t>Methodology: who gets called, and when</a:t>
            </a:r>
            <a:endParaRPr lang="en-US" sz="3200" dirty="0"/>
          </a:p>
        </p:txBody>
      </p:sp>
      <p:sp>
        <p:nvSpPr>
          <p:cNvPr id="3" name="Timeline axis"/>
          <p:cNvSpPr/>
          <p:nvPr/>
        </p:nvSpPr>
        <p:spPr>
          <a:xfrm>
            <a:off x="1691640" y="2240280"/>
            <a:ext cx="8778240" cy="0"/>
          </a:xfrm>
          <a:prstGeom prst="line">
            <a:avLst/>
          </a:prstGeom>
          <a:noFill/>
          <a:ln w="25400">
            <a:solidFill>
              <a:srgbClr val="3F3F46"/>
            </a:solidFill>
            <a:prstDash val="solid"/>
          </a:ln>
        </p:spPr>
      </p:sp>
      <p:sp>
        <p:nvSpPr>
          <p:cNvPr id="4" name="Mark 1"/>
          <p:cNvSpPr/>
          <p:nvPr/>
        </p:nvSpPr>
        <p:spPr>
          <a:xfrm>
            <a:off x="1490472" y="2039112"/>
            <a:ext cx="402336" cy="402336"/>
          </a:xfrm>
          <a:prstGeom prst="ellipse">
            <a:avLst/>
          </a:prstGeom>
          <a:solidFill>
            <a:schemeClr val="accent1"/>
          </a:solidFill>
          <a:ln/>
        </p:spPr>
      </p:sp>
      <p:sp>
        <p:nvSpPr>
          <p:cNvPr id="5" name="Mark time 1"/>
          <p:cNvSpPr txBox="1"/>
          <p:nvPr/>
        </p:nvSpPr>
        <p:spPr>
          <a:xfrm>
            <a:off x="960120" y="1417320"/>
            <a:ext cx="1463040" cy="457200"/>
          </a:xfrm>
          <a:prstGeom prst="rect">
            <a:avLst/>
          </a:prstGeom>
          <a:noFill/>
          <a:ln/>
        </p:spPr>
        <p:txBody>
          <a:bodyPr wrap="square" lIns="0" tIns="0" rIns="0" bIns="0" rtlCol="0" anchor="ctr"/>
          <a:lstStyle/>
          <a:p>
            <a:pPr algn="ctr" indent="0" marL="0">
              <a:buNone/>
            </a:pPr>
            <a:r>
              <a:rPr lang="en-US" sz="2000" b="1" dirty="0">
                <a:solidFill>
                  <a:schemeClr val="accent1"/>
                </a:solidFill>
              </a:rPr>
              <a:t>0 s</a:t>
            </a:r>
            <a:endParaRPr lang="en-US" sz="2000" dirty="0"/>
          </a:p>
        </p:txBody>
      </p:sp>
      <p:sp>
        <p:nvSpPr>
          <p:cNvPr id="6" name="Mark card 1"/>
          <p:cNvSpPr/>
          <p:nvPr/>
        </p:nvSpPr>
        <p:spPr>
          <a:xfrm>
            <a:off x="548640" y="2697480"/>
            <a:ext cx="2286000" cy="2103120"/>
          </a:xfrm>
          <a:prstGeom prst="roundRect">
            <a:avLst>
              <a:gd name="adj" fmla="val 6087"/>
            </a:avLst>
          </a:prstGeom>
          <a:solidFill>
            <a:schemeClr val="tx2"/>
          </a:solidFill>
          <a:ln w="9525">
            <a:solidFill>
              <a:srgbClr val="2A2B31"/>
            </a:solidFill>
            <a:prstDash val="solid"/>
          </a:ln>
        </p:spPr>
      </p:sp>
      <p:sp>
        <p:nvSpPr>
          <p:cNvPr id="7" name="Mark head 1"/>
          <p:cNvSpPr txBox="1"/>
          <p:nvPr/>
        </p:nvSpPr>
        <p:spPr>
          <a:xfrm>
            <a:off x="731520" y="2834640"/>
            <a:ext cx="1920240" cy="457200"/>
          </a:xfrm>
          <a:prstGeom prst="rect">
            <a:avLst/>
          </a:prstGeom>
          <a:noFill/>
          <a:ln/>
        </p:spPr>
        <p:txBody>
          <a:bodyPr wrap="square" lIns="0" tIns="0" rIns="0" bIns="0" rtlCol="0" anchor="ctr"/>
          <a:lstStyle/>
          <a:p>
            <a:pPr indent="0" marL="0">
              <a:buNone/>
            </a:pPr>
            <a:r>
              <a:rPr lang="en-US" sz="1500" b="1" dirty="0">
                <a:solidFill>
                  <a:schemeClr val="bg1"/>
                </a:solidFill>
              </a:rPr>
              <a:t>Incident confirmed</a:t>
            </a:r>
            <a:endParaRPr lang="en-US" sz="1500" dirty="0"/>
          </a:p>
        </p:txBody>
      </p:sp>
      <p:sp>
        <p:nvSpPr>
          <p:cNvPr id="8" name="Mark text 1"/>
          <p:cNvSpPr txBox="1"/>
          <p:nvPr/>
        </p:nvSpPr>
        <p:spPr>
          <a:xfrm>
            <a:off x="731520" y="3291840"/>
            <a:ext cx="1920240" cy="1417320"/>
          </a:xfrm>
          <a:prstGeom prst="rect">
            <a:avLst/>
          </a:prstGeom>
          <a:noFill/>
          <a:ln/>
        </p:spPr>
        <p:txBody>
          <a:bodyPr wrap="square" lIns="0" tIns="0" rIns="0" bIns="0" rtlCol="0" anchor="t"/>
          <a:lstStyle/>
          <a:p>
            <a:pPr indent="0" marL="0">
              <a:buNone/>
            </a:pPr>
            <a:r>
              <a:rPr lang="en-US" sz="1250" dirty="0">
                <a:solidFill>
                  <a:schemeClr val="bg2"/>
                </a:solidFill>
              </a:rPr>
              <a:t>Dashboard alarm, Friday speaks, Head Guard called, WhatsApp to Admin with snapshot</a:t>
            </a:r>
            <a:endParaRPr lang="en-US" sz="1250" dirty="0"/>
          </a:p>
        </p:txBody>
      </p:sp>
      <p:sp>
        <p:nvSpPr>
          <p:cNvPr id="9" name="Mark 2"/>
          <p:cNvSpPr/>
          <p:nvPr/>
        </p:nvSpPr>
        <p:spPr>
          <a:xfrm>
            <a:off x="4416552" y="2039112"/>
            <a:ext cx="402336" cy="402336"/>
          </a:xfrm>
          <a:prstGeom prst="ellipse">
            <a:avLst/>
          </a:prstGeom>
          <a:solidFill>
            <a:schemeClr val="accent3"/>
          </a:solidFill>
          <a:ln/>
        </p:spPr>
      </p:sp>
      <p:sp>
        <p:nvSpPr>
          <p:cNvPr id="10" name="Mark time 2"/>
          <p:cNvSpPr txBox="1"/>
          <p:nvPr/>
        </p:nvSpPr>
        <p:spPr>
          <a:xfrm>
            <a:off x="3886200" y="1417320"/>
            <a:ext cx="1463040" cy="457200"/>
          </a:xfrm>
          <a:prstGeom prst="rect">
            <a:avLst/>
          </a:prstGeom>
          <a:noFill/>
          <a:ln/>
        </p:spPr>
        <p:txBody>
          <a:bodyPr wrap="square" lIns="0" tIns="0" rIns="0" bIns="0" rtlCol="0" anchor="ctr"/>
          <a:lstStyle/>
          <a:p>
            <a:pPr algn="ctr" indent="0" marL="0">
              <a:buNone/>
            </a:pPr>
            <a:r>
              <a:rPr lang="en-US" sz="2000" b="1" dirty="0">
                <a:solidFill>
                  <a:schemeClr val="accent3"/>
                </a:solidFill>
              </a:rPr>
              <a:t>0–5 s</a:t>
            </a:r>
            <a:endParaRPr lang="en-US" sz="2000" dirty="0"/>
          </a:p>
        </p:txBody>
      </p:sp>
      <p:sp>
        <p:nvSpPr>
          <p:cNvPr id="11" name="Mark card 2"/>
          <p:cNvSpPr/>
          <p:nvPr/>
        </p:nvSpPr>
        <p:spPr>
          <a:xfrm>
            <a:off x="3474720" y="2697480"/>
            <a:ext cx="2286000" cy="2103120"/>
          </a:xfrm>
          <a:prstGeom prst="roundRect">
            <a:avLst>
              <a:gd name="adj" fmla="val 6087"/>
            </a:avLst>
          </a:prstGeom>
          <a:solidFill>
            <a:schemeClr val="tx2"/>
          </a:solidFill>
          <a:ln w="9525">
            <a:solidFill>
              <a:srgbClr val="2A2B31"/>
            </a:solidFill>
            <a:prstDash val="solid"/>
          </a:ln>
        </p:spPr>
      </p:sp>
      <p:sp>
        <p:nvSpPr>
          <p:cNvPr id="12" name="Mark head 2"/>
          <p:cNvSpPr txBox="1"/>
          <p:nvPr/>
        </p:nvSpPr>
        <p:spPr>
          <a:xfrm>
            <a:off x="3657600" y="2834640"/>
            <a:ext cx="1920240" cy="457200"/>
          </a:xfrm>
          <a:prstGeom prst="rect">
            <a:avLst/>
          </a:prstGeom>
          <a:noFill/>
          <a:ln/>
        </p:spPr>
        <p:txBody>
          <a:bodyPr wrap="square" lIns="0" tIns="0" rIns="0" bIns="0" rtlCol="0" anchor="ctr"/>
          <a:lstStyle/>
          <a:p>
            <a:pPr indent="0" marL="0">
              <a:buNone/>
            </a:pPr>
            <a:r>
              <a:rPr lang="en-US" sz="1500" b="1" dirty="0">
                <a:solidFill>
                  <a:schemeClr val="bg1"/>
                </a:solidFill>
              </a:rPr>
              <a:t>Admin called</a:t>
            </a:r>
            <a:endParaRPr lang="en-US" sz="1500" dirty="0"/>
          </a:p>
        </p:txBody>
      </p:sp>
      <p:sp>
        <p:nvSpPr>
          <p:cNvPr id="13" name="Mark text 2"/>
          <p:cNvSpPr txBox="1"/>
          <p:nvPr/>
        </p:nvSpPr>
        <p:spPr>
          <a:xfrm>
            <a:off x="3657600" y="3291840"/>
            <a:ext cx="1920240" cy="1417320"/>
          </a:xfrm>
          <a:prstGeom prst="rect">
            <a:avLst/>
          </a:prstGeom>
          <a:noFill/>
          <a:ln/>
        </p:spPr>
        <p:txBody>
          <a:bodyPr wrap="square" lIns="0" tIns="0" rIns="0" bIns="0" rtlCol="0" anchor="t"/>
          <a:lstStyle/>
          <a:p>
            <a:pPr indent="0" marL="0">
              <a:buNone/>
            </a:pPr>
            <a:r>
              <a:rPr lang="en-US" sz="1250" dirty="0">
                <a:solidFill>
                  <a:schemeClr val="bg2"/>
                </a:solidFill>
              </a:rPr>
              <a:t>At once if away; 5 s grace if the Admin is looking at the dashboard</a:t>
            </a:r>
            <a:endParaRPr lang="en-US" sz="1250" dirty="0"/>
          </a:p>
        </p:txBody>
      </p:sp>
      <p:sp>
        <p:nvSpPr>
          <p:cNvPr id="14" name="Mark 3"/>
          <p:cNvSpPr/>
          <p:nvPr/>
        </p:nvSpPr>
        <p:spPr>
          <a:xfrm>
            <a:off x="7342632" y="2039112"/>
            <a:ext cx="402336" cy="402336"/>
          </a:xfrm>
          <a:prstGeom prst="ellipse">
            <a:avLst/>
          </a:prstGeom>
          <a:solidFill>
            <a:schemeClr val="accent6"/>
          </a:solidFill>
          <a:ln/>
        </p:spPr>
      </p:sp>
      <p:sp>
        <p:nvSpPr>
          <p:cNvPr id="15" name="Mark time 3"/>
          <p:cNvSpPr txBox="1"/>
          <p:nvPr/>
        </p:nvSpPr>
        <p:spPr>
          <a:xfrm>
            <a:off x="6812280" y="1417320"/>
            <a:ext cx="1463040" cy="457200"/>
          </a:xfrm>
          <a:prstGeom prst="rect">
            <a:avLst/>
          </a:prstGeom>
          <a:noFill/>
          <a:ln/>
        </p:spPr>
        <p:txBody>
          <a:bodyPr wrap="square" lIns="0" tIns="0" rIns="0" bIns="0" rtlCol="0" anchor="ctr"/>
          <a:lstStyle/>
          <a:p>
            <a:pPr algn="ctr" indent="0" marL="0">
              <a:buNone/>
            </a:pPr>
            <a:r>
              <a:rPr lang="en-US" sz="2000" b="1" dirty="0">
                <a:solidFill>
                  <a:schemeClr val="accent6"/>
                </a:solidFill>
              </a:rPr>
              <a:t>5–10 s</a:t>
            </a:r>
            <a:endParaRPr lang="en-US" sz="2000" dirty="0"/>
          </a:p>
        </p:txBody>
      </p:sp>
      <p:sp>
        <p:nvSpPr>
          <p:cNvPr id="16" name="Mark card 3"/>
          <p:cNvSpPr/>
          <p:nvPr/>
        </p:nvSpPr>
        <p:spPr>
          <a:xfrm>
            <a:off x="6400800" y="2697480"/>
            <a:ext cx="2286000" cy="2103120"/>
          </a:xfrm>
          <a:prstGeom prst="roundRect">
            <a:avLst>
              <a:gd name="adj" fmla="val 6087"/>
            </a:avLst>
          </a:prstGeom>
          <a:solidFill>
            <a:schemeClr val="tx2"/>
          </a:solidFill>
          <a:ln w="9525">
            <a:solidFill>
              <a:srgbClr val="2A2B31"/>
            </a:solidFill>
            <a:prstDash val="solid"/>
          </a:ln>
        </p:spPr>
      </p:sp>
      <p:sp>
        <p:nvSpPr>
          <p:cNvPr id="17" name="Mark head 3"/>
          <p:cNvSpPr txBox="1"/>
          <p:nvPr/>
        </p:nvSpPr>
        <p:spPr>
          <a:xfrm>
            <a:off x="6583680" y="2834640"/>
            <a:ext cx="1920240" cy="457200"/>
          </a:xfrm>
          <a:prstGeom prst="rect">
            <a:avLst/>
          </a:prstGeom>
          <a:noFill/>
          <a:ln/>
        </p:spPr>
        <p:txBody>
          <a:bodyPr wrap="square" lIns="0" tIns="0" rIns="0" bIns="0" rtlCol="0" anchor="ctr"/>
          <a:lstStyle/>
          <a:p>
            <a:pPr indent="0" marL="0">
              <a:buNone/>
            </a:pPr>
            <a:r>
              <a:rPr lang="en-US" sz="1500" b="1" dirty="0">
                <a:solidFill>
                  <a:schemeClr val="bg1"/>
                </a:solidFill>
              </a:rPr>
              <a:t>Manager called</a:t>
            </a:r>
            <a:endParaRPr lang="en-US" sz="1500" dirty="0"/>
          </a:p>
        </p:txBody>
      </p:sp>
      <p:sp>
        <p:nvSpPr>
          <p:cNvPr id="18" name="Mark text 3"/>
          <p:cNvSpPr txBox="1"/>
          <p:nvPr/>
        </p:nvSpPr>
        <p:spPr>
          <a:xfrm>
            <a:off x="6583680" y="3291840"/>
            <a:ext cx="1920240" cy="1417320"/>
          </a:xfrm>
          <a:prstGeom prst="rect">
            <a:avLst/>
          </a:prstGeom>
          <a:noFill/>
          <a:ln/>
        </p:spPr>
        <p:txBody>
          <a:bodyPr wrap="square" lIns="0" tIns="0" rIns="0" bIns="0" rtlCol="0" anchor="t"/>
          <a:lstStyle/>
          <a:p>
            <a:pPr indent="0" marL="0">
              <a:buNone/>
            </a:pPr>
            <a:r>
              <a:rPr lang="en-US" sz="1250" dirty="0">
                <a:solidFill>
                  <a:schemeClr val="bg2"/>
                </a:solidFill>
              </a:rPr>
              <a:t>Ladder stops at the first acknowledgement, from any channel</a:t>
            </a:r>
            <a:endParaRPr lang="en-US" sz="1250" dirty="0"/>
          </a:p>
        </p:txBody>
      </p:sp>
      <p:sp>
        <p:nvSpPr>
          <p:cNvPr id="19" name="Mark 4"/>
          <p:cNvSpPr/>
          <p:nvPr/>
        </p:nvSpPr>
        <p:spPr>
          <a:xfrm>
            <a:off x="10268712" y="2039112"/>
            <a:ext cx="402336" cy="402336"/>
          </a:xfrm>
          <a:prstGeom prst="ellipse">
            <a:avLst/>
          </a:prstGeom>
          <a:solidFill>
            <a:schemeClr val="accent2"/>
          </a:solidFill>
          <a:ln/>
        </p:spPr>
      </p:sp>
      <p:sp>
        <p:nvSpPr>
          <p:cNvPr id="20" name="Mark time 4"/>
          <p:cNvSpPr txBox="1"/>
          <p:nvPr/>
        </p:nvSpPr>
        <p:spPr>
          <a:xfrm>
            <a:off x="9738360" y="1417320"/>
            <a:ext cx="1463040" cy="457200"/>
          </a:xfrm>
          <a:prstGeom prst="rect">
            <a:avLst/>
          </a:prstGeom>
          <a:noFill/>
          <a:ln/>
        </p:spPr>
        <p:txBody>
          <a:bodyPr wrap="square" lIns="0" tIns="0" rIns="0" bIns="0" rtlCol="0" anchor="ctr"/>
          <a:lstStyle/>
          <a:p>
            <a:pPr algn="ctr" indent="0" marL="0">
              <a:buNone/>
            </a:pPr>
            <a:r>
              <a:rPr lang="en-US" sz="2000" b="1" dirty="0">
                <a:solidFill>
                  <a:schemeClr val="accent2"/>
                </a:solidFill>
              </a:rPr>
              <a:t>45 s</a:t>
            </a:r>
            <a:endParaRPr lang="en-US" sz="2000" dirty="0"/>
          </a:p>
        </p:txBody>
      </p:sp>
      <p:sp>
        <p:nvSpPr>
          <p:cNvPr id="21" name="Mark card 4"/>
          <p:cNvSpPr/>
          <p:nvPr/>
        </p:nvSpPr>
        <p:spPr>
          <a:xfrm>
            <a:off x="9326880" y="2697480"/>
            <a:ext cx="2286000" cy="2103120"/>
          </a:xfrm>
          <a:prstGeom prst="roundRect">
            <a:avLst>
              <a:gd name="adj" fmla="val 6087"/>
            </a:avLst>
          </a:prstGeom>
          <a:solidFill>
            <a:schemeClr val="tx2"/>
          </a:solidFill>
          <a:ln w="9525">
            <a:solidFill>
              <a:srgbClr val="2A2B31"/>
            </a:solidFill>
            <a:prstDash val="solid"/>
          </a:ln>
        </p:spPr>
      </p:sp>
      <p:sp>
        <p:nvSpPr>
          <p:cNvPr id="22" name="Mark head 4"/>
          <p:cNvSpPr txBox="1"/>
          <p:nvPr/>
        </p:nvSpPr>
        <p:spPr>
          <a:xfrm>
            <a:off x="9509760" y="2834640"/>
            <a:ext cx="1920240" cy="457200"/>
          </a:xfrm>
          <a:prstGeom prst="rect">
            <a:avLst/>
          </a:prstGeom>
          <a:noFill/>
          <a:ln/>
        </p:spPr>
        <p:txBody>
          <a:bodyPr wrap="square" lIns="0" tIns="0" rIns="0" bIns="0" rtlCol="0" anchor="ctr"/>
          <a:lstStyle/>
          <a:p>
            <a:pPr indent="0" marL="0">
              <a:buNone/>
            </a:pPr>
            <a:r>
              <a:rPr lang="en-US" sz="1500" b="1" dirty="0">
                <a:solidFill>
                  <a:schemeClr val="bg1"/>
                </a:solidFill>
              </a:rPr>
              <a:t>Nobody answered</a:t>
            </a:r>
            <a:endParaRPr lang="en-US" sz="1500" dirty="0"/>
          </a:p>
        </p:txBody>
      </p:sp>
      <p:sp>
        <p:nvSpPr>
          <p:cNvPr id="23" name="Mark text 4"/>
          <p:cNvSpPr txBox="1"/>
          <p:nvPr/>
        </p:nvSpPr>
        <p:spPr>
          <a:xfrm>
            <a:off x="9509760" y="3291840"/>
            <a:ext cx="1920240" cy="1417320"/>
          </a:xfrm>
          <a:prstGeom prst="rect">
            <a:avLst/>
          </a:prstGeom>
          <a:noFill/>
          <a:ln/>
        </p:spPr>
        <p:txBody>
          <a:bodyPr wrap="square" lIns="0" tIns="0" rIns="0" bIns="0" rtlCol="0" anchor="t"/>
          <a:lstStyle/>
          <a:p>
            <a:pPr indent="0" marL="0">
              <a:buNone/>
            </a:pPr>
            <a:r>
              <a:rPr lang="en-US" sz="1250" dirty="0">
                <a:solidFill>
                  <a:schemeClr val="bg2"/>
                </a:solidFill>
              </a:rPr>
              <a:t>Every guard on shift gets a WhatsApp and a roll-call phone call</a:t>
            </a:r>
            <a:endParaRPr lang="en-US" sz="1250" dirty="0"/>
          </a:p>
        </p:txBody>
      </p:sp>
      <p:sp>
        <p:nvSpPr>
          <p:cNvPr id="24" name="Severity 1"/>
          <p:cNvSpPr/>
          <p:nvPr/>
        </p:nvSpPr>
        <p:spPr>
          <a:xfrm>
            <a:off x="548640" y="5074920"/>
            <a:ext cx="2606040" cy="960120"/>
          </a:xfrm>
          <a:prstGeom prst="roundRect">
            <a:avLst>
              <a:gd name="adj" fmla="val 11429"/>
            </a:avLst>
          </a:prstGeom>
          <a:solidFill>
            <a:schemeClr val="tx2"/>
          </a:solidFill>
          <a:ln w="9525">
            <a:solidFill>
              <a:srgbClr val="2A2B31"/>
            </a:solidFill>
            <a:prstDash val="solid"/>
          </a:ln>
        </p:spPr>
      </p:sp>
      <p:sp>
        <p:nvSpPr>
          <p:cNvPr id="25" name="Severity text 1"/>
          <p:cNvSpPr txBox="1"/>
          <p:nvPr/>
        </p:nvSpPr>
        <p:spPr>
          <a:xfrm>
            <a:off x="731520" y="5120640"/>
            <a:ext cx="2286000" cy="868680"/>
          </a:xfrm>
          <a:prstGeom prst="rect">
            <a:avLst/>
          </a:prstGeom>
          <a:noFill/>
          <a:ln/>
        </p:spPr>
        <p:txBody>
          <a:bodyPr wrap="square" lIns="0" tIns="0" rIns="0" bIns="0" rtlCol="0" anchor="ctr"/>
          <a:lstStyle/>
          <a:p>
            <a:pPr indent="0" marL="0">
              <a:buNone/>
            </a:pPr>
            <a:r>
              <a:rPr lang="en-US" sz="1250" b="1" dirty="0">
                <a:solidFill>
                  <a:schemeClr val="accent1"/>
                </a:solidFill>
              </a:rPr>
              <a:t>Critical</a:t>
            </a:r>
            <a:endParaRPr lang="en-US" sz="1250" dirty="0"/>
          </a:p>
          <a:p>
            <a:pPr indent="0" marL="0">
              <a:buNone/>
            </a:pPr>
            <a:r>
              <a:rPr lang="en-US" sz="1250" dirty="0">
                <a:solidFill>
                  <a:schemeClr val="bg2"/>
                </a:solidFill>
              </a:rPr>
              <a:t>fire, fall, restricted entry at night</a:t>
            </a:r>
            <a:endParaRPr lang="en-US" sz="1250" dirty="0"/>
          </a:p>
        </p:txBody>
      </p:sp>
      <p:sp>
        <p:nvSpPr>
          <p:cNvPr id="26" name="Severity 2"/>
          <p:cNvSpPr/>
          <p:nvPr/>
        </p:nvSpPr>
        <p:spPr>
          <a:xfrm>
            <a:off x="3337560" y="5074920"/>
            <a:ext cx="2606040" cy="960120"/>
          </a:xfrm>
          <a:prstGeom prst="roundRect">
            <a:avLst>
              <a:gd name="adj" fmla="val 11429"/>
            </a:avLst>
          </a:prstGeom>
          <a:solidFill>
            <a:schemeClr val="tx2"/>
          </a:solidFill>
          <a:ln w="9525">
            <a:solidFill>
              <a:srgbClr val="2A2B31"/>
            </a:solidFill>
            <a:prstDash val="solid"/>
          </a:ln>
        </p:spPr>
      </p:sp>
      <p:sp>
        <p:nvSpPr>
          <p:cNvPr id="27" name="Severity text 2"/>
          <p:cNvSpPr txBox="1"/>
          <p:nvPr/>
        </p:nvSpPr>
        <p:spPr>
          <a:xfrm>
            <a:off x="3520440" y="5120640"/>
            <a:ext cx="2286000" cy="868680"/>
          </a:xfrm>
          <a:prstGeom prst="rect">
            <a:avLst/>
          </a:prstGeom>
          <a:noFill/>
          <a:ln/>
        </p:spPr>
        <p:txBody>
          <a:bodyPr wrap="square" lIns="0" tIns="0" rIns="0" bIns="0" rtlCol="0" anchor="ctr"/>
          <a:lstStyle/>
          <a:p>
            <a:pPr indent="0" marL="0">
              <a:buNone/>
            </a:pPr>
            <a:r>
              <a:rPr lang="en-US" sz="1250" b="1" dirty="0">
                <a:solidFill>
                  <a:schemeClr val="accent3"/>
                </a:solidFill>
              </a:rPr>
              <a:t>High</a:t>
            </a:r>
            <a:endParaRPr lang="en-US" sz="1250" dirty="0"/>
          </a:p>
          <a:p>
            <a:pPr indent="0" marL="0">
              <a:buNone/>
            </a:pPr>
            <a:r>
              <a:rPr lang="en-US" sz="1250" dirty="0">
                <a:solidFill>
                  <a:schemeClr val="bg2"/>
                </a:solidFill>
              </a:rPr>
              <a:t>smoke, restricted entry (day), crowding, bag</a:t>
            </a:r>
            <a:endParaRPr lang="en-US" sz="1250" dirty="0"/>
          </a:p>
        </p:txBody>
      </p:sp>
      <p:sp>
        <p:nvSpPr>
          <p:cNvPr id="28" name="Severity 3"/>
          <p:cNvSpPr/>
          <p:nvPr/>
        </p:nvSpPr>
        <p:spPr>
          <a:xfrm>
            <a:off x="6126480" y="5074920"/>
            <a:ext cx="2606040" cy="960120"/>
          </a:xfrm>
          <a:prstGeom prst="roundRect">
            <a:avLst>
              <a:gd name="adj" fmla="val 11429"/>
            </a:avLst>
          </a:prstGeom>
          <a:solidFill>
            <a:schemeClr val="tx2"/>
          </a:solidFill>
          <a:ln w="9525">
            <a:solidFill>
              <a:srgbClr val="2A2B31"/>
            </a:solidFill>
            <a:prstDash val="solid"/>
          </a:ln>
        </p:spPr>
      </p:sp>
      <p:sp>
        <p:nvSpPr>
          <p:cNvPr id="29" name="Severity text 3"/>
          <p:cNvSpPr txBox="1"/>
          <p:nvPr/>
        </p:nvSpPr>
        <p:spPr>
          <a:xfrm>
            <a:off x="6309360" y="5120640"/>
            <a:ext cx="2286000" cy="868680"/>
          </a:xfrm>
          <a:prstGeom prst="rect">
            <a:avLst/>
          </a:prstGeom>
          <a:noFill/>
          <a:ln/>
        </p:spPr>
        <p:txBody>
          <a:bodyPr wrap="square" lIns="0" tIns="0" rIns="0" bIns="0" rtlCol="0" anchor="ctr"/>
          <a:lstStyle/>
          <a:p>
            <a:pPr indent="0" marL="0">
              <a:buNone/>
            </a:pPr>
            <a:r>
              <a:rPr lang="en-US" sz="1250" b="1" dirty="0">
                <a:solidFill>
                  <a:schemeClr val="accent4"/>
                </a:solidFill>
              </a:rPr>
              <a:t>Low</a:t>
            </a:r>
            <a:endParaRPr lang="en-US" sz="1250" dirty="0"/>
          </a:p>
          <a:p>
            <a:pPr indent="0" marL="0">
              <a:buNone/>
            </a:pPr>
            <a:r>
              <a:rPr lang="en-US" sz="1250" dirty="0">
                <a:solidFill>
                  <a:schemeClr val="bg2"/>
                </a:solidFill>
              </a:rPr>
              <a:t>PPE, loitering: WhatsApp + 18:00 digest, no calls</a:t>
            </a:r>
            <a:endParaRPr lang="en-US" sz="1250" dirty="0"/>
          </a:p>
        </p:txBody>
      </p:sp>
      <p:sp>
        <p:nvSpPr>
          <p:cNvPr id="30" name="Severity 4"/>
          <p:cNvSpPr/>
          <p:nvPr/>
        </p:nvSpPr>
        <p:spPr>
          <a:xfrm>
            <a:off x="8915400" y="5074920"/>
            <a:ext cx="2606040" cy="960120"/>
          </a:xfrm>
          <a:prstGeom prst="roundRect">
            <a:avLst>
              <a:gd name="adj" fmla="val 11429"/>
            </a:avLst>
          </a:prstGeom>
          <a:solidFill>
            <a:schemeClr val="tx2"/>
          </a:solidFill>
          <a:ln w="9525">
            <a:solidFill>
              <a:srgbClr val="2A2B31"/>
            </a:solidFill>
            <a:prstDash val="solid"/>
          </a:ln>
        </p:spPr>
      </p:sp>
      <p:sp>
        <p:nvSpPr>
          <p:cNvPr id="31" name="Severity text 4"/>
          <p:cNvSpPr txBox="1"/>
          <p:nvPr/>
        </p:nvSpPr>
        <p:spPr>
          <a:xfrm>
            <a:off x="9098280" y="5120640"/>
            <a:ext cx="2286000" cy="868680"/>
          </a:xfrm>
          <a:prstGeom prst="rect">
            <a:avLst/>
          </a:prstGeom>
          <a:noFill/>
          <a:ln/>
        </p:spPr>
        <p:txBody>
          <a:bodyPr wrap="square" lIns="0" tIns="0" rIns="0" bIns="0" rtlCol="0" anchor="ctr"/>
          <a:lstStyle/>
          <a:p>
            <a:pPr indent="0" marL="0">
              <a:buNone/>
            </a:pPr>
            <a:r>
              <a:rPr lang="en-US" sz="1250" b="1" dirty="0">
                <a:solidFill>
                  <a:schemeClr val="accent6"/>
                </a:solidFill>
              </a:rPr>
              <a:t>Rider, no helmet</a:t>
            </a:r>
            <a:endParaRPr lang="en-US" sz="1250" dirty="0"/>
          </a:p>
          <a:p>
            <a:pPr indent="0" marL="0">
              <a:buNone/>
            </a:pPr>
            <a:r>
              <a:rPr lang="en-US" sz="1250" dirty="0">
                <a:solidFill>
                  <a:schemeClr val="bg2"/>
                </a:solidFill>
              </a:rPr>
              <a:t>calls only the guard of that gate camera</a:t>
            </a:r>
            <a:endParaRPr lang="en-US" sz="12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bg1"/>
                </a:solidFill>
              </a:rPr>
              <a:t>Implementation: a phone call that talks back</a:t>
            </a:r>
            <a:endParaRPr lang="en-US" sz="3200" dirty="0"/>
          </a:p>
        </p:txBody>
      </p:sp>
      <p:sp>
        <p:nvSpPr>
          <p:cNvPr id="3" name="Call transcript card"/>
          <p:cNvSpPr/>
          <p:nvPr/>
        </p:nvSpPr>
        <p:spPr>
          <a:xfrm>
            <a:off x="548640" y="1371600"/>
            <a:ext cx="5669280" cy="4663440"/>
          </a:xfrm>
          <a:prstGeom prst="roundRect">
            <a:avLst>
              <a:gd name="adj" fmla="val 2745"/>
            </a:avLst>
          </a:prstGeom>
          <a:solidFill>
            <a:srgbClr val="141519"/>
          </a:solidFill>
          <a:ln w="9525">
            <a:solidFill>
              <a:srgbClr val="2A2B31"/>
            </a:solidFill>
            <a:prstDash val="solid"/>
          </a:ln>
        </p:spPr>
      </p:sp>
      <p:sp>
        <p:nvSpPr>
          <p:cNvPr id="4" name="Transcript label"/>
          <p:cNvSpPr txBox="1"/>
          <p:nvPr/>
        </p:nvSpPr>
        <p:spPr>
          <a:xfrm>
            <a:off x="822960" y="1508760"/>
            <a:ext cx="5120640" cy="365760"/>
          </a:xfrm>
          <a:prstGeom prst="rect">
            <a:avLst/>
          </a:prstGeom>
          <a:noFill/>
          <a:ln/>
        </p:spPr>
        <p:txBody>
          <a:bodyPr wrap="square" lIns="0" tIns="0" rIns="0" bIns="0" rtlCol="0" anchor="ctr"/>
          <a:lstStyle/>
          <a:p>
            <a:pPr indent="0" marL="0">
              <a:buNone/>
            </a:pPr>
            <a:r>
              <a:rPr lang="en-US" sz="1400" b="1" dirty="0">
                <a:solidFill>
                  <a:schemeClr val="bg2"/>
                </a:solidFill>
              </a:rPr>
              <a:t>Live call, critical fire</a:t>
            </a:r>
            <a:endParaRPr lang="en-US" sz="1400" dirty="0"/>
          </a:p>
        </p:txBody>
      </p:sp>
      <p:sp>
        <p:nvSpPr>
          <p:cNvPr id="5" name="Bubble 1"/>
          <p:cNvSpPr/>
          <p:nvPr/>
        </p:nvSpPr>
        <p:spPr>
          <a:xfrm>
            <a:off x="822960" y="1965960"/>
            <a:ext cx="5120640" cy="1051560"/>
          </a:xfrm>
          <a:prstGeom prst="roundRect">
            <a:avLst>
              <a:gd name="adj" fmla="val 10435"/>
            </a:avLst>
          </a:prstGeom>
          <a:solidFill>
            <a:srgbClr val="202127"/>
          </a:solidFill>
          <a:ln/>
        </p:spPr>
      </p:sp>
      <p:sp>
        <p:nvSpPr>
          <p:cNvPr id="6" name="Bubble text 1"/>
          <p:cNvSpPr txBox="1"/>
          <p:nvPr/>
        </p:nvSpPr>
        <p:spPr>
          <a:xfrm>
            <a:off x="1005840" y="1965960"/>
            <a:ext cx="4754880" cy="1051560"/>
          </a:xfrm>
          <a:prstGeom prst="rect">
            <a:avLst/>
          </a:prstGeom>
          <a:noFill/>
          <a:ln/>
        </p:spPr>
        <p:txBody>
          <a:bodyPr wrap="square" lIns="0" tIns="0" rIns="0" bIns="0" rtlCol="0" anchor="ctr"/>
          <a:lstStyle/>
          <a:p>
            <a:pPr indent="0" marL="0">
              <a:buNone/>
            </a:pPr>
            <a:r>
              <a:rPr lang="en-US" sz="1350" b="1" dirty="0">
                <a:solidFill>
                  <a:schemeClr val="accent1"/>
                </a:solidFill>
              </a:rPr>
              <a:t>Friday  </a:t>
            </a:r>
            <a:pPr indent="0" marL="0">
              <a:buNone/>
            </a:pPr>
            <a:r>
              <a:rPr lang="en-US" sz="1350" dirty="0">
                <a:solidFill>
                  <a:schemeClr val="bg1"/>
                </a:solidFill>
              </a:rPr>
              <a:t>Hi Ravi, this is Friday from RingGuard. There's a fire on the shop floor near the loading bay. Where are you right now?</a:t>
            </a:r>
            <a:endParaRPr lang="en-US" sz="1350" dirty="0"/>
          </a:p>
        </p:txBody>
      </p:sp>
      <p:sp>
        <p:nvSpPr>
          <p:cNvPr id="7" name="Bubble 2"/>
          <p:cNvSpPr/>
          <p:nvPr/>
        </p:nvSpPr>
        <p:spPr>
          <a:xfrm>
            <a:off x="822960" y="3182112"/>
            <a:ext cx="5120640" cy="777240"/>
          </a:xfrm>
          <a:prstGeom prst="roundRect">
            <a:avLst>
              <a:gd name="adj" fmla="val 14118"/>
            </a:avLst>
          </a:prstGeom>
          <a:solidFill>
            <a:srgbClr val="202127"/>
          </a:solidFill>
          <a:ln/>
        </p:spPr>
      </p:sp>
      <p:sp>
        <p:nvSpPr>
          <p:cNvPr id="8" name="Bubble text 2"/>
          <p:cNvSpPr txBox="1"/>
          <p:nvPr/>
        </p:nvSpPr>
        <p:spPr>
          <a:xfrm>
            <a:off x="1005840" y="3182112"/>
            <a:ext cx="4754880" cy="777240"/>
          </a:xfrm>
          <a:prstGeom prst="rect">
            <a:avLst/>
          </a:prstGeom>
          <a:noFill/>
          <a:ln/>
        </p:spPr>
        <p:txBody>
          <a:bodyPr wrap="square" lIns="0" tIns="0" rIns="0" bIns="0" rtlCol="0" anchor="ctr"/>
          <a:lstStyle/>
          <a:p>
            <a:pPr indent="0" marL="0">
              <a:buNone/>
            </a:pPr>
            <a:r>
              <a:rPr lang="en-US" sz="1350" b="1" dirty="0">
                <a:solidFill>
                  <a:schemeClr val="accent4"/>
                </a:solidFill>
              </a:rPr>
              <a:t>Ravi  </a:t>
            </a:r>
            <a:pPr indent="0" marL="0">
              <a:buNone/>
            </a:pPr>
            <a:r>
              <a:rPr lang="en-US" sz="1350" dirty="0">
                <a:solidFill>
                  <a:schemeClr val="bg1"/>
                </a:solidFill>
              </a:rPr>
              <a:t>I'm at the gate, going there now.</a:t>
            </a:r>
            <a:endParaRPr lang="en-US" sz="1350" dirty="0"/>
          </a:p>
        </p:txBody>
      </p:sp>
      <p:sp>
        <p:nvSpPr>
          <p:cNvPr id="9" name="Bubble 3"/>
          <p:cNvSpPr/>
          <p:nvPr/>
        </p:nvSpPr>
        <p:spPr>
          <a:xfrm>
            <a:off x="822960" y="4123944"/>
            <a:ext cx="5120640" cy="777240"/>
          </a:xfrm>
          <a:prstGeom prst="roundRect">
            <a:avLst>
              <a:gd name="adj" fmla="val 14118"/>
            </a:avLst>
          </a:prstGeom>
          <a:solidFill>
            <a:srgbClr val="202127"/>
          </a:solidFill>
          <a:ln/>
        </p:spPr>
      </p:sp>
      <p:sp>
        <p:nvSpPr>
          <p:cNvPr id="10" name="Bubble text 3"/>
          <p:cNvSpPr txBox="1"/>
          <p:nvPr/>
        </p:nvSpPr>
        <p:spPr>
          <a:xfrm>
            <a:off x="1005840" y="4123944"/>
            <a:ext cx="4754880" cy="777240"/>
          </a:xfrm>
          <a:prstGeom prst="rect">
            <a:avLst/>
          </a:prstGeom>
          <a:noFill/>
          <a:ln/>
        </p:spPr>
        <p:txBody>
          <a:bodyPr wrap="square" lIns="0" tIns="0" rIns="0" bIns="0" rtlCol="0" anchor="ctr"/>
          <a:lstStyle/>
          <a:p>
            <a:pPr indent="0" marL="0">
              <a:buNone/>
            </a:pPr>
            <a:r>
              <a:rPr lang="en-US" sz="1350" b="1" dirty="0">
                <a:solidFill>
                  <a:schemeClr val="accent1"/>
                </a:solidFill>
              </a:rPr>
              <a:t>Friday  </a:t>
            </a:r>
            <a:pPr indent="0" marL="0">
              <a:buNone/>
            </a:pPr>
            <a:r>
              <a:rPr lang="en-US" sz="1350" dirty="0">
                <a:solidFill>
                  <a:schemeClr val="bg1"/>
                </a:solidFill>
              </a:rPr>
              <a:t>Go, Ravi! I've told everyone you're on the way. Please be careful.</a:t>
            </a:r>
            <a:endParaRPr lang="en-US" sz="1350" dirty="0"/>
          </a:p>
        </p:txBody>
      </p:sp>
      <p:sp>
        <p:nvSpPr>
          <p:cNvPr id="11" name="Bubble 4"/>
          <p:cNvSpPr/>
          <p:nvPr/>
        </p:nvSpPr>
        <p:spPr>
          <a:xfrm>
            <a:off x="822960" y="5065776"/>
            <a:ext cx="5120640" cy="777240"/>
          </a:xfrm>
          <a:prstGeom prst="roundRect">
            <a:avLst>
              <a:gd name="adj" fmla="val 14118"/>
            </a:avLst>
          </a:prstGeom>
          <a:solidFill>
            <a:srgbClr val="202127"/>
          </a:solidFill>
          <a:ln/>
        </p:spPr>
      </p:sp>
      <p:sp>
        <p:nvSpPr>
          <p:cNvPr id="12" name="Bubble text 4"/>
          <p:cNvSpPr txBox="1"/>
          <p:nvPr/>
        </p:nvSpPr>
        <p:spPr>
          <a:xfrm>
            <a:off x="1005840" y="5065776"/>
            <a:ext cx="4754880" cy="777240"/>
          </a:xfrm>
          <a:prstGeom prst="rect">
            <a:avLst/>
          </a:prstGeom>
          <a:noFill/>
          <a:ln/>
        </p:spPr>
        <p:txBody>
          <a:bodyPr wrap="square" lIns="0" tIns="0" rIns="0" bIns="0" rtlCol="0" anchor="ctr"/>
          <a:lstStyle/>
          <a:p>
            <a:pPr indent="0" marL="0">
              <a:buNone/>
            </a:pPr>
            <a:r>
              <a:rPr lang="en-US" sz="1350" b="1" dirty="0">
                <a:solidFill>
                  <a:schemeClr val="accent2"/>
                </a:solidFill>
              </a:rPr>
              <a:t>System  </a:t>
            </a:r>
            <a:pPr indent="0" marL="0">
              <a:buNone/>
            </a:pPr>
            <a:r>
              <a:rPr lang="en-US" sz="1350" dirty="0">
                <a:solidFill>
                  <a:schemeClr val="bg1"/>
                </a:solidFill>
              </a:rPr>
              <a:t>Incident acknowledged by Ravi via phone · ladder stopped · dashboard updated</a:t>
            </a:r>
            <a:endParaRPr lang="en-US" sz="1350" dirty="0"/>
          </a:p>
        </p:txBody>
      </p:sp>
      <p:sp>
        <p:nvSpPr>
          <p:cNvPr id="13" name="LLM decides, code acts tile"/>
          <p:cNvSpPr/>
          <p:nvPr/>
        </p:nvSpPr>
        <p:spPr>
          <a:xfrm>
            <a:off x="6583680" y="1463040"/>
            <a:ext cx="731520" cy="731520"/>
          </a:xfrm>
          <a:prstGeom prst="roundRect">
            <a:avLst>
              <a:gd name="adj" fmla="val 22000"/>
            </a:avLst>
          </a:prstGeom>
          <a:solidFill>
            <a:schemeClr val="accent5"/>
          </a:solidFill>
          <a:ln/>
        </p:spPr>
      </p:sp>
      <p:pic>
        <p:nvPicPr>
          <p:cNvPr id="14" name="LLM decides, code acts icon" descr="LLM decides, code acts">    </p:cNvPr>
          <p:cNvPicPr>
            <a:picLocks noChangeAspect="1"/>
          </p:cNvPicPr>
          <p:nvPr/>
        </p:nvPicPr>
        <p:blipFill>
          <a:blip r:embed="rId1"/>
          <a:stretch>
            <a:fillRect/>
          </a:stretch>
        </p:blipFill>
        <p:spPr>
          <a:xfrm>
            <a:off x="6759245" y="1638605"/>
            <a:ext cx="380390" cy="380390"/>
          </a:xfrm>
          <a:prstGeom prst="rect">
            <a:avLst/>
          </a:prstGeom>
        </p:spPr>
      </p:pic>
      <p:sp>
        <p:nvSpPr>
          <p:cNvPr id="15" name="How head 1"/>
          <p:cNvSpPr txBox="1"/>
          <p:nvPr/>
        </p:nvSpPr>
        <p:spPr>
          <a:xfrm>
            <a:off x="7498080" y="1371600"/>
            <a:ext cx="4114800" cy="365760"/>
          </a:xfrm>
          <a:prstGeom prst="rect">
            <a:avLst/>
          </a:prstGeom>
          <a:noFill/>
          <a:ln/>
        </p:spPr>
        <p:txBody>
          <a:bodyPr wrap="square" lIns="0" tIns="0" rIns="0" bIns="0" rtlCol="0" anchor="ctr"/>
          <a:lstStyle/>
          <a:p>
            <a:pPr indent="0" marL="0">
              <a:buNone/>
            </a:pPr>
            <a:r>
              <a:rPr lang="en-US" sz="1600" b="1" dirty="0">
                <a:solidFill>
                  <a:schemeClr val="bg1"/>
                </a:solidFill>
              </a:rPr>
              <a:t>LLM decides, code acts</a:t>
            </a:r>
            <a:endParaRPr lang="en-US" sz="1600" dirty="0"/>
          </a:p>
        </p:txBody>
      </p:sp>
      <p:sp>
        <p:nvSpPr>
          <p:cNvPr id="16" name="How text 1"/>
          <p:cNvSpPr txBox="1"/>
          <p:nvPr/>
        </p:nvSpPr>
        <p:spPr>
          <a:xfrm>
            <a:off x="7498080" y="1737360"/>
            <a:ext cx="4114800" cy="777240"/>
          </a:xfrm>
          <a:prstGeom prst="rect">
            <a:avLst/>
          </a:prstGeom>
          <a:noFill/>
          <a:ln/>
        </p:spPr>
        <p:txBody>
          <a:bodyPr wrap="square" lIns="0" tIns="0" rIns="0" bIns="0" rtlCol="0" anchor="t"/>
          <a:lstStyle/>
          <a:p>
            <a:pPr indent="0" marL="0">
              <a:buNone/>
            </a:pPr>
            <a:r>
              <a:rPr lang="en-US" sz="1250" dirty="0">
                <a:solidFill>
                  <a:schemeClr val="bg2"/>
                </a:solidFill>
              </a:rPr>
              <a:t>Groq returns only {reply, action}; the action must be on the call's whitelist (ack, false alarm, connect admin, alert all…).</a:t>
            </a:r>
            <a:endParaRPr lang="en-US" sz="1250" dirty="0"/>
          </a:p>
        </p:txBody>
      </p:sp>
      <p:sp>
        <p:nvSpPr>
          <p:cNvPr id="17" name="Instant on the obvious tile"/>
          <p:cNvSpPr/>
          <p:nvPr/>
        </p:nvSpPr>
        <p:spPr>
          <a:xfrm>
            <a:off x="6583680" y="2651760"/>
            <a:ext cx="731520" cy="731520"/>
          </a:xfrm>
          <a:prstGeom prst="roundRect">
            <a:avLst>
              <a:gd name="adj" fmla="val 22000"/>
            </a:avLst>
          </a:prstGeom>
          <a:solidFill>
            <a:schemeClr val="accent2"/>
          </a:solidFill>
          <a:ln/>
        </p:spPr>
      </p:sp>
      <p:pic>
        <p:nvPicPr>
          <p:cNvPr id="18" name="Instant on the obvious icon" descr="Instant on the obvious">    </p:cNvPr>
          <p:cNvPicPr>
            <a:picLocks noChangeAspect="1"/>
          </p:cNvPicPr>
          <p:nvPr/>
        </p:nvPicPr>
        <p:blipFill>
          <a:blip r:embed="rId2"/>
          <a:stretch>
            <a:fillRect/>
          </a:stretch>
        </p:blipFill>
        <p:spPr>
          <a:xfrm>
            <a:off x="6759245" y="2827325"/>
            <a:ext cx="380390" cy="380390"/>
          </a:xfrm>
          <a:prstGeom prst="rect">
            <a:avLst/>
          </a:prstGeom>
        </p:spPr>
      </p:pic>
      <p:sp>
        <p:nvSpPr>
          <p:cNvPr id="19" name="How head 2"/>
          <p:cNvSpPr txBox="1"/>
          <p:nvPr/>
        </p:nvSpPr>
        <p:spPr>
          <a:xfrm>
            <a:off x="7498080" y="2560320"/>
            <a:ext cx="4114800" cy="365760"/>
          </a:xfrm>
          <a:prstGeom prst="rect">
            <a:avLst/>
          </a:prstGeom>
          <a:noFill/>
          <a:ln/>
        </p:spPr>
        <p:txBody>
          <a:bodyPr wrap="square" lIns="0" tIns="0" rIns="0" bIns="0" rtlCol="0" anchor="ctr"/>
          <a:lstStyle/>
          <a:p>
            <a:pPr indent="0" marL="0">
              <a:buNone/>
            </a:pPr>
            <a:r>
              <a:rPr lang="en-US" sz="1600" b="1" dirty="0">
                <a:solidFill>
                  <a:schemeClr val="bg1"/>
                </a:solidFill>
              </a:rPr>
              <a:t>Instant on the obvious</a:t>
            </a:r>
            <a:endParaRPr lang="en-US" sz="1600" dirty="0"/>
          </a:p>
        </p:txBody>
      </p:sp>
      <p:sp>
        <p:nvSpPr>
          <p:cNvPr id="20" name="How text 2"/>
          <p:cNvSpPr txBox="1"/>
          <p:nvPr/>
        </p:nvSpPr>
        <p:spPr>
          <a:xfrm>
            <a:off x="7498080" y="2926080"/>
            <a:ext cx="4114800" cy="777240"/>
          </a:xfrm>
          <a:prstGeom prst="rect">
            <a:avLst/>
          </a:prstGeom>
          <a:noFill/>
          <a:ln/>
        </p:spPr>
        <p:txBody>
          <a:bodyPr wrap="square" lIns="0" tIns="0" rIns="0" bIns="0" rtlCol="0" anchor="t"/>
          <a:lstStyle/>
          <a:p>
            <a:pPr indent="0" marL="0">
              <a:buNone/>
            </a:pPr>
            <a:r>
              <a:rPr lang="en-US" sz="1250" dirty="0">
                <a:solidFill>
                  <a:schemeClr val="bg2"/>
                </a:solidFill>
              </a:rPr>
              <a:t>"I'm going / on my way" is matched without the LLM and answered at once.</a:t>
            </a:r>
            <a:endParaRPr lang="en-US" sz="1250" dirty="0"/>
          </a:p>
        </p:txBody>
      </p:sp>
      <p:sp>
        <p:nvSpPr>
          <p:cNvPr id="21" name="Safety rules tile"/>
          <p:cNvSpPr/>
          <p:nvPr/>
        </p:nvSpPr>
        <p:spPr>
          <a:xfrm>
            <a:off x="6583680" y="3840480"/>
            <a:ext cx="731520" cy="731520"/>
          </a:xfrm>
          <a:prstGeom prst="roundRect">
            <a:avLst>
              <a:gd name="adj" fmla="val 22000"/>
            </a:avLst>
          </a:prstGeom>
          <a:solidFill>
            <a:schemeClr val="accent1"/>
          </a:solidFill>
          <a:ln/>
        </p:spPr>
      </p:sp>
      <p:pic>
        <p:nvPicPr>
          <p:cNvPr id="22" name="Safety rules icon" descr="Safety rules">    </p:cNvPr>
          <p:cNvPicPr>
            <a:picLocks noChangeAspect="1"/>
          </p:cNvPicPr>
          <p:nvPr/>
        </p:nvPicPr>
        <p:blipFill>
          <a:blip r:embed="rId3"/>
          <a:stretch>
            <a:fillRect/>
          </a:stretch>
        </p:blipFill>
        <p:spPr>
          <a:xfrm>
            <a:off x="6759245" y="4016045"/>
            <a:ext cx="380390" cy="380390"/>
          </a:xfrm>
          <a:prstGeom prst="rect">
            <a:avLst/>
          </a:prstGeom>
        </p:spPr>
      </p:pic>
      <p:sp>
        <p:nvSpPr>
          <p:cNvPr id="23" name="How head 3"/>
          <p:cNvSpPr txBox="1"/>
          <p:nvPr/>
        </p:nvSpPr>
        <p:spPr>
          <a:xfrm>
            <a:off x="7498080" y="3749040"/>
            <a:ext cx="4114800" cy="365760"/>
          </a:xfrm>
          <a:prstGeom prst="rect">
            <a:avLst/>
          </a:prstGeom>
          <a:noFill/>
          <a:ln/>
        </p:spPr>
        <p:txBody>
          <a:bodyPr wrap="square" lIns="0" tIns="0" rIns="0" bIns="0" rtlCol="0" anchor="ctr"/>
          <a:lstStyle/>
          <a:p>
            <a:pPr indent="0" marL="0">
              <a:buNone/>
            </a:pPr>
            <a:r>
              <a:rPr lang="en-US" sz="1600" b="1" dirty="0">
                <a:solidFill>
                  <a:schemeClr val="bg1"/>
                </a:solidFill>
              </a:rPr>
              <a:t>Safety rules</a:t>
            </a:r>
            <a:endParaRPr lang="en-US" sz="1600" dirty="0"/>
          </a:p>
        </p:txBody>
      </p:sp>
      <p:sp>
        <p:nvSpPr>
          <p:cNvPr id="24" name="How text 3"/>
          <p:cNvSpPr txBox="1"/>
          <p:nvPr/>
        </p:nvSpPr>
        <p:spPr>
          <a:xfrm>
            <a:off x="7498080" y="4114800"/>
            <a:ext cx="4114800" cy="777240"/>
          </a:xfrm>
          <a:prstGeom prst="rect">
            <a:avLst/>
          </a:prstGeom>
          <a:noFill/>
          <a:ln/>
        </p:spPr>
        <p:txBody>
          <a:bodyPr wrap="square" lIns="0" tIns="0" rIns="0" bIns="0" rtlCol="0" anchor="t"/>
          <a:lstStyle/>
          <a:p>
            <a:pPr indent="0" marL="0">
              <a:buNone/>
            </a:pPr>
            <a:r>
              <a:rPr lang="en-US" sz="1250" dirty="0">
                <a:solidFill>
                  <a:schemeClr val="bg2"/>
                </a:solidFill>
              </a:rPr>
              <a:t>Critical incidents can only be acknowledged by phone, never closed. "Alert everyone" needs a spoken yes.</a:t>
            </a:r>
            <a:endParaRPr lang="en-US" sz="1250" dirty="0"/>
          </a:p>
        </p:txBody>
      </p:sp>
      <p:sp>
        <p:nvSpPr>
          <p:cNvPr id="25" name="Voice &amp; record tile"/>
          <p:cNvSpPr/>
          <p:nvPr/>
        </p:nvSpPr>
        <p:spPr>
          <a:xfrm>
            <a:off x="6583680" y="5029200"/>
            <a:ext cx="731520" cy="731520"/>
          </a:xfrm>
          <a:prstGeom prst="roundRect">
            <a:avLst>
              <a:gd name="adj" fmla="val 22000"/>
            </a:avLst>
          </a:prstGeom>
          <a:solidFill>
            <a:schemeClr val="accent4"/>
          </a:solidFill>
          <a:ln/>
        </p:spPr>
      </p:sp>
      <p:pic>
        <p:nvPicPr>
          <p:cNvPr id="26" name="Voice &amp; record icon" descr="Voice &amp; record">    </p:cNvPr>
          <p:cNvPicPr>
            <a:picLocks noChangeAspect="1"/>
          </p:cNvPicPr>
          <p:nvPr/>
        </p:nvPicPr>
        <p:blipFill>
          <a:blip r:embed="rId4"/>
          <a:stretch>
            <a:fillRect/>
          </a:stretch>
        </p:blipFill>
        <p:spPr>
          <a:xfrm>
            <a:off x="6759245" y="5204765"/>
            <a:ext cx="380390" cy="380390"/>
          </a:xfrm>
          <a:prstGeom prst="rect">
            <a:avLst/>
          </a:prstGeom>
        </p:spPr>
      </p:pic>
      <p:sp>
        <p:nvSpPr>
          <p:cNvPr id="27" name="How head 4"/>
          <p:cNvSpPr txBox="1"/>
          <p:nvPr/>
        </p:nvSpPr>
        <p:spPr>
          <a:xfrm>
            <a:off x="7498080" y="4937760"/>
            <a:ext cx="4114800" cy="365760"/>
          </a:xfrm>
          <a:prstGeom prst="rect">
            <a:avLst/>
          </a:prstGeom>
          <a:noFill/>
          <a:ln/>
        </p:spPr>
        <p:txBody>
          <a:bodyPr wrap="square" lIns="0" tIns="0" rIns="0" bIns="0" rtlCol="0" anchor="ctr"/>
          <a:lstStyle/>
          <a:p>
            <a:pPr indent="0" marL="0">
              <a:buNone/>
            </a:pPr>
            <a:r>
              <a:rPr lang="en-US" sz="1600" b="1" dirty="0">
                <a:solidFill>
                  <a:schemeClr val="bg1"/>
                </a:solidFill>
              </a:rPr>
              <a:t>Voice &amp; record</a:t>
            </a:r>
            <a:endParaRPr lang="en-US" sz="1600" dirty="0"/>
          </a:p>
        </p:txBody>
      </p:sp>
      <p:sp>
        <p:nvSpPr>
          <p:cNvPr id="28" name="How text 4"/>
          <p:cNvSpPr txBox="1"/>
          <p:nvPr/>
        </p:nvSpPr>
        <p:spPr>
          <a:xfrm>
            <a:off x="7498080" y="5303520"/>
            <a:ext cx="4114800" cy="777240"/>
          </a:xfrm>
          <a:prstGeom prst="rect">
            <a:avLst/>
          </a:prstGeom>
          <a:noFill/>
          <a:ln/>
        </p:spPr>
        <p:txBody>
          <a:bodyPr wrap="square" lIns="0" tIns="0" rIns="0" bIns="0" rtlCol="0" anchor="t"/>
          <a:lstStyle/>
          <a:p>
            <a:pPr indent="0" marL="0">
              <a:buNone/>
            </a:pPr>
            <a:r>
              <a:rPr lang="en-US" sz="1250" dirty="0">
                <a:solidFill>
                  <a:schemeClr val="bg2"/>
                </a:solidFill>
              </a:rPr>
              <a:t>Rumik voice, Twilio speech recognition, every line saved under Conversations with the call audio.</a:t>
            </a:r>
            <a:endParaRPr lang="en-US" sz="12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bg1"/>
                </a:solidFill>
              </a:rPr>
              <a:t>Implementation: restricted areas with face recognition</a:t>
            </a:r>
            <a:endParaRPr lang="en-US" sz="3200" dirty="0"/>
          </a:p>
        </p:txBody>
      </p:sp>
      <p:sp>
        <p:nvSpPr>
          <p:cNvPr id="3" name="Face step 1"/>
          <p:cNvSpPr/>
          <p:nvPr/>
        </p:nvSpPr>
        <p:spPr>
          <a:xfrm>
            <a:off x="548640" y="1371600"/>
            <a:ext cx="5486400" cy="1234440"/>
          </a:xfrm>
          <a:prstGeom prst="roundRect">
            <a:avLst>
              <a:gd name="adj" fmla="val 10370"/>
            </a:avLst>
          </a:prstGeom>
          <a:solidFill>
            <a:schemeClr val="tx2"/>
          </a:solidFill>
          <a:ln w="9525">
            <a:solidFill>
              <a:srgbClr val="2A2B31"/>
            </a:solidFill>
            <a:prstDash val="solid"/>
          </a:ln>
        </p:spPr>
      </p:sp>
      <p:sp>
        <p:nvSpPr>
          <p:cNvPr id="4" name="Enroll with consent tile"/>
          <p:cNvSpPr/>
          <p:nvPr/>
        </p:nvSpPr>
        <p:spPr>
          <a:xfrm>
            <a:off x="777240" y="1600200"/>
            <a:ext cx="777240" cy="777240"/>
          </a:xfrm>
          <a:prstGeom prst="roundRect">
            <a:avLst>
              <a:gd name="adj" fmla="val 22000"/>
            </a:avLst>
          </a:prstGeom>
          <a:solidFill>
            <a:schemeClr val="accent2"/>
          </a:solidFill>
          <a:ln/>
        </p:spPr>
      </p:sp>
      <p:pic>
        <p:nvPicPr>
          <p:cNvPr id="5" name="Enroll with consent icon" descr="Enroll with consent">    </p:cNvPr>
          <p:cNvPicPr>
            <a:picLocks noChangeAspect="1"/>
          </p:cNvPicPr>
          <p:nvPr/>
        </p:nvPicPr>
        <p:blipFill>
          <a:blip r:embed="rId1"/>
          <a:stretch>
            <a:fillRect/>
          </a:stretch>
        </p:blipFill>
        <p:spPr>
          <a:xfrm>
            <a:off x="963778" y="1786738"/>
            <a:ext cx="404165" cy="404165"/>
          </a:xfrm>
          <a:prstGeom prst="rect">
            <a:avLst/>
          </a:prstGeom>
        </p:spPr>
      </p:pic>
      <p:sp>
        <p:nvSpPr>
          <p:cNvPr id="6" name="Face head 1"/>
          <p:cNvSpPr txBox="1"/>
          <p:nvPr/>
        </p:nvSpPr>
        <p:spPr>
          <a:xfrm>
            <a:off x="1783080" y="1508760"/>
            <a:ext cx="4114800" cy="365760"/>
          </a:xfrm>
          <a:prstGeom prst="rect">
            <a:avLst/>
          </a:prstGeom>
          <a:noFill/>
          <a:ln/>
        </p:spPr>
        <p:txBody>
          <a:bodyPr wrap="square" lIns="0" tIns="0" rIns="0" bIns="0" rtlCol="0" anchor="ctr"/>
          <a:lstStyle/>
          <a:p>
            <a:pPr indent="0" marL="0">
              <a:buNone/>
            </a:pPr>
            <a:r>
              <a:rPr lang="en-US" sz="1700" b="1" dirty="0">
                <a:solidFill>
                  <a:schemeClr val="bg1"/>
                </a:solidFill>
              </a:rPr>
              <a:t>Enroll with consent</a:t>
            </a:r>
            <a:endParaRPr lang="en-US" sz="1700" dirty="0"/>
          </a:p>
        </p:txBody>
      </p:sp>
      <p:sp>
        <p:nvSpPr>
          <p:cNvPr id="7" name="Face text 1"/>
          <p:cNvSpPr txBox="1"/>
          <p:nvPr/>
        </p:nvSpPr>
        <p:spPr>
          <a:xfrm>
            <a:off x="1783080" y="1874520"/>
            <a:ext cx="4114800" cy="685800"/>
          </a:xfrm>
          <a:prstGeom prst="rect">
            <a:avLst/>
          </a:prstGeom>
          <a:noFill/>
          <a:ln/>
        </p:spPr>
        <p:txBody>
          <a:bodyPr wrap="square" lIns="0" tIns="0" rIns="0" bIns="0" rtlCol="0" anchor="t"/>
          <a:lstStyle/>
          <a:p>
            <a:pPr indent="0" marL="0">
              <a:buNone/>
            </a:pPr>
            <a:r>
              <a:rPr lang="en-US" sz="1300" dirty="0">
                <a:solidFill>
                  <a:schemeClr val="bg2"/>
                </a:solidFill>
              </a:rPr>
              <a:t>5 webcam photos → YuNet finds the face → SFace makes a 128-number fingerprint. Photos are discarded.</a:t>
            </a:r>
            <a:endParaRPr lang="en-US" sz="1300" dirty="0"/>
          </a:p>
        </p:txBody>
      </p:sp>
      <p:sp>
        <p:nvSpPr>
          <p:cNvPr id="8" name="Face step 2"/>
          <p:cNvSpPr/>
          <p:nvPr/>
        </p:nvSpPr>
        <p:spPr>
          <a:xfrm>
            <a:off x="548640" y="2788920"/>
            <a:ext cx="5486400" cy="1234440"/>
          </a:xfrm>
          <a:prstGeom prst="roundRect">
            <a:avLst>
              <a:gd name="adj" fmla="val 10370"/>
            </a:avLst>
          </a:prstGeom>
          <a:solidFill>
            <a:schemeClr val="tx2"/>
          </a:solidFill>
          <a:ln w="9525">
            <a:solidFill>
              <a:srgbClr val="2A2B31"/>
            </a:solidFill>
            <a:prstDash val="solid"/>
          </a:ln>
        </p:spPr>
      </p:sp>
      <p:sp>
        <p:nvSpPr>
          <p:cNvPr id="9" name="Mark an area restricted tile"/>
          <p:cNvSpPr/>
          <p:nvPr/>
        </p:nvSpPr>
        <p:spPr>
          <a:xfrm>
            <a:off x="777240" y="3017520"/>
            <a:ext cx="777240" cy="777240"/>
          </a:xfrm>
          <a:prstGeom prst="roundRect">
            <a:avLst>
              <a:gd name="adj" fmla="val 22000"/>
            </a:avLst>
          </a:prstGeom>
          <a:solidFill>
            <a:schemeClr val="accent1"/>
          </a:solidFill>
          <a:ln/>
        </p:spPr>
      </p:sp>
      <p:pic>
        <p:nvPicPr>
          <p:cNvPr id="10" name="Mark an area restricted icon" descr="Mark an area restricted">    </p:cNvPr>
          <p:cNvPicPr>
            <a:picLocks noChangeAspect="1"/>
          </p:cNvPicPr>
          <p:nvPr/>
        </p:nvPicPr>
        <p:blipFill>
          <a:blip r:embed="rId2"/>
          <a:stretch>
            <a:fillRect/>
          </a:stretch>
        </p:blipFill>
        <p:spPr>
          <a:xfrm>
            <a:off x="963778" y="3204058"/>
            <a:ext cx="404165" cy="404165"/>
          </a:xfrm>
          <a:prstGeom prst="rect">
            <a:avLst/>
          </a:prstGeom>
        </p:spPr>
      </p:pic>
      <p:sp>
        <p:nvSpPr>
          <p:cNvPr id="11" name="Face head 2"/>
          <p:cNvSpPr txBox="1"/>
          <p:nvPr/>
        </p:nvSpPr>
        <p:spPr>
          <a:xfrm>
            <a:off x="1783080" y="2926080"/>
            <a:ext cx="4114800" cy="365760"/>
          </a:xfrm>
          <a:prstGeom prst="rect">
            <a:avLst/>
          </a:prstGeom>
          <a:noFill/>
          <a:ln/>
        </p:spPr>
        <p:txBody>
          <a:bodyPr wrap="square" lIns="0" tIns="0" rIns="0" bIns="0" rtlCol="0" anchor="ctr"/>
          <a:lstStyle/>
          <a:p>
            <a:pPr indent="0" marL="0">
              <a:buNone/>
            </a:pPr>
            <a:r>
              <a:rPr lang="en-US" sz="1700" b="1" dirty="0">
                <a:solidFill>
                  <a:schemeClr val="bg1"/>
                </a:solidFill>
              </a:rPr>
              <a:t>Mark an area restricted</a:t>
            </a:r>
            <a:endParaRPr lang="en-US" sz="1700" dirty="0"/>
          </a:p>
        </p:txBody>
      </p:sp>
      <p:sp>
        <p:nvSpPr>
          <p:cNvPr id="12" name="Face text 2"/>
          <p:cNvSpPr txBox="1"/>
          <p:nvPr/>
        </p:nvSpPr>
        <p:spPr>
          <a:xfrm>
            <a:off x="1783080" y="3291840"/>
            <a:ext cx="4114800" cy="685800"/>
          </a:xfrm>
          <a:prstGeom prst="rect">
            <a:avLst/>
          </a:prstGeom>
          <a:noFill/>
          <a:ln/>
        </p:spPr>
        <p:txBody>
          <a:bodyPr wrap="square" lIns="0" tIns="0" rIns="0" bIns="0" rtlCol="0" anchor="t"/>
          <a:lstStyle/>
          <a:p>
            <a:pPr indent="0" marL="0">
              <a:buNone/>
            </a:pPr>
            <a:r>
              <a:rPr lang="en-US" sz="1300" dirty="0">
                <a:solidFill>
                  <a:schemeClr val="bg2"/>
                </a:solidFill>
              </a:rPr>
              <a:t>One click per camera on the Restricted areas page; tick who may enter.</a:t>
            </a:r>
            <a:endParaRPr lang="en-US" sz="1300" dirty="0"/>
          </a:p>
        </p:txBody>
      </p:sp>
      <p:sp>
        <p:nvSpPr>
          <p:cNvPr id="13" name="Face step 3"/>
          <p:cNvSpPr/>
          <p:nvPr/>
        </p:nvSpPr>
        <p:spPr>
          <a:xfrm>
            <a:off x="548640" y="4206240"/>
            <a:ext cx="5486400" cy="1234440"/>
          </a:xfrm>
          <a:prstGeom prst="roundRect">
            <a:avLst>
              <a:gd name="adj" fmla="val 10370"/>
            </a:avLst>
          </a:prstGeom>
          <a:solidFill>
            <a:schemeClr val="tx2"/>
          </a:solidFill>
          <a:ln w="9525">
            <a:solidFill>
              <a:srgbClr val="2A2B31"/>
            </a:solidFill>
            <a:prstDash val="solid"/>
          </a:ln>
        </p:spPr>
      </p:sp>
      <p:sp>
        <p:nvSpPr>
          <p:cNvPr id="14" name="Recognise on camera tile"/>
          <p:cNvSpPr/>
          <p:nvPr/>
        </p:nvSpPr>
        <p:spPr>
          <a:xfrm>
            <a:off x="777240" y="4434840"/>
            <a:ext cx="777240" cy="777240"/>
          </a:xfrm>
          <a:prstGeom prst="roundRect">
            <a:avLst>
              <a:gd name="adj" fmla="val 22000"/>
            </a:avLst>
          </a:prstGeom>
          <a:solidFill>
            <a:schemeClr val="accent4"/>
          </a:solidFill>
          <a:ln/>
        </p:spPr>
      </p:sp>
      <p:pic>
        <p:nvPicPr>
          <p:cNvPr id="15" name="Recognise on camera icon" descr="Recognise on camera">    </p:cNvPr>
          <p:cNvPicPr>
            <a:picLocks noChangeAspect="1"/>
          </p:cNvPicPr>
          <p:nvPr/>
        </p:nvPicPr>
        <p:blipFill>
          <a:blip r:embed="rId3"/>
          <a:stretch>
            <a:fillRect/>
          </a:stretch>
        </p:blipFill>
        <p:spPr>
          <a:xfrm>
            <a:off x="963778" y="4621378"/>
            <a:ext cx="404165" cy="404165"/>
          </a:xfrm>
          <a:prstGeom prst="rect">
            <a:avLst/>
          </a:prstGeom>
        </p:spPr>
      </p:pic>
      <p:sp>
        <p:nvSpPr>
          <p:cNvPr id="16" name="Face head 3"/>
          <p:cNvSpPr txBox="1"/>
          <p:nvPr/>
        </p:nvSpPr>
        <p:spPr>
          <a:xfrm>
            <a:off x="1783080" y="4343400"/>
            <a:ext cx="4114800" cy="365760"/>
          </a:xfrm>
          <a:prstGeom prst="rect">
            <a:avLst/>
          </a:prstGeom>
          <a:noFill/>
          <a:ln/>
        </p:spPr>
        <p:txBody>
          <a:bodyPr wrap="square" lIns="0" tIns="0" rIns="0" bIns="0" rtlCol="0" anchor="ctr"/>
          <a:lstStyle/>
          <a:p>
            <a:pPr indent="0" marL="0">
              <a:buNone/>
            </a:pPr>
            <a:r>
              <a:rPr lang="en-US" sz="1700" b="1" dirty="0">
                <a:solidFill>
                  <a:schemeClr val="bg1"/>
                </a:solidFill>
              </a:rPr>
              <a:t>Recognise on camera</a:t>
            </a:r>
            <a:endParaRPr lang="en-US" sz="1700" dirty="0"/>
          </a:p>
        </p:txBody>
      </p:sp>
      <p:sp>
        <p:nvSpPr>
          <p:cNvPr id="17" name="Face text 3"/>
          <p:cNvSpPr txBox="1"/>
          <p:nvPr/>
        </p:nvSpPr>
        <p:spPr>
          <a:xfrm>
            <a:off x="1783080" y="4709160"/>
            <a:ext cx="4114800" cy="685800"/>
          </a:xfrm>
          <a:prstGeom prst="rect">
            <a:avLst/>
          </a:prstGeom>
          <a:noFill/>
          <a:ln/>
        </p:spPr>
        <p:txBody>
          <a:bodyPr wrap="square" lIns="0" tIns="0" rIns="0" bIns="0" rtlCol="0" anchor="t"/>
          <a:lstStyle/>
          <a:p>
            <a:pPr indent="0" marL="0">
              <a:buNone/>
            </a:pPr>
            <a:r>
              <a:rPr lang="en-US" sz="1300" dirty="0">
                <a:solidFill>
                  <a:schemeClr val="bg2"/>
                </a:solidFill>
              </a:rPr>
              <a:t>Only for people standing inside a restricted area: cosine similarity ≥ 0.40 = that person.</a:t>
            </a:r>
            <a:endParaRPr lang="en-US" sz="1300" dirty="0"/>
          </a:p>
        </p:txBody>
      </p:sp>
      <p:sp>
        <p:nvSpPr>
          <p:cNvPr id="18" name="Outcome card"/>
          <p:cNvSpPr/>
          <p:nvPr/>
        </p:nvSpPr>
        <p:spPr>
          <a:xfrm>
            <a:off x="6400800" y="1371600"/>
            <a:ext cx="5239512" cy="2240280"/>
          </a:xfrm>
          <a:prstGeom prst="roundRect">
            <a:avLst>
              <a:gd name="adj" fmla="val 5714"/>
            </a:avLst>
          </a:prstGeom>
          <a:solidFill>
            <a:srgbClr val="1A1B20"/>
          </a:solidFill>
          <a:ln w="9525">
            <a:solidFill>
              <a:srgbClr val="2A2B31"/>
            </a:solidFill>
            <a:prstDash val="solid"/>
          </a:ln>
        </p:spPr>
      </p:sp>
      <p:sp>
        <p:nvSpPr>
          <p:cNvPr id="19" name="Outcome head"/>
          <p:cNvSpPr txBox="1"/>
          <p:nvPr/>
        </p:nvSpPr>
        <p:spPr>
          <a:xfrm>
            <a:off x="6675120" y="1508760"/>
            <a:ext cx="4754880" cy="365760"/>
          </a:xfrm>
          <a:prstGeom prst="rect">
            <a:avLst/>
          </a:prstGeom>
          <a:noFill/>
          <a:ln/>
        </p:spPr>
        <p:txBody>
          <a:bodyPr wrap="square" lIns="0" tIns="0" rIns="0" bIns="0" rtlCol="0" anchor="ctr"/>
          <a:lstStyle/>
          <a:p>
            <a:pPr indent="0" marL="0">
              <a:buNone/>
            </a:pPr>
            <a:r>
              <a:rPr lang="en-US" sz="1700" b="1" dirty="0">
                <a:solidFill>
                  <a:schemeClr val="bg1"/>
                </a:solidFill>
              </a:rPr>
              <a:t>On the live view</a:t>
            </a:r>
            <a:endParaRPr lang="en-US" sz="1700" dirty="0"/>
          </a:p>
        </p:txBody>
      </p:sp>
      <p:sp>
        <p:nvSpPr>
          <p:cNvPr id="20" name="Allowed box"/>
          <p:cNvSpPr/>
          <p:nvPr/>
        </p:nvSpPr>
        <p:spPr>
          <a:xfrm>
            <a:off x="6675120" y="2011680"/>
            <a:ext cx="2240280" cy="1371600"/>
          </a:xfrm>
          <a:prstGeom prst="roundRect">
            <a:avLst>
              <a:gd name="adj" fmla="val 6667"/>
            </a:avLst>
          </a:prstGeom>
          <a:solidFill>
            <a:srgbClr val="0F1A0A"/>
          </a:solidFill>
          <a:ln w="25400">
            <a:solidFill>
              <a:srgbClr val="B4F23C"/>
            </a:solidFill>
            <a:prstDash val="solid"/>
          </a:ln>
        </p:spPr>
      </p:sp>
      <p:sp>
        <p:nvSpPr>
          <p:cNvPr id="21" name="Allowed text"/>
          <p:cNvSpPr txBox="1"/>
          <p:nvPr/>
        </p:nvSpPr>
        <p:spPr>
          <a:xfrm>
            <a:off x="6675120" y="2011680"/>
            <a:ext cx="2240280" cy="1371600"/>
          </a:xfrm>
          <a:prstGeom prst="rect">
            <a:avLst/>
          </a:prstGeom>
          <a:noFill/>
          <a:ln/>
        </p:spPr>
        <p:txBody>
          <a:bodyPr wrap="square" lIns="0" tIns="0" rIns="0" bIns="0" rtlCol="0" anchor="ctr"/>
          <a:lstStyle/>
          <a:p>
            <a:pPr algn="ctr" indent="0" marL="0">
              <a:buNone/>
            </a:pPr>
            <a:r>
              <a:rPr lang="en-US" sz="1400" b="1" dirty="0">
                <a:solidFill>
                  <a:schemeClr val="accent2"/>
                </a:solidFill>
              </a:rPr>
              <a:t>Yash (allowed)</a:t>
            </a:r>
            <a:endParaRPr lang="en-US" sz="1400" dirty="0"/>
          </a:p>
          <a:p>
            <a:pPr algn="ctr" indent="0" marL="0">
              <a:buNone/>
            </a:pPr>
            <a:r>
              <a:rPr lang="en-US" sz="1400" b="1" dirty="0">
                <a:solidFill>
                  <a:schemeClr val="accent2"/>
                </a:solidFill>
              </a:rPr>
              <a:t>no alert</a:t>
            </a:r>
            <a:endParaRPr lang="en-US" sz="1400" dirty="0"/>
          </a:p>
        </p:txBody>
      </p:sp>
      <p:sp>
        <p:nvSpPr>
          <p:cNvPr id="22" name="Unknown box"/>
          <p:cNvSpPr/>
          <p:nvPr/>
        </p:nvSpPr>
        <p:spPr>
          <a:xfrm>
            <a:off x="9144000" y="2011680"/>
            <a:ext cx="2240280" cy="1371600"/>
          </a:xfrm>
          <a:prstGeom prst="roundRect">
            <a:avLst>
              <a:gd name="adj" fmla="val 6667"/>
            </a:avLst>
          </a:prstGeom>
          <a:solidFill>
            <a:srgbClr val="1F0E12"/>
          </a:solidFill>
          <a:ln w="25400">
            <a:solidFill>
              <a:srgbClr val="F43F5E"/>
            </a:solidFill>
            <a:prstDash val="solid"/>
          </a:ln>
        </p:spPr>
      </p:sp>
      <p:sp>
        <p:nvSpPr>
          <p:cNvPr id="23" name="Unknown text"/>
          <p:cNvSpPr txBox="1"/>
          <p:nvPr/>
        </p:nvSpPr>
        <p:spPr>
          <a:xfrm>
            <a:off x="9144000" y="2011680"/>
            <a:ext cx="2240280" cy="1371600"/>
          </a:xfrm>
          <a:prstGeom prst="rect">
            <a:avLst/>
          </a:prstGeom>
          <a:noFill/>
          <a:ln/>
        </p:spPr>
        <p:txBody>
          <a:bodyPr wrap="square" lIns="0" tIns="0" rIns="0" bIns="0" rtlCol="0" anchor="ctr"/>
          <a:lstStyle/>
          <a:p>
            <a:pPr algn="ctr" indent="0" marL="0">
              <a:buNone/>
            </a:pPr>
            <a:r>
              <a:rPr lang="en-US" sz="1400" b="1" dirty="0">
                <a:solidFill>
                  <a:schemeClr val="accent1"/>
                </a:solidFill>
              </a:rPr>
              <a:t>unknown</a:t>
            </a:r>
            <a:endParaRPr lang="en-US" sz="1400" dirty="0"/>
          </a:p>
          <a:p>
            <a:pPr algn="ctr" indent="0" marL="0">
              <a:buNone/>
            </a:pPr>
            <a:r>
              <a:rPr lang="en-US" sz="1400" b="1" dirty="0">
                <a:solidFill>
                  <a:schemeClr val="accent1"/>
                </a:solidFill>
              </a:rPr>
              <a:t>access alarm</a:t>
            </a:r>
            <a:endParaRPr lang="en-US" sz="1400" dirty="0"/>
          </a:p>
        </p:txBody>
      </p:sp>
      <p:sp>
        <p:nvSpPr>
          <p:cNvPr id="24" name="Privacy card"/>
          <p:cNvSpPr/>
          <p:nvPr/>
        </p:nvSpPr>
        <p:spPr>
          <a:xfrm>
            <a:off x="6400800" y="3794760"/>
            <a:ext cx="5239512" cy="2240280"/>
          </a:xfrm>
          <a:prstGeom prst="roundRect">
            <a:avLst>
              <a:gd name="adj" fmla="val 5714"/>
            </a:avLst>
          </a:prstGeom>
          <a:solidFill>
            <a:schemeClr val="tx2"/>
          </a:solidFill>
          <a:ln w="9525">
            <a:solidFill>
              <a:srgbClr val="2A2B31"/>
            </a:solidFill>
            <a:prstDash val="solid"/>
          </a:ln>
        </p:spPr>
      </p:sp>
      <p:sp>
        <p:nvSpPr>
          <p:cNvPr id="25" name="Privacy head"/>
          <p:cNvSpPr txBox="1"/>
          <p:nvPr/>
        </p:nvSpPr>
        <p:spPr>
          <a:xfrm>
            <a:off x="6675120" y="3931920"/>
            <a:ext cx="4754880" cy="365760"/>
          </a:xfrm>
          <a:prstGeom prst="rect">
            <a:avLst/>
          </a:prstGeom>
          <a:noFill/>
          <a:ln/>
        </p:spPr>
        <p:txBody>
          <a:bodyPr wrap="square" lIns="0" tIns="0" rIns="0" bIns="0" rtlCol="0" anchor="ctr"/>
          <a:lstStyle/>
          <a:p>
            <a:pPr indent="0" marL="0">
              <a:buNone/>
            </a:pPr>
            <a:r>
              <a:rPr lang="en-US" sz="1700" b="1" dirty="0">
                <a:solidFill>
                  <a:schemeClr val="accent2"/>
                </a:solidFill>
              </a:rPr>
              <a:t>Privacy by design</a:t>
            </a:r>
            <a:endParaRPr lang="en-US" sz="1700" dirty="0"/>
          </a:p>
        </p:txBody>
      </p:sp>
      <p:sp>
        <p:nvSpPr>
          <p:cNvPr id="26" name="Privacy list"/>
          <p:cNvSpPr txBox="1"/>
          <p:nvPr/>
        </p:nvSpPr>
        <p:spPr>
          <a:xfrm>
            <a:off x="6675120" y="4389120"/>
            <a:ext cx="4754880" cy="1554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Consent required to enroll</a:t>
            </a:r>
            <a:endParaRPr lang="en-US" sz="1400" dirty="0"/>
          </a:p>
          <a:p>
            <a:pPr marL="342900" indent="-342900">
              <a:spcAft>
                <a:spcPts val="400"/>
              </a:spcAft>
              <a:buSzPct val="100000"/>
              <a:buChar char="•"/>
            </a:pPr>
            <a:r>
              <a:rPr lang="en-US" sz="1400" dirty="0">
                <a:solidFill>
                  <a:schemeClr val="bg1"/>
                </a:solidFill>
              </a:rPr>
              <a:t>Fingerprints only, deletable in one click</a:t>
            </a:r>
            <a:endParaRPr lang="en-US" sz="1400" dirty="0"/>
          </a:p>
          <a:p>
            <a:pPr marL="342900" indent="-342900">
              <a:spcAft>
                <a:spcPts val="400"/>
              </a:spcAft>
              <a:buSzPct val="100000"/>
              <a:buChar char="•"/>
            </a:pPr>
            <a:r>
              <a:rPr lang="en-US" sz="1400" dirty="0">
                <a:solidFill>
                  <a:schemeClr val="bg1"/>
                </a:solidFill>
              </a:rPr>
              <a:t>Runs on the laptop; nothing sent out</a:t>
            </a:r>
            <a:endParaRPr lang="en-US" sz="1400" dirty="0"/>
          </a:p>
          <a:p>
            <a:pPr marL="342900" indent="-342900">
              <a:spcAft>
                <a:spcPts val="400"/>
              </a:spcAft>
              <a:buSzPct val="100000"/>
              <a:buChar char="•"/>
            </a:pPr>
            <a:r>
              <a:rPr lang="en-US" sz="1400" dirty="0">
                <a:solidFill>
                  <a:schemeClr val="bg1"/>
                </a:solidFill>
              </a:rPr>
              <a:t>Every change in the audit log</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bg1"/>
                </a:solidFill>
              </a:rPr>
              <a:t>Implementation: the control room</a:t>
            </a:r>
            <a:endParaRPr lang="en-US" sz="3200" dirty="0"/>
          </a:p>
        </p:txBody>
      </p:sp>
      <p:sp>
        <p:nvSpPr>
          <p:cNvPr id="3" name="Feature card 1"/>
          <p:cNvSpPr/>
          <p:nvPr/>
        </p:nvSpPr>
        <p:spPr>
          <a:xfrm>
            <a:off x="548640" y="1371600"/>
            <a:ext cx="3520440" cy="2148840"/>
          </a:xfrm>
          <a:prstGeom prst="roundRect">
            <a:avLst>
              <a:gd name="adj" fmla="val 5957"/>
            </a:avLst>
          </a:prstGeom>
          <a:solidFill>
            <a:schemeClr val="tx2"/>
          </a:solidFill>
          <a:ln w="9525">
            <a:solidFill>
              <a:srgbClr val="2A2B31"/>
            </a:solidFill>
            <a:prstDash val="solid"/>
          </a:ln>
        </p:spPr>
      </p:sp>
      <p:sp>
        <p:nvSpPr>
          <p:cNvPr id="4" name="Live grid + full screen tile"/>
          <p:cNvSpPr/>
          <p:nvPr/>
        </p:nvSpPr>
        <p:spPr>
          <a:xfrm>
            <a:off x="822960" y="1645920"/>
            <a:ext cx="685800" cy="685800"/>
          </a:xfrm>
          <a:prstGeom prst="roundRect">
            <a:avLst>
              <a:gd name="adj" fmla="val 22000"/>
            </a:avLst>
          </a:prstGeom>
          <a:solidFill>
            <a:schemeClr val="accent4"/>
          </a:solidFill>
          <a:ln/>
        </p:spPr>
      </p:sp>
      <p:pic>
        <p:nvPicPr>
          <p:cNvPr id="5" name="Live grid + full screen icon" descr="Live grid + full screen">    </p:cNvPr>
          <p:cNvPicPr>
            <a:picLocks noChangeAspect="1"/>
          </p:cNvPicPr>
          <p:nvPr/>
        </p:nvPicPr>
        <p:blipFill>
          <a:blip r:embed="rId1"/>
          <a:stretch>
            <a:fillRect/>
          </a:stretch>
        </p:blipFill>
        <p:spPr>
          <a:xfrm>
            <a:off x="987552" y="1810512"/>
            <a:ext cx="356616" cy="356616"/>
          </a:xfrm>
          <a:prstGeom prst="rect">
            <a:avLst/>
          </a:prstGeom>
        </p:spPr>
      </p:pic>
      <p:sp>
        <p:nvSpPr>
          <p:cNvPr id="6" name="Feature head 1"/>
          <p:cNvSpPr txBox="1"/>
          <p:nvPr/>
        </p:nvSpPr>
        <p:spPr>
          <a:xfrm>
            <a:off x="822960" y="2423160"/>
            <a:ext cx="3017520" cy="365760"/>
          </a:xfrm>
          <a:prstGeom prst="rect">
            <a:avLst/>
          </a:prstGeom>
          <a:noFill/>
          <a:ln/>
        </p:spPr>
        <p:txBody>
          <a:bodyPr wrap="square" lIns="0" tIns="0" rIns="0" bIns="0" rtlCol="0" anchor="ctr"/>
          <a:lstStyle/>
          <a:p>
            <a:pPr indent="0" marL="0">
              <a:buNone/>
            </a:pPr>
            <a:r>
              <a:rPr lang="en-US" sz="1600" b="1" dirty="0">
                <a:solidFill>
                  <a:schemeClr val="bg1"/>
                </a:solidFill>
              </a:rPr>
              <a:t>Live grid + full screen</a:t>
            </a:r>
            <a:endParaRPr lang="en-US" sz="1600" dirty="0"/>
          </a:p>
        </p:txBody>
      </p:sp>
      <p:sp>
        <p:nvSpPr>
          <p:cNvPr id="7" name="Feature text 1"/>
          <p:cNvSpPr txBox="1"/>
          <p:nvPr/>
        </p:nvSpPr>
        <p:spPr>
          <a:xfrm>
            <a:off x="822960" y="2788920"/>
            <a:ext cx="3017520" cy="685800"/>
          </a:xfrm>
          <a:prstGeom prst="rect">
            <a:avLst/>
          </a:prstGeom>
          <a:noFill/>
          <a:ln/>
        </p:spPr>
        <p:txBody>
          <a:bodyPr wrap="square" lIns="0" tIns="0" rIns="0" bIns="0" rtlCol="0" anchor="t"/>
          <a:lstStyle/>
          <a:p>
            <a:pPr indent="0" marL="0">
              <a:buNone/>
            </a:pPr>
            <a:r>
              <a:rPr lang="en-US" sz="1250" dirty="0">
                <a:solidFill>
                  <a:schemeClr val="bg2"/>
                </a:solidFill>
              </a:rPr>
              <a:t>Signed MJPEG streams at 25 fps; click a camera to fill the screen.</a:t>
            </a:r>
            <a:endParaRPr lang="en-US" sz="1250" dirty="0"/>
          </a:p>
        </p:txBody>
      </p:sp>
      <p:sp>
        <p:nvSpPr>
          <p:cNvPr id="8" name="Feature card 2"/>
          <p:cNvSpPr/>
          <p:nvPr/>
        </p:nvSpPr>
        <p:spPr>
          <a:xfrm>
            <a:off x="4297680" y="1371600"/>
            <a:ext cx="3520440" cy="2148840"/>
          </a:xfrm>
          <a:prstGeom prst="roundRect">
            <a:avLst>
              <a:gd name="adj" fmla="val 5957"/>
            </a:avLst>
          </a:prstGeom>
          <a:solidFill>
            <a:schemeClr val="tx2"/>
          </a:solidFill>
          <a:ln w="9525">
            <a:solidFill>
              <a:srgbClr val="2A2B31"/>
            </a:solidFill>
            <a:prstDash val="solid"/>
          </a:ln>
        </p:spPr>
      </p:sp>
      <p:sp>
        <p:nvSpPr>
          <p:cNvPr id="9" name="Alarms that look different tile"/>
          <p:cNvSpPr/>
          <p:nvPr/>
        </p:nvSpPr>
        <p:spPr>
          <a:xfrm>
            <a:off x="4572000" y="1645920"/>
            <a:ext cx="685800" cy="685800"/>
          </a:xfrm>
          <a:prstGeom prst="roundRect">
            <a:avLst>
              <a:gd name="adj" fmla="val 22000"/>
            </a:avLst>
          </a:prstGeom>
          <a:solidFill>
            <a:schemeClr val="accent1"/>
          </a:solidFill>
          <a:ln/>
        </p:spPr>
      </p:sp>
      <p:pic>
        <p:nvPicPr>
          <p:cNvPr id="10" name="Alarms that look different icon" descr="Alarms that look different">    </p:cNvPr>
          <p:cNvPicPr>
            <a:picLocks noChangeAspect="1"/>
          </p:cNvPicPr>
          <p:nvPr/>
        </p:nvPicPr>
        <p:blipFill>
          <a:blip r:embed="rId2"/>
          <a:stretch>
            <a:fillRect/>
          </a:stretch>
        </p:blipFill>
        <p:spPr>
          <a:xfrm>
            <a:off x="4736592" y="1810512"/>
            <a:ext cx="356616" cy="356616"/>
          </a:xfrm>
          <a:prstGeom prst="rect">
            <a:avLst/>
          </a:prstGeom>
        </p:spPr>
      </p:pic>
      <p:sp>
        <p:nvSpPr>
          <p:cNvPr id="11" name="Feature head 2"/>
          <p:cNvSpPr txBox="1"/>
          <p:nvPr/>
        </p:nvSpPr>
        <p:spPr>
          <a:xfrm>
            <a:off x="4572000" y="2423160"/>
            <a:ext cx="3017520" cy="365760"/>
          </a:xfrm>
          <a:prstGeom prst="rect">
            <a:avLst/>
          </a:prstGeom>
          <a:noFill/>
          <a:ln/>
        </p:spPr>
        <p:txBody>
          <a:bodyPr wrap="square" lIns="0" tIns="0" rIns="0" bIns="0" rtlCol="0" anchor="ctr"/>
          <a:lstStyle/>
          <a:p>
            <a:pPr indent="0" marL="0">
              <a:buNone/>
            </a:pPr>
            <a:r>
              <a:rPr lang="en-US" sz="1600" b="1" dirty="0">
                <a:solidFill>
                  <a:schemeClr val="bg1"/>
                </a:solidFill>
              </a:rPr>
              <a:t>Alarms that look different</a:t>
            </a:r>
            <a:endParaRPr lang="en-US" sz="1600" dirty="0"/>
          </a:p>
        </p:txBody>
      </p:sp>
      <p:sp>
        <p:nvSpPr>
          <p:cNvPr id="12" name="Feature text 2"/>
          <p:cNvSpPr txBox="1"/>
          <p:nvPr/>
        </p:nvSpPr>
        <p:spPr>
          <a:xfrm>
            <a:off x="4572000" y="2788920"/>
            <a:ext cx="3017520" cy="685800"/>
          </a:xfrm>
          <a:prstGeom prst="rect">
            <a:avLst/>
          </a:prstGeom>
          <a:noFill/>
          <a:ln/>
        </p:spPr>
        <p:txBody>
          <a:bodyPr wrap="square" lIns="0" tIns="0" rIns="0" bIns="0" rtlCol="0" anchor="t"/>
          <a:lstStyle/>
          <a:p>
            <a:pPr indent="0" marL="0">
              <a:buNone/>
            </a:pPr>
            <a:r>
              <a:rPr lang="en-US" sz="1250" dirty="0">
                <a:solidFill>
                  <a:schemeClr val="bg2"/>
                </a:solidFill>
              </a:rPr>
              <a:t>Fire orange, smoke grey, no-helmet yellow, other emergencies red; spoken once.</a:t>
            </a:r>
            <a:endParaRPr lang="en-US" sz="1250" dirty="0"/>
          </a:p>
        </p:txBody>
      </p:sp>
      <p:sp>
        <p:nvSpPr>
          <p:cNvPr id="13" name="Feature card 3"/>
          <p:cNvSpPr/>
          <p:nvPr/>
        </p:nvSpPr>
        <p:spPr>
          <a:xfrm>
            <a:off x="8046720" y="1371600"/>
            <a:ext cx="3520440" cy="2148840"/>
          </a:xfrm>
          <a:prstGeom prst="roundRect">
            <a:avLst>
              <a:gd name="adj" fmla="val 5957"/>
            </a:avLst>
          </a:prstGeom>
          <a:solidFill>
            <a:schemeClr val="tx2"/>
          </a:solidFill>
          <a:ln w="9525">
            <a:solidFill>
              <a:srgbClr val="2A2B31"/>
            </a:solidFill>
            <a:prstDash val="solid"/>
          </a:ln>
        </p:spPr>
      </p:sp>
      <p:sp>
        <p:nvSpPr>
          <p:cNvPr id="14" name="Friday assistant tile"/>
          <p:cNvSpPr/>
          <p:nvPr/>
        </p:nvSpPr>
        <p:spPr>
          <a:xfrm>
            <a:off x="8321040" y="1645920"/>
            <a:ext cx="685800" cy="685800"/>
          </a:xfrm>
          <a:prstGeom prst="roundRect">
            <a:avLst>
              <a:gd name="adj" fmla="val 22000"/>
            </a:avLst>
          </a:prstGeom>
          <a:solidFill>
            <a:schemeClr val="accent5"/>
          </a:solidFill>
          <a:ln/>
        </p:spPr>
      </p:sp>
      <p:pic>
        <p:nvPicPr>
          <p:cNvPr id="15" name="Friday assistant icon" descr="Friday assistant">    </p:cNvPr>
          <p:cNvPicPr>
            <a:picLocks noChangeAspect="1"/>
          </p:cNvPicPr>
          <p:nvPr/>
        </p:nvPicPr>
        <p:blipFill>
          <a:blip r:embed="rId3"/>
          <a:stretch>
            <a:fillRect/>
          </a:stretch>
        </p:blipFill>
        <p:spPr>
          <a:xfrm>
            <a:off x="8485632" y="1810512"/>
            <a:ext cx="356616" cy="356616"/>
          </a:xfrm>
          <a:prstGeom prst="rect">
            <a:avLst/>
          </a:prstGeom>
        </p:spPr>
      </p:pic>
      <p:sp>
        <p:nvSpPr>
          <p:cNvPr id="16" name="Feature head 3"/>
          <p:cNvSpPr txBox="1"/>
          <p:nvPr/>
        </p:nvSpPr>
        <p:spPr>
          <a:xfrm>
            <a:off x="8321040" y="2423160"/>
            <a:ext cx="3017520" cy="365760"/>
          </a:xfrm>
          <a:prstGeom prst="rect">
            <a:avLst/>
          </a:prstGeom>
          <a:noFill/>
          <a:ln/>
        </p:spPr>
        <p:txBody>
          <a:bodyPr wrap="square" lIns="0" tIns="0" rIns="0" bIns="0" rtlCol="0" anchor="ctr"/>
          <a:lstStyle/>
          <a:p>
            <a:pPr indent="0" marL="0">
              <a:buNone/>
            </a:pPr>
            <a:r>
              <a:rPr lang="en-US" sz="1600" b="1" dirty="0">
                <a:solidFill>
                  <a:schemeClr val="bg1"/>
                </a:solidFill>
              </a:rPr>
              <a:t>Friday assistant</a:t>
            </a:r>
            <a:endParaRPr lang="en-US" sz="1600" dirty="0"/>
          </a:p>
        </p:txBody>
      </p:sp>
      <p:sp>
        <p:nvSpPr>
          <p:cNvPr id="17" name="Feature text 3"/>
          <p:cNvSpPr txBox="1"/>
          <p:nvPr/>
        </p:nvSpPr>
        <p:spPr>
          <a:xfrm>
            <a:off x="8321040" y="2788920"/>
            <a:ext cx="3017520" cy="685800"/>
          </a:xfrm>
          <a:prstGeom prst="rect">
            <a:avLst/>
          </a:prstGeom>
          <a:noFill/>
          <a:ln/>
        </p:spPr>
        <p:txBody>
          <a:bodyPr wrap="square" lIns="0" tIns="0" rIns="0" bIns="0" rtlCol="0" anchor="t"/>
          <a:lstStyle/>
          <a:p>
            <a:pPr indent="0" marL="0">
              <a:buNone/>
            </a:pPr>
            <a:r>
              <a:rPr lang="en-US" sz="1250" dirty="0">
                <a:solidFill>
                  <a:schemeClr val="bg2"/>
                </a:solidFill>
              </a:rPr>
              <a:t>"Show me the fire", "summary for today", "call everyone" (with a spoken yes).</a:t>
            </a:r>
            <a:endParaRPr lang="en-US" sz="1250" dirty="0"/>
          </a:p>
        </p:txBody>
      </p:sp>
      <p:sp>
        <p:nvSpPr>
          <p:cNvPr id="18" name="Feature card 4"/>
          <p:cNvSpPr/>
          <p:nvPr/>
        </p:nvSpPr>
        <p:spPr>
          <a:xfrm>
            <a:off x="548640" y="3749040"/>
            <a:ext cx="3520440" cy="2148840"/>
          </a:xfrm>
          <a:prstGeom prst="roundRect">
            <a:avLst>
              <a:gd name="adj" fmla="val 5957"/>
            </a:avLst>
          </a:prstGeom>
          <a:solidFill>
            <a:schemeClr val="tx2"/>
          </a:solidFill>
          <a:ln w="9525">
            <a:solidFill>
              <a:srgbClr val="2A2B31"/>
            </a:solidFill>
            <a:prstDash val="solid"/>
          </a:ln>
        </p:spPr>
      </p:sp>
      <p:sp>
        <p:nvSpPr>
          <p:cNvPr id="19" name="All-day recordings tile"/>
          <p:cNvSpPr/>
          <p:nvPr/>
        </p:nvSpPr>
        <p:spPr>
          <a:xfrm>
            <a:off x="822960" y="4023360"/>
            <a:ext cx="685800" cy="685800"/>
          </a:xfrm>
          <a:prstGeom prst="roundRect">
            <a:avLst>
              <a:gd name="adj" fmla="val 22000"/>
            </a:avLst>
          </a:prstGeom>
          <a:solidFill>
            <a:schemeClr val="accent3"/>
          </a:solidFill>
          <a:ln/>
        </p:spPr>
      </p:sp>
      <p:pic>
        <p:nvPicPr>
          <p:cNvPr id="20" name="All-day recordings icon" descr="All-day recordings">    </p:cNvPr>
          <p:cNvPicPr>
            <a:picLocks noChangeAspect="1"/>
          </p:cNvPicPr>
          <p:nvPr/>
        </p:nvPicPr>
        <p:blipFill>
          <a:blip r:embed="rId4"/>
          <a:stretch>
            <a:fillRect/>
          </a:stretch>
        </p:blipFill>
        <p:spPr>
          <a:xfrm>
            <a:off x="987552" y="4187952"/>
            <a:ext cx="356616" cy="356616"/>
          </a:xfrm>
          <a:prstGeom prst="rect">
            <a:avLst/>
          </a:prstGeom>
        </p:spPr>
      </p:pic>
      <p:sp>
        <p:nvSpPr>
          <p:cNvPr id="21" name="Feature head 4"/>
          <p:cNvSpPr txBox="1"/>
          <p:nvPr/>
        </p:nvSpPr>
        <p:spPr>
          <a:xfrm>
            <a:off x="822960" y="4800600"/>
            <a:ext cx="3017520" cy="365760"/>
          </a:xfrm>
          <a:prstGeom prst="rect">
            <a:avLst/>
          </a:prstGeom>
          <a:noFill/>
          <a:ln/>
        </p:spPr>
        <p:txBody>
          <a:bodyPr wrap="square" lIns="0" tIns="0" rIns="0" bIns="0" rtlCol="0" anchor="ctr"/>
          <a:lstStyle/>
          <a:p>
            <a:pPr indent="0" marL="0">
              <a:buNone/>
            </a:pPr>
            <a:r>
              <a:rPr lang="en-US" sz="1600" b="1" dirty="0">
                <a:solidFill>
                  <a:schemeClr val="bg1"/>
                </a:solidFill>
              </a:rPr>
              <a:t>All-day recordings</a:t>
            </a:r>
            <a:endParaRPr lang="en-US" sz="1600" dirty="0"/>
          </a:p>
        </p:txBody>
      </p:sp>
      <p:sp>
        <p:nvSpPr>
          <p:cNvPr id="22" name="Feature text 4"/>
          <p:cNvSpPr txBox="1"/>
          <p:nvPr/>
        </p:nvSpPr>
        <p:spPr>
          <a:xfrm>
            <a:off x="822960" y="5166360"/>
            <a:ext cx="3017520" cy="685800"/>
          </a:xfrm>
          <a:prstGeom prst="rect">
            <a:avLst/>
          </a:prstGeom>
          <a:noFill/>
          <a:ln/>
        </p:spPr>
        <p:txBody>
          <a:bodyPr wrap="square" lIns="0" tIns="0" rIns="0" bIns="0" rtlCol="0" anchor="t"/>
          <a:lstStyle/>
          <a:p>
            <a:pPr indent="0" marL="0">
              <a:buNone/>
            </a:pPr>
            <a:r>
              <a:rPr lang="en-US" sz="1250" dirty="0">
                <a:solidFill>
                  <a:schemeClr val="bg2"/>
                </a:solidFill>
              </a:rPr>
              <a:t>5-minute MP4 files per camera, kept 7 days, jump to any incident.</a:t>
            </a:r>
            <a:endParaRPr lang="en-US" sz="1250" dirty="0"/>
          </a:p>
        </p:txBody>
      </p:sp>
      <p:sp>
        <p:nvSpPr>
          <p:cNvPr id="23" name="Feature card 5"/>
          <p:cNvSpPr/>
          <p:nvPr/>
        </p:nvSpPr>
        <p:spPr>
          <a:xfrm>
            <a:off x="4297680" y="3749040"/>
            <a:ext cx="3520440" cy="2148840"/>
          </a:xfrm>
          <a:prstGeom prst="roundRect">
            <a:avLst>
              <a:gd name="adj" fmla="val 5957"/>
            </a:avLst>
          </a:prstGeom>
          <a:solidFill>
            <a:schemeClr val="tx2"/>
          </a:solidFill>
          <a:ln w="9525">
            <a:solidFill>
              <a:srgbClr val="2A2B31"/>
            </a:solidFill>
            <a:prstDash val="solid"/>
          </a:ln>
        </p:spPr>
      </p:sp>
      <p:sp>
        <p:nvSpPr>
          <p:cNvPr id="24" name="Roles and delegation tile"/>
          <p:cNvSpPr/>
          <p:nvPr/>
        </p:nvSpPr>
        <p:spPr>
          <a:xfrm>
            <a:off x="4572000" y="4023360"/>
            <a:ext cx="685800" cy="685800"/>
          </a:xfrm>
          <a:prstGeom prst="roundRect">
            <a:avLst>
              <a:gd name="adj" fmla="val 22000"/>
            </a:avLst>
          </a:prstGeom>
          <a:solidFill>
            <a:schemeClr val="accent2"/>
          </a:solidFill>
          <a:ln/>
        </p:spPr>
      </p:sp>
      <p:pic>
        <p:nvPicPr>
          <p:cNvPr id="25" name="Roles and delegation icon" descr="Roles and delegation">    </p:cNvPr>
          <p:cNvPicPr>
            <a:picLocks noChangeAspect="1"/>
          </p:cNvPicPr>
          <p:nvPr/>
        </p:nvPicPr>
        <p:blipFill>
          <a:blip r:embed="rId5"/>
          <a:stretch>
            <a:fillRect/>
          </a:stretch>
        </p:blipFill>
        <p:spPr>
          <a:xfrm>
            <a:off x="4736592" y="4187952"/>
            <a:ext cx="356616" cy="356616"/>
          </a:xfrm>
          <a:prstGeom prst="rect">
            <a:avLst/>
          </a:prstGeom>
        </p:spPr>
      </p:pic>
      <p:sp>
        <p:nvSpPr>
          <p:cNvPr id="26" name="Feature head 5"/>
          <p:cNvSpPr txBox="1"/>
          <p:nvPr/>
        </p:nvSpPr>
        <p:spPr>
          <a:xfrm>
            <a:off x="4572000" y="4800600"/>
            <a:ext cx="3017520" cy="365760"/>
          </a:xfrm>
          <a:prstGeom prst="rect">
            <a:avLst/>
          </a:prstGeom>
          <a:noFill/>
          <a:ln/>
        </p:spPr>
        <p:txBody>
          <a:bodyPr wrap="square" lIns="0" tIns="0" rIns="0" bIns="0" rtlCol="0" anchor="ctr"/>
          <a:lstStyle/>
          <a:p>
            <a:pPr indent="0" marL="0">
              <a:buNone/>
            </a:pPr>
            <a:r>
              <a:rPr lang="en-US" sz="1600" b="1" dirty="0">
                <a:solidFill>
                  <a:schemeClr val="bg1"/>
                </a:solidFill>
              </a:rPr>
              <a:t>Roles and delegation</a:t>
            </a:r>
            <a:endParaRPr lang="en-US" sz="1600" dirty="0"/>
          </a:p>
        </p:txBody>
      </p:sp>
      <p:sp>
        <p:nvSpPr>
          <p:cNvPr id="27" name="Feature text 5"/>
          <p:cNvSpPr txBox="1"/>
          <p:nvPr/>
        </p:nvSpPr>
        <p:spPr>
          <a:xfrm>
            <a:off x="4572000" y="5166360"/>
            <a:ext cx="3017520" cy="685800"/>
          </a:xfrm>
          <a:prstGeom prst="rect">
            <a:avLst/>
          </a:prstGeom>
          <a:noFill/>
          <a:ln/>
        </p:spPr>
        <p:txBody>
          <a:bodyPr wrap="square" lIns="0" tIns="0" rIns="0" bIns="0" rtlCol="0" anchor="t"/>
          <a:lstStyle/>
          <a:p>
            <a:pPr indent="0" marL="0">
              <a:buNone/>
            </a:pPr>
            <a:r>
              <a:rPr lang="en-US" sz="1250" dirty="0">
                <a:solidFill>
                  <a:schemeClr val="bg2"/>
                </a:solidFill>
              </a:rPr>
              <a:t>Admin, Manager, Head Guard, Guard; each sees only their cameras.</a:t>
            </a:r>
            <a:endParaRPr lang="en-US" sz="1250" dirty="0"/>
          </a:p>
        </p:txBody>
      </p:sp>
      <p:sp>
        <p:nvSpPr>
          <p:cNvPr id="28" name="Feature card 6"/>
          <p:cNvSpPr/>
          <p:nvPr/>
        </p:nvSpPr>
        <p:spPr>
          <a:xfrm>
            <a:off x="8046720" y="3749040"/>
            <a:ext cx="3520440" cy="2148840"/>
          </a:xfrm>
          <a:prstGeom prst="roundRect">
            <a:avLst>
              <a:gd name="adj" fmla="val 5957"/>
            </a:avLst>
          </a:prstGeom>
          <a:solidFill>
            <a:schemeClr val="tx2"/>
          </a:solidFill>
          <a:ln w="9525">
            <a:solidFill>
              <a:srgbClr val="2A2B31"/>
            </a:solidFill>
            <a:prstDash val="solid"/>
          </a:ln>
        </p:spPr>
      </p:sp>
      <p:sp>
        <p:nvSpPr>
          <p:cNvPr id="29" name="Audit and conversations tile"/>
          <p:cNvSpPr/>
          <p:nvPr/>
        </p:nvSpPr>
        <p:spPr>
          <a:xfrm>
            <a:off x="8321040" y="4023360"/>
            <a:ext cx="685800" cy="685800"/>
          </a:xfrm>
          <a:prstGeom prst="roundRect">
            <a:avLst>
              <a:gd name="adj" fmla="val 22000"/>
            </a:avLst>
          </a:prstGeom>
          <a:solidFill>
            <a:schemeClr val="accent6"/>
          </a:solidFill>
          <a:ln/>
        </p:spPr>
      </p:sp>
      <p:pic>
        <p:nvPicPr>
          <p:cNvPr id="30" name="Audit and conversations icon" descr="Audit and conversations">    </p:cNvPr>
          <p:cNvPicPr>
            <a:picLocks noChangeAspect="1"/>
          </p:cNvPicPr>
          <p:nvPr/>
        </p:nvPicPr>
        <p:blipFill>
          <a:blip r:embed="rId6"/>
          <a:stretch>
            <a:fillRect/>
          </a:stretch>
        </p:blipFill>
        <p:spPr>
          <a:xfrm>
            <a:off x="8485632" y="4187952"/>
            <a:ext cx="356616" cy="356616"/>
          </a:xfrm>
          <a:prstGeom prst="rect">
            <a:avLst/>
          </a:prstGeom>
        </p:spPr>
      </p:pic>
      <p:sp>
        <p:nvSpPr>
          <p:cNvPr id="31" name="Feature head 6"/>
          <p:cNvSpPr txBox="1"/>
          <p:nvPr/>
        </p:nvSpPr>
        <p:spPr>
          <a:xfrm>
            <a:off x="8321040" y="4800600"/>
            <a:ext cx="3017520" cy="365760"/>
          </a:xfrm>
          <a:prstGeom prst="rect">
            <a:avLst/>
          </a:prstGeom>
          <a:noFill/>
          <a:ln/>
        </p:spPr>
        <p:txBody>
          <a:bodyPr wrap="square" lIns="0" tIns="0" rIns="0" bIns="0" rtlCol="0" anchor="ctr"/>
          <a:lstStyle/>
          <a:p>
            <a:pPr indent="0" marL="0">
              <a:buNone/>
            </a:pPr>
            <a:r>
              <a:rPr lang="en-US" sz="1600" b="1" dirty="0">
                <a:solidFill>
                  <a:schemeClr val="bg1"/>
                </a:solidFill>
              </a:rPr>
              <a:t>Audit and conversations</a:t>
            </a:r>
            <a:endParaRPr lang="en-US" sz="1600" dirty="0"/>
          </a:p>
        </p:txBody>
      </p:sp>
      <p:sp>
        <p:nvSpPr>
          <p:cNvPr id="32" name="Feature text 6"/>
          <p:cNvSpPr txBox="1"/>
          <p:nvPr/>
        </p:nvSpPr>
        <p:spPr>
          <a:xfrm>
            <a:off x="8321040" y="5166360"/>
            <a:ext cx="3017520" cy="685800"/>
          </a:xfrm>
          <a:prstGeom prst="rect">
            <a:avLst/>
          </a:prstGeom>
          <a:noFill/>
          <a:ln/>
        </p:spPr>
        <p:txBody>
          <a:bodyPr wrap="square" lIns="0" tIns="0" rIns="0" bIns="0" rtlCol="0" anchor="t"/>
          <a:lstStyle/>
          <a:p>
            <a:pPr indent="0" marL="0">
              <a:buNone/>
            </a:pPr>
            <a:r>
              <a:rPr lang="en-US" sz="1250" dirty="0">
                <a:solidFill>
                  <a:schemeClr val="bg2"/>
                </a:solidFill>
              </a:rPr>
              <a:t>Who did what, when, by which channel; every call transcript.</a:t>
            </a:r>
            <a:endParaRPr lang="en-US" sz="12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bg1"/>
                </a:solidFill>
              </a:rPr>
              <a:t>Evaluation: model accuracy</a:t>
            </a:r>
            <a:endParaRPr lang="en-US" sz="3200" dirty="0"/>
          </a:p>
        </p:txBody>
      </p:sp>
      <p:sp>
        <p:nvSpPr>
          <p:cNvPr id="3" name="Chart card"/>
          <p:cNvSpPr/>
          <p:nvPr/>
        </p:nvSpPr>
        <p:spPr>
          <a:xfrm>
            <a:off x="548640" y="1325880"/>
            <a:ext cx="6949440" cy="4709160"/>
          </a:xfrm>
          <a:prstGeom prst="roundRect">
            <a:avLst>
              <a:gd name="adj" fmla="val 2718"/>
            </a:avLst>
          </a:prstGeom>
          <a:solidFill>
            <a:srgbClr val="141519"/>
          </a:solidFill>
          <a:ln w="9525">
            <a:solidFill>
              <a:srgbClr val="2A2B31"/>
            </a:solidFill>
            <a:prstDash val="solid"/>
          </a:ln>
        </p:spPr>
      </p:sp>
      <p:graphicFrame>
        <p:nvGraphicFramePr>
          <p:cNvPr id="4" name="Accuracy chart" descr=""/>
          <p:cNvGraphicFramePr/>
          <p:nvPr/>
        </p:nvGraphicFramePr>
        <p:xfrm>
          <a:off x="731520" y="1463040"/>
          <a:ext cx="6583680" cy="4434840"/>
        </p:xfrm>
        <a:graphic xmlns:a="http://schemas.openxmlformats.org/drawingml/2006/main">
          <a:graphicData uri="http://schemas.openxmlformats.org/drawingml/2006/chart">
            <c:chart xmlns:c="http://schemas.openxmlformats.org/drawingml/2006/chart" r:id="rId1"/>
          </a:graphicData>
        </a:graphic>
      </p:graphicFrame>
      <p:sp>
        <p:nvSpPr>
          <p:cNvPr id="5" name="Accuracy note 1"/>
          <p:cNvSpPr/>
          <p:nvPr/>
        </p:nvSpPr>
        <p:spPr>
          <a:xfrm>
            <a:off x="7726680" y="1325880"/>
            <a:ext cx="3913632" cy="1417320"/>
          </a:xfrm>
          <a:prstGeom prst="roundRect">
            <a:avLst>
              <a:gd name="adj" fmla="val 9032"/>
            </a:avLst>
          </a:prstGeom>
          <a:solidFill>
            <a:schemeClr val="tx2"/>
          </a:solidFill>
          <a:ln w="9525">
            <a:solidFill>
              <a:srgbClr val="2A2B31"/>
            </a:solidFill>
            <a:prstDash val="solid"/>
          </a:ln>
        </p:spPr>
      </p:sp>
      <p:sp>
        <p:nvSpPr>
          <p:cNvPr id="6" name="Accuracy note head 1"/>
          <p:cNvSpPr txBox="1"/>
          <p:nvPr/>
        </p:nvSpPr>
        <p:spPr>
          <a:xfrm>
            <a:off x="7955280" y="1463040"/>
            <a:ext cx="3520440" cy="365760"/>
          </a:xfrm>
          <a:prstGeom prst="rect">
            <a:avLst/>
          </a:prstGeom>
          <a:noFill/>
          <a:ln/>
        </p:spPr>
        <p:txBody>
          <a:bodyPr wrap="square" lIns="0" tIns="0" rIns="0" bIns="0" rtlCol="0" anchor="ctr"/>
          <a:lstStyle/>
          <a:p>
            <a:pPr indent="0" marL="0">
              <a:buNone/>
            </a:pPr>
            <a:r>
              <a:rPr lang="en-US" sz="1500" b="1" dirty="0">
                <a:solidFill>
                  <a:schemeClr val="accent2"/>
                </a:solidFill>
              </a:rPr>
              <a:t>What mAP50 means</a:t>
            </a:r>
            <a:endParaRPr lang="en-US" sz="1500" dirty="0"/>
          </a:p>
        </p:txBody>
      </p:sp>
      <p:sp>
        <p:nvSpPr>
          <p:cNvPr id="7" name="Accuracy note text 1"/>
          <p:cNvSpPr txBox="1"/>
          <p:nvPr/>
        </p:nvSpPr>
        <p:spPr>
          <a:xfrm>
            <a:off x="7955280" y="1828800"/>
            <a:ext cx="3520440" cy="868680"/>
          </a:xfrm>
          <a:prstGeom prst="rect">
            <a:avLst/>
          </a:prstGeom>
          <a:noFill/>
          <a:ln/>
        </p:spPr>
        <p:txBody>
          <a:bodyPr wrap="square" lIns="0" tIns="0" rIns="0" bIns="0" rtlCol="0" anchor="t"/>
          <a:lstStyle/>
          <a:p>
            <a:pPr indent="0" marL="0">
              <a:buNone/>
            </a:pPr>
            <a:r>
              <a:rPr lang="en-US" sz="1250" dirty="0">
                <a:solidFill>
                  <a:schemeClr val="bg2"/>
                </a:solidFill>
              </a:rPr>
              <a:t>How well boxes match real objects, counting a box as right when it overlaps the truth by at least half.</a:t>
            </a:r>
            <a:endParaRPr lang="en-US" sz="1250" dirty="0"/>
          </a:p>
        </p:txBody>
      </p:sp>
      <p:sp>
        <p:nvSpPr>
          <p:cNvPr id="8" name="Accuracy note 2"/>
          <p:cNvSpPr/>
          <p:nvPr/>
        </p:nvSpPr>
        <p:spPr>
          <a:xfrm>
            <a:off x="7726680" y="2926080"/>
            <a:ext cx="3913632" cy="1417320"/>
          </a:xfrm>
          <a:prstGeom prst="roundRect">
            <a:avLst>
              <a:gd name="adj" fmla="val 9032"/>
            </a:avLst>
          </a:prstGeom>
          <a:solidFill>
            <a:schemeClr val="tx2"/>
          </a:solidFill>
          <a:ln w="9525">
            <a:solidFill>
              <a:srgbClr val="2A2B31"/>
            </a:solidFill>
            <a:prstDash val="solid"/>
          </a:ln>
        </p:spPr>
      </p:sp>
      <p:sp>
        <p:nvSpPr>
          <p:cNvPr id="9" name="Accuracy note head 2"/>
          <p:cNvSpPr txBox="1"/>
          <p:nvPr/>
        </p:nvSpPr>
        <p:spPr>
          <a:xfrm>
            <a:off x="7955280" y="3063240"/>
            <a:ext cx="3520440" cy="365760"/>
          </a:xfrm>
          <a:prstGeom prst="rect">
            <a:avLst/>
          </a:prstGeom>
          <a:noFill/>
          <a:ln/>
        </p:spPr>
        <p:txBody>
          <a:bodyPr wrap="square" lIns="0" tIns="0" rIns="0" bIns="0" rtlCol="0" anchor="ctr"/>
          <a:lstStyle/>
          <a:p>
            <a:pPr indent="0" marL="0">
              <a:buNone/>
            </a:pPr>
            <a:r>
              <a:rPr lang="en-US" sz="1500" b="1" dirty="0">
                <a:solidFill>
                  <a:schemeClr val="accent2"/>
                </a:solidFill>
              </a:rPr>
              <a:t>Why fire is lower</a:t>
            </a:r>
            <a:endParaRPr lang="en-US" sz="1500" dirty="0"/>
          </a:p>
        </p:txBody>
      </p:sp>
      <p:sp>
        <p:nvSpPr>
          <p:cNvPr id="10" name="Accuracy note text 2"/>
          <p:cNvSpPr txBox="1"/>
          <p:nvPr/>
        </p:nvSpPr>
        <p:spPr>
          <a:xfrm>
            <a:off x="7955280" y="3429000"/>
            <a:ext cx="3520440" cy="868680"/>
          </a:xfrm>
          <a:prstGeom prst="rect">
            <a:avLst/>
          </a:prstGeom>
          <a:noFill/>
          <a:ln/>
        </p:spPr>
        <p:txBody>
          <a:bodyPr wrap="square" lIns="0" tIns="0" rIns="0" bIns="0" rtlCol="0" anchor="t"/>
          <a:lstStyle/>
          <a:p>
            <a:pPr indent="0" marL="0">
              <a:buNone/>
            </a:pPr>
            <a:r>
              <a:rPr lang="en-US" sz="1250" dirty="0">
                <a:solidFill>
                  <a:schemeClr val="bg2"/>
                </a:solidFill>
              </a:rPr>
              <a:t>Fire varies most (lighters, glow, sunsets); the rules need several sightings, so a weak frame never calls anyone.</a:t>
            </a:r>
            <a:endParaRPr lang="en-US" sz="1250" dirty="0"/>
          </a:p>
        </p:txBody>
      </p:sp>
      <p:sp>
        <p:nvSpPr>
          <p:cNvPr id="11" name="Accuracy note 3"/>
          <p:cNvSpPr/>
          <p:nvPr/>
        </p:nvSpPr>
        <p:spPr>
          <a:xfrm>
            <a:off x="7726680" y="4526280"/>
            <a:ext cx="3913632" cy="1417320"/>
          </a:xfrm>
          <a:prstGeom prst="roundRect">
            <a:avLst>
              <a:gd name="adj" fmla="val 9032"/>
            </a:avLst>
          </a:prstGeom>
          <a:solidFill>
            <a:schemeClr val="tx2"/>
          </a:solidFill>
          <a:ln w="9525">
            <a:solidFill>
              <a:srgbClr val="2A2B31"/>
            </a:solidFill>
            <a:prstDash val="solid"/>
          </a:ln>
        </p:spPr>
      </p:sp>
      <p:sp>
        <p:nvSpPr>
          <p:cNvPr id="12" name="Accuracy note head 3"/>
          <p:cNvSpPr txBox="1"/>
          <p:nvPr/>
        </p:nvSpPr>
        <p:spPr>
          <a:xfrm>
            <a:off x="7955280" y="4663440"/>
            <a:ext cx="3520440" cy="365760"/>
          </a:xfrm>
          <a:prstGeom prst="rect">
            <a:avLst/>
          </a:prstGeom>
          <a:noFill/>
          <a:ln/>
        </p:spPr>
        <p:txBody>
          <a:bodyPr wrap="square" lIns="0" tIns="0" rIns="0" bIns="0" rtlCol="0" anchor="ctr"/>
          <a:lstStyle/>
          <a:p>
            <a:pPr indent="0" marL="0">
              <a:buNone/>
            </a:pPr>
            <a:r>
              <a:rPr lang="en-US" sz="1500" b="1" dirty="0">
                <a:solidFill>
                  <a:schemeClr val="accent2"/>
                </a:solidFill>
              </a:rPr>
              <a:t>Data</a:t>
            </a:r>
            <a:endParaRPr lang="en-US" sz="1500" dirty="0"/>
          </a:p>
        </p:txBody>
      </p:sp>
      <p:sp>
        <p:nvSpPr>
          <p:cNvPr id="13" name="Accuracy note text 3"/>
          <p:cNvSpPr txBox="1"/>
          <p:nvPr/>
        </p:nvSpPr>
        <p:spPr>
          <a:xfrm>
            <a:off x="7955280" y="5029200"/>
            <a:ext cx="3520440" cy="868680"/>
          </a:xfrm>
          <a:prstGeom prst="rect">
            <a:avLst/>
          </a:prstGeom>
          <a:noFill/>
          <a:ln/>
        </p:spPr>
        <p:txBody>
          <a:bodyPr wrap="square" lIns="0" tIns="0" rIns="0" bIns="0" rtlCol="0" anchor="t"/>
          <a:lstStyle/>
          <a:p>
            <a:pPr indent="0" marL="0">
              <a:buNone/>
            </a:pPr>
            <a:r>
              <a:rPr lang="en-US" sz="1250" dirty="0">
                <a:solidFill>
                  <a:schemeClr val="bg2"/>
                </a:solidFill>
              </a:rPr>
              <a:t>D-Fire, Construction-PPE and a 984-image helmet set, plus our own lighter and room footage.</a:t>
            </a:r>
            <a:endParaRPr lang="en-US" sz="12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bg1"/>
                </a:solidFill>
              </a:rPr>
              <a:t>Results: speed, reliability and privacy</a:t>
            </a:r>
            <a:endParaRPr lang="en-US" sz="3200" dirty="0"/>
          </a:p>
        </p:txBody>
      </p:sp>
      <p:sp>
        <p:nvSpPr>
          <p:cNvPr id="3" name="Stat card 1"/>
          <p:cNvSpPr/>
          <p:nvPr/>
        </p:nvSpPr>
        <p:spPr>
          <a:xfrm>
            <a:off x="548640" y="1371600"/>
            <a:ext cx="2651760" cy="2514600"/>
          </a:xfrm>
          <a:prstGeom prst="roundRect">
            <a:avLst>
              <a:gd name="adj" fmla="val 5091"/>
            </a:avLst>
          </a:prstGeom>
          <a:solidFill>
            <a:schemeClr val="tx2"/>
          </a:solidFill>
          <a:ln w="9525">
            <a:solidFill>
              <a:srgbClr val="2A2B31"/>
            </a:solidFill>
            <a:prstDash val="solid"/>
          </a:ln>
        </p:spPr>
      </p:sp>
      <p:sp>
        <p:nvSpPr>
          <p:cNvPr id="4" name="Stat number 1"/>
          <p:cNvSpPr txBox="1"/>
          <p:nvPr/>
        </p:nvSpPr>
        <p:spPr>
          <a:xfrm>
            <a:off x="777240" y="1554480"/>
            <a:ext cx="2240280" cy="868680"/>
          </a:xfrm>
          <a:prstGeom prst="rect">
            <a:avLst/>
          </a:prstGeom>
          <a:noFill/>
          <a:ln/>
        </p:spPr>
        <p:txBody>
          <a:bodyPr wrap="square" lIns="0" tIns="0" rIns="0" bIns="0" rtlCol="0" anchor="ctr"/>
          <a:lstStyle/>
          <a:p>
            <a:pPr indent="0" marL="0">
              <a:buNone/>
            </a:pPr>
            <a:r>
              <a:rPr lang="en-US" sz="4400" b="1" dirty="0">
                <a:solidFill>
                  <a:schemeClr val="accent2"/>
                </a:solidFill>
              </a:rPr>
              <a:t>8.1</a:t>
            </a:r>
            <a:endParaRPr lang="en-US" sz="4400" dirty="0"/>
          </a:p>
        </p:txBody>
      </p:sp>
      <p:sp>
        <p:nvSpPr>
          <p:cNvPr id="5" name="Stat label 1"/>
          <p:cNvSpPr txBox="1"/>
          <p:nvPr/>
        </p:nvSpPr>
        <p:spPr>
          <a:xfrm>
            <a:off x="777240" y="2468880"/>
            <a:ext cx="2240280" cy="365760"/>
          </a:xfrm>
          <a:prstGeom prst="rect">
            <a:avLst/>
          </a:prstGeom>
          <a:noFill/>
          <a:ln/>
        </p:spPr>
        <p:txBody>
          <a:bodyPr wrap="square" lIns="0" tIns="0" rIns="0" bIns="0" rtlCol="0" anchor="ctr"/>
          <a:lstStyle/>
          <a:p>
            <a:pPr indent="0" marL="0">
              <a:buNone/>
            </a:pPr>
            <a:r>
              <a:rPr lang="en-US" sz="1500" b="1" dirty="0">
                <a:solidFill>
                  <a:schemeClr val="bg1"/>
                </a:solidFill>
              </a:rPr>
              <a:t>analysed frames/s</a:t>
            </a:r>
            <a:endParaRPr lang="en-US" sz="1500" dirty="0"/>
          </a:p>
        </p:txBody>
      </p:sp>
      <p:sp>
        <p:nvSpPr>
          <p:cNvPr id="6" name="Stat detail 1"/>
          <p:cNvSpPr txBox="1"/>
          <p:nvPr/>
        </p:nvSpPr>
        <p:spPr>
          <a:xfrm>
            <a:off x="777240" y="2834640"/>
            <a:ext cx="2240280" cy="960120"/>
          </a:xfrm>
          <a:prstGeom prst="rect">
            <a:avLst/>
          </a:prstGeom>
          <a:noFill/>
          <a:ln/>
        </p:spPr>
        <p:txBody>
          <a:bodyPr wrap="square" lIns="0" tIns="0" rIns="0" bIns="0" rtlCol="0" anchor="t"/>
          <a:lstStyle/>
          <a:p>
            <a:pPr indent="0" marL="0">
              <a:buNone/>
            </a:pPr>
            <a:r>
              <a:rPr lang="en-US" sz="1200" dirty="0">
                <a:solidFill>
                  <a:schemeClr val="bg2"/>
                </a:solidFill>
              </a:rPr>
              <a:t>one camera on a test video, CPU only, no GPU (target 8+)</a:t>
            </a:r>
            <a:endParaRPr lang="en-US" sz="1200" dirty="0"/>
          </a:p>
        </p:txBody>
      </p:sp>
      <p:sp>
        <p:nvSpPr>
          <p:cNvPr id="7" name="Stat card 2"/>
          <p:cNvSpPr/>
          <p:nvPr/>
        </p:nvSpPr>
        <p:spPr>
          <a:xfrm>
            <a:off x="3383280" y="1371600"/>
            <a:ext cx="2651760" cy="2514600"/>
          </a:xfrm>
          <a:prstGeom prst="roundRect">
            <a:avLst>
              <a:gd name="adj" fmla="val 5091"/>
            </a:avLst>
          </a:prstGeom>
          <a:solidFill>
            <a:schemeClr val="tx2"/>
          </a:solidFill>
          <a:ln w="9525">
            <a:solidFill>
              <a:srgbClr val="2A2B31"/>
            </a:solidFill>
            <a:prstDash val="solid"/>
          </a:ln>
        </p:spPr>
      </p:sp>
      <p:sp>
        <p:nvSpPr>
          <p:cNvPr id="8" name="Stat number 2"/>
          <p:cNvSpPr txBox="1"/>
          <p:nvPr/>
        </p:nvSpPr>
        <p:spPr>
          <a:xfrm>
            <a:off x="3611880" y="1554480"/>
            <a:ext cx="2240280" cy="868680"/>
          </a:xfrm>
          <a:prstGeom prst="rect">
            <a:avLst/>
          </a:prstGeom>
          <a:noFill/>
          <a:ln/>
        </p:spPr>
        <p:txBody>
          <a:bodyPr wrap="square" lIns="0" tIns="0" rIns="0" bIns="0" rtlCol="0" anchor="ctr"/>
          <a:lstStyle/>
          <a:p>
            <a:pPr indent="0" marL="0">
              <a:buNone/>
            </a:pPr>
            <a:r>
              <a:rPr lang="en-US" sz="4400" b="1" dirty="0">
                <a:solidFill>
                  <a:schemeClr val="accent4"/>
                </a:solidFill>
              </a:rPr>
              <a:t>&lt; 2 s</a:t>
            </a:r>
            <a:endParaRPr lang="en-US" sz="4400" dirty="0"/>
          </a:p>
        </p:txBody>
      </p:sp>
      <p:sp>
        <p:nvSpPr>
          <p:cNvPr id="9" name="Stat label 2"/>
          <p:cNvSpPr txBox="1"/>
          <p:nvPr/>
        </p:nvSpPr>
        <p:spPr>
          <a:xfrm>
            <a:off x="3611880" y="2468880"/>
            <a:ext cx="2240280" cy="365760"/>
          </a:xfrm>
          <a:prstGeom prst="rect">
            <a:avLst/>
          </a:prstGeom>
          <a:noFill/>
          <a:ln/>
        </p:spPr>
        <p:txBody>
          <a:bodyPr wrap="square" lIns="0" tIns="0" rIns="0" bIns="0" rtlCol="0" anchor="ctr"/>
          <a:lstStyle/>
          <a:p>
            <a:pPr indent="0" marL="0">
              <a:buNone/>
            </a:pPr>
            <a:r>
              <a:rPr lang="en-US" sz="1500" b="1" dirty="0">
                <a:solidFill>
                  <a:schemeClr val="bg1"/>
                </a:solidFill>
              </a:rPr>
              <a:t>incident to dashboard</a:t>
            </a:r>
            <a:endParaRPr lang="en-US" sz="1500" dirty="0"/>
          </a:p>
        </p:txBody>
      </p:sp>
      <p:sp>
        <p:nvSpPr>
          <p:cNvPr id="10" name="Stat detail 2"/>
          <p:cNvSpPr txBox="1"/>
          <p:nvPr/>
        </p:nvSpPr>
        <p:spPr>
          <a:xfrm>
            <a:off x="3611880" y="2834640"/>
            <a:ext cx="2240280" cy="960120"/>
          </a:xfrm>
          <a:prstGeom prst="rect">
            <a:avLst/>
          </a:prstGeom>
          <a:noFill/>
          <a:ln/>
        </p:spPr>
        <p:txBody>
          <a:bodyPr wrap="square" lIns="0" tIns="0" rIns="0" bIns="0" rtlCol="0" anchor="t"/>
          <a:lstStyle/>
          <a:p>
            <a:pPr indent="0" marL="0">
              <a:buNone/>
            </a:pPr>
            <a:r>
              <a:rPr lang="en-US" sz="1200" dirty="0">
                <a:solidFill>
                  <a:schemeClr val="bg2"/>
                </a:solidFill>
              </a:rPr>
              <a:t>design target; the alarm panel opens in about 0.2 s once the API is told</a:t>
            </a:r>
            <a:endParaRPr lang="en-US" sz="1200" dirty="0"/>
          </a:p>
        </p:txBody>
      </p:sp>
      <p:sp>
        <p:nvSpPr>
          <p:cNvPr id="11" name="Stat card 3"/>
          <p:cNvSpPr/>
          <p:nvPr/>
        </p:nvSpPr>
        <p:spPr>
          <a:xfrm>
            <a:off x="6217920" y="1371600"/>
            <a:ext cx="2651760" cy="2514600"/>
          </a:xfrm>
          <a:prstGeom prst="roundRect">
            <a:avLst>
              <a:gd name="adj" fmla="val 5091"/>
            </a:avLst>
          </a:prstGeom>
          <a:solidFill>
            <a:schemeClr val="tx2"/>
          </a:solidFill>
          <a:ln w="9525">
            <a:solidFill>
              <a:srgbClr val="2A2B31"/>
            </a:solidFill>
            <a:prstDash val="solid"/>
          </a:ln>
        </p:spPr>
      </p:sp>
      <p:sp>
        <p:nvSpPr>
          <p:cNvPr id="12" name="Stat number 3"/>
          <p:cNvSpPr txBox="1"/>
          <p:nvPr/>
        </p:nvSpPr>
        <p:spPr>
          <a:xfrm>
            <a:off x="6446520" y="1554480"/>
            <a:ext cx="2240280" cy="868680"/>
          </a:xfrm>
          <a:prstGeom prst="rect">
            <a:avLst/>
          </a:prstGeom>
          <a:noFill/>
          <a:ln/>
        </p:spPr>
        <p:txBody>
          <a:bodyPr wrap="square" lIns="0" tIns="0" rIns="0" bIns="0" rtlCol="0" anchor="ctr"/>
          <a:lstStyle/>
          <a:p>
            <a:pPr indent="0" marL="0">
              <a:buNone/>
            </a:pPr>
            <a:r>
              <a:rPr lang="en-US" sz="3000" b="1" dirty="0">
                <a:solidFill>
                  <a:schemeClr val="accent5"/>
                </a:solidFill>
              </a:rPr>
              <a:t>0.78 / 0.13</a:t>
            </a:r>
            <a:endParaRPr lang="en-US" sz="3000" dirty="0"/>
          </a:p>
        </p:txBody>
      </p:sp>
      <p:sp>
        <p:nvSpPr>
          <p:cNvPr id="13" name="Stat label 3"/>
          <p:cNvSpPr txBox="1"/>
          <p:nvPr/>
        </p:nvSpPr>
        <p:spPr>
          <a:xfrm>
            <a:off x="6446520" y="2468880"/>
            <a:ext cx="2240280" cy="365760"/>
          </a:xfrm>
          <a:prstGeom prst="rect">
            <a:avLst/>
          </a:prstGeom>
          <a:noFill/>
          <a:ln/>
        </p:spPr>
        <p:txBody>
          <a:bodyPr wrap="square" lIns="0" tIns="0" rIns="0" bIns="0" rtlCol="0" anchor="ctr"/>
          <a:lstStyle/>
          <a:p>
            <a:pPr indent="0" marL="0">
              <a:buNone/>
            </a:pPr>
            <a:r>
              <a:rPr lang="en-US" sz="1500" b="1" dirty="0">
                <a:solidFill>
                  <a:schemeClr val="bg1"/>
                </a:solidFill>
              </a:rPr>
              <a:t>face similarity</a:t>
            </a:r>
            <a:endParaRPr lang="en-US" sz="1500" dirty="0"/>
          </a:p>
        </p:txBody>
      </p:sp>
      <p:sp>
        <p:nvSpPr>
          <p:cNvPr id="14" name="Stat detail 3"/>
          <p:cNvSpPr txBox="1"/>
          <p:nvPr/>
        </p:nvSpPr>
        <p:spPr>
          <a:xfrm>
            <a:off x="6446520" y="2834640"/>
            <a:ext cx="2240280" cy="960120"/>
          </a:xfrm>
          <a:prstGeom prst="rect">
            <a:avLst/>
          </a:prstGeom>
          <a:noFill/>
          <a:ln/>
        </p:spPr>
        <p:txBody>
          <a:bodyPr wrap="square" lIns="0" tIns="0" rIns="0" bIns="0" rtlCol="0" anchor="t"/>
          <a:lstStyle/>
          <a:p>
            <a:pPr indent="0" marL="0">
              <a:buNone/>
            </a:pPr>
            <a:r>
              <a:rPr lang="en-US" sz="1200" dirty="0">
                <a:solidFill>
                  <a:schemeClr val="bg2"/>
                </a:solidFill>
              </a:rPr>
              <a:t>same person vs different person (threshold 0.40)</a:t>
            </a:r>
            <a:endParaRPr lang="en-US" sz="1200" dirty="0"/>
          </a:p>
        </p:txBody>
      </p:sp>
      <p:sp>
        <p:nvSpPr>
          <p:cNvPr id="15" name="Stat card 4"/>
          <p:cNvSpPr/>
          <p:nvPr/>
        </p:nvSpPr>
        <p:spPr>
          <a:xfrm>
            <a:off x="9052560" y="1371600"/>
            <a:ext cx="2651760" cy="2514600"/>
          </a:xfrm>
          <a:prstGeom prst="roundRect">
            <a:avLst>
              <a:gd name="adj" fmla="val 5091"/>
            </a:avLst>
          </a:prstGeom>
          <a:solidFill>
            <a:schemeClr val="tx2"/>
          </a:solidFill>
          <a:ln w="9525">
            <a:solidFill>
              <a:srgbClr val="2A2B31"/>
            </a:solidFill>
            <a:prstDash val="solid"/>
          </a:ln>
        </p:spPr>
      </p:sp>
      <p:sp>
        <p:nvSpPr>
          <p:cNvPr id="16" name="Stat number 4"/>
          <p:cNvSpPr txBox="1"/>
          <p:nvPr/>
        </p:nvSpPr>
        <p:spPr>
          <a:xfrm>
            <a:off x="9281160" y="1554480"/>
            <a:ext cx="2240280" cy="868680"/>
          </a:xfrm>
          <a:prstGeom prst="rect">
            <a:avLst/>
          </a:prstGeom>
          <a:noFill/>
          <a:ln/>
        </p:spPr>
        <p:txBody>
          <a:bodyPr wrap="square" lIns="0" tIns="0" rIns="0" bIns="0" rtlCol="0" anchor="ctr"/>
          <a:lstStyle/>
          <a:p>
            <a:pPr indent="0" marL="0">
              <a:buNone/>
            </a:pPr>
            <a:r>
              <a:rPr lang="en-US" sz="4400" b="1" dirty="0">
                <a:solidFill>
                  <a:schemeClr val="accent3"/>
                </a:solidFill>
              </a:rPr>
              <a:t>300+</a:t>
            </a:r>
            <a:endParaRPr lang="en-US" sz="4400" dirty="0"/>
          </a:p>
        </p:txBody>
      </p:sp>
      <p:sp>
        <p:nvSpPr>
          <p:cNvPr id="17" name="Stat label 4"/>
          <p:cNvSpPr txBox="1"/>
          <p:nvPr/>
        </p:nvSpPr>
        <p:spPr>
          <a:xfrm>
            <a:off x="9281160" y="2468880"/>
            <a:ext cx="2240280" cy="365760"/>
          </a:xfrm>
          <a:prstGeom prst="rect">
            <a:avLst/>
          </a:prstGeom>
          <a:noFill/>
          <a:ln/>
        </p:spPr>
        <p:txBody>
          <a:bodyPr wrap="square" lIns="0" tIns="0" rIns="0" bIns="0" rtlCol="0" anchor="ctr"/>
          <a:lstStyle/>
          <a:p>
            <a:pPr indent="0" marL="0">
              <a:buNone/>
            </a:pPr>
            <a:r>
              <a:rPr lang="en-US" sz="1500" b="1" dirty="0">
                <a:solidFill>
                  <a:schemeClr val="bg1"/>
                </a:solidFill>
              </a:rPr>
              <a:t>automated tests</a:t>
            </a:r>
            <a:endParaRPr lang="en-US" sz="1500" dirty="0"/>
          </a:p>
        </p:txBody>
      </p:sp>
      <p:sp>
        <p:nvSpPr>
          <p:cNvPr id="18" name="Stat detail 4"/>
          <p:cNvSpPr txBox="1"/>
          <p:nvPr/>
        </p:nvSpPr>
        <p:spPr>
          <a:xfrm>
            <a:off x="9281160" y="2834640"/>
            <a:ext cx="2240280" cy="960120"/>
          </a:xfrm>
          <a:prstGeom prst="rect">
            <a:avLst/>
          </a:prstGeom>
          <a:noFill/>
          <a:ln/>
        </p:spPr>
        <p:txBody>
          <a:bodyPr wrap="square" lIns="0" tIns="0" rIns="0" bIns="0" rtlCol="0" anchor="t"/>
          <a:lstStyle/>
          <a:p>
            <a:pPr indent="0" marL="0">
              <a:buNone/>
            </a:pPr>
            <a:r>
              <a:rPr lang="en-US" sz="1200" dirty="0">
                <a:solidFill>
                  <a:schemeClr val="bg2"/>
                </a:solidFill>
              </a:rPr>
              <a:t>rules, call ladder, conversations, faces, permissions, API</a:t>
            </a:r>
            <a:endParaRPr lang="en-US" sz="1200" dirty="0"/>
          </a:p>
        </p:txBody>
      </p:sp>
      <p:sp>
        <p:nvSpPr>
          <p:cNvPr id="19" name="Verdict card 1"/>
          <p:cNvSpPr/>
          <p:nvPr/>
        </p:nvSpPr>
        <p:spPr>
          <a:xfrm>
            <a:off x="548640" y="4114800"/>
            <a:ext cx="5440680" cy="1920240"/>
          </a:xfrm>
          <a:prstGeom prst="roundRect">
            <a:avLst>
              <a:gd name="adj" fmla="val 6667"/>
            </a:avLst>
          </a:prstGeom>
          <a:solidFill>
            <a:schemeClr val="tx2"/>
          </a:solidFill>
          <a:ln w="9525">
            <a:solidFill>
              <a:srgbClr val="2A2B31"/>
            </a:solidFill>
            <a:prstDash val="solid"/>
          </a:ln>
        </p:spPr>
      </p:sp>
      <p:sp>
        <p:nvSpPr>
          <p:cNvPr id="20" name="Verdict head 1"/>
          <p:cNvSpPr txBox="1"/>
          <p:nvPr/>
        </p:nvSpPr>
        <p:spPr>
          <a:xfrm>
            <a:off x="822960" y="4251960"/>
            <a:ext cx="4937760" cy="365760"/>
          </a:xfrm>
          <a:prstGeom prst="rect">
            <a:avLst/>
          </a:prstGeom>
          <a:noFill/>
          <a:ln/>
        </p:spPr>
        <p:txBody>
          <a:bodyPr wrap="square" lIns="0" tIns="0" rIns="0" bIns="0" rtlCol="0" anchor="ctr"/>
          <a:lstStyle/>
          <a:p>
            <a:pPr indent="0" marL="0">
              <a:buNone/>
            </a:pPr>
            <a:r>
              <a:rPr lang="en-US" sz="1600" b="1" dirty="0">
                <a:solidFill>
                  <a:schemeClr val="accent2"/>
                </a:solidFill>
              </a:rPr>
              <a:t>Verified end to end</a:t>
            </a:r>
            <a:endParaRPr lang="en-US" sz="1600" dirty="0"/>
          </a:p>
        </p:txBody>
      </p:sp>
      <p:sp>
        <p:nvSpPr>
          <p:cNvPr id="21" name="Verdict text 1"/>
          <p:cNvSpPr txBox="1"/>
          <p:nvPr/>
        </p:nvSpPr>
        <p:spPr>
          <a:xfrm>
            <a:off x="822960" y="4663440"/>
            <a:ext cx="4937760" cy="1280160"/>
          </a:xfrm>
          <a:prstGeom prst="rect">
            <a:avLst/>
          </a:prstGeom>
          <a:noFill/>
          <a:ln/>
        </p:spPr>
        <p:txBody>
          <a:bodyPr wrap="square" lIns="0" tIns="0" rIns="0" bIns="0" rtlCol="0" anchor="t"/>
          <a:lstStyle/>
          <a:p>
            <a:pPr indent="0" marL="0">
              <a:buNone/>
            </a:pPr>
            <a:r>
              <a:rPr lang="en-US" sz="1300" dirty="0">
                <a:solidFill>
                  <a:schemeClr val="bg1"/>
                </a:solidFill>
              </a:rPr>
              <a:t>Restricted entry with face recognition; fire alarm to phone call; caller acknowledgement over the phone stopping the ladder; recordings; full-screen camera view.</a:t>
            </a:r>
            <a:endParaRPr lang="en-US" sz="1300" dirty="0"/>
          </a:p>
        </p:txBody>
      </p:sp>
      <p:sp>
        <p:nvSpPr>
          <p:cNvPr id="22" name="Verdict card 2"/>
          <p:cNvSpPr/>
          <p:nvPr/>
        </p:nvSpPr>
        <p:spPr>
          <a:xfrm>
            <a:off x="6172200" y="4114800"/>
            <a:ext cx="5440680" cy="1920240"/>
          </a:xfrm>
          <a:prstGeom prst="roundRect">
            <a:avLst>
              <a:gd name="adj" fmla="val 6667"/>
            </a:avLst>
          </a:prstGeom>
          <a:solidFill>
            <a:schemeClr val="tx2"/>
          </a:solidFill>
          <a:ln w="9525">
            <a:solidFill>
              <a:srgbClr val="2A2B31"/>
            </a:solidFill>
            <a:prstDash val="solid"/>
          </a:ln>
        </p:spPr>
      </p:sp>
      <p:sp>
        <p:nvSpPr>
          <p:cNvPr id="23" name="Verdict head 2"/>
          <p:cNvSpPr txBox="1"/>
          <p:nvPr/>
        </p:nvSpPr>
        <p:spPr>
          <a:xfrm>
            <a:off x="6446520" y="4251960"/>
            <a:ext cx="4937760" cy="365760"/>
          </a:xfrm>
          <a:prstGeom prst="rect">
            <a:avLst/>
          </a:prstGeom>
          <a:noFill/>
          <a:ln/>
        </p:spPr>
        <p:txBody>
          <a:bodyPr wrap="square" lIns="0" tIns="0" rIns="0" bIns="0" rtlCol="0" anchor="ctr"/>
          <a:lstStyle/>
          <a:p>
            <a:pPr indent="0" marL="0">
              <a:buNone/>
            </a:pPr>
            <a:r>
              <a:rPr lang="en-US" sz="1600" b="1" dirty="0">
                <a:solidFill>
                  <a:schemeClr val="accent3"/>
                </a:solidFill>
              </a:rPr>
              <a:t>Honest limits</a:t>
            </a:r>
            <a:endParaRPr lang="en-US" sz="1600" dirty="0"/>
          </a:p>
        </p:txBody>
      </p:sp>
      <p:sp>
        <p:nvSpPr>
          <p:cNvPr id="24" name="Verdict text 2"/>
          <p:cNvSpPr txBox="1"/>
          <p:nvPr/>
        </p:nvSpPr>
        <p:spPr>
          <a:xfrm>
            <a:off x="6446520" y="4663440"/>
            <a:ext cx="4937760" cy="1280160"/>
          </a:xfrm>
          <a:prstGeom prst="rect">
            <a:avLst/>
          </a:prstGeom>
          <a:noFill/>
          <a:ln/>
        </p:spPr>
        <p:txBody>
          <a:bodyPr wrap="square" lIns="0" tIns="0" rIns="0" bIns="0" rtlCol="0" anchor="t"/>
          <a:lstStyle/>
          <a:p>
            <a:pPr indent="0" marL="0">
              <a:buNone/>
            </a:pPr>
            <a:r>
              <a:rPr lang="en-US" sz="1300" dirty="0">
                <a:solidFill>
                  <a:schemeClr val="bg1"/>
                </a:solidFill>
              </a:rPr>
              <a:t>A phone takes 3–6 s to start ringing (carrier network). Without a GPU, one laptop serves 2–3 cameras. Some glowing smoke can look like fire; rules and the human on the call catch it.</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863840" cy="1737360"/>
          </a:xfrm>
          <a:prstGeom prst="rect">
            <a:avLst/>
          </a:prstGeom>
          <a:noFill/>
          <a:ln/>
        </p:spPr>
        <p:txBody>
          <a:bodyPr wrap="square" lIns="0" tIns="0" rIns="0" bIns="0" rtlCol="0" anchor="b"/>
          <a:lstStyle/>
          <a:p>
            <a:pPr algn="l" indent="0" marL="0">
              <a:buNone/>
            </a:pPr>
            <a:r>
              <a:rPr lang="en-US" sz="4400" b="1" dirty="0">
                <a:solidFill>
                  <a:schemeClr val="bg1"/>
                </a:solidFill>
              </a:rPr>
              <a:t>Conclusion</a:t>
            </a:r>
            <a:endParaRPr lang="en-US" sz="4400" dirty="0"/>
          </a:p>
        </p:txBody>
      </p:sp>
      <p:sp>
        <p:nvSpPr>
          <p:cNvPr id="3" name="Text 0"/>
          <p:cNvSpPr/>
          <p:nvPr>
            <p:ph idx="101" type="body" hasCustomPrompt="1"/>
          </p:nvPr>
        </p:nvSpPr>
        <p:spPr>
          <a:xfrm>
            <a:off x="548640" y="3886200"/>
            <a:ext cx="7863840" cy="1188720"/>
          </a:xfrm>
          <a:prstGeom prst="rect">
            <a:avLst/>
          </a:prstGeom>
          <a:noFill/>
          <a:ln/>
        </p:spPr>
        <p:txBody>
          <a:bodyPr wrap="square" lIns="0" tIns="0" rIns="0" bIns="0" rtlCol="0" anchor="t"/>
          <a:lstStyle/>
          <a:p>
            <a:pPr algn="l" indent="0" marL="0">
              <a:buNone/>
            </a:pPr>
            <a:r>
              <a:rPr lang="en-US" sz="1800" dirty="0">
                <a:solidFill>
                  <a:schemeClr val="bg2"/>
                </a:solidFill>
              </a:rPr>
              <a:t>RingGuard turns existing cameras into a system that notices, confirms and calls the right person in seconds, on hardware a small site already owns, without sending video to the cloud.</a:t>
            </a:r>
            <a:endParaRPr lang="en-US" sz="1800" dirty="0"/>
          </a:p>
        </p:txBody>
      </p:sp>
      <p:sp>
        <p:nvSpPr>
          <p:cNvPr id="4" name="Next head"/>
          <p:cNvSpPr txBox="1"/>
          <p:nvPr/>
        </p:nvSpPr>
        <p:spPr>
          <a:xfrm>
            <a:off x="8869680" y="1188720"/>
            <a:ext cx="2743200" cy="411480"/>
          </a:xfrm>
          <a:prstGeom prst="rect">
            <a:avLst/>
          </a:prstGeom>
          <a:noFill/>
          <a:ln/>
        </p:spPr>
        <p:txBody>
          <a:bodyPr wrap="square" lIns="0" tIns="0" rIns="0" bIns="0" rtlCol="0" anchor="ctr"/>
          <a:lstStyle/>
          <a:p>
            <a:pPr indent="0" marL="0">
              <a:buNone/>
            </a:pPr>
            <a:r>
              <a:rPr lang="en-US" sz="1800" b="1" dirty="0">
                <a:solidFill>
                  <a:schemeClr val="accent2"/>
                </a:solidFill>
              </a:rPr>
              <a:t>Next</a:t>
            </a:r>
            <a:endParaRPr lang="en-US" sz="1800" dirty="0"/>
          </a:p>
        </p:txBody>
      </p:sp>
      <p:sp>
        <p:nvSpPr>
          <p:cNvPr id="5" name="Next 1 tile"/>
          <p:cNvSpPr/>
          <p:nvPr/>
        </p:nvSpPr>
        <p:spPr>
          <a:xfrm>
            <a:off x="8869680" y="1737360"/>
            <a:ext cx="640080" cy="640080"/>
          </a:xfrm>
          <a:prstGeom prst="roundRect">
            <a:avLst>
              <a:gd name="adj" fmla="val 22000"/>
            </a:avLst>
          </a:prstGeom>
          <a:solidFill>
            <a:schemeClr val="accent3"/>
          </a:solidFill>
          <a:ln/>
        </p:spPr>
      </p:sp>
      <p:pic>
        <p:nvPicPr>
          <p:cNvPr id="6" name="Next 1 icon" descr="Next 1">    </p:cNvPr>
          <p:cNvPicPr>
            <a:picLocks noChangeAspect="1"/>
          </p:cNvPicPr>
          <p:nvPr/>
        </p:nvPicPr>
        <p:blipFill>
          <a:blip r:embed="rId1"/>
          <a:stretch>
            <a:fillRect/>
          </a:stretch>
        </p:blipFill>
        <p:spPr>
          <a:xfrm>
            <a:off x="9023299" y="1890979"/>
            <a:ext cx="332842" cy="332842"/>
          </a:xfrm>
          <a:prstGeom prst="rect">
            <a:avLst/>
          </a:prstGeom>
        </p:spPr>
      </p:pic>
      <p:sp>
        <p:nvSpPr>
          <p:cNvPr id="7" name="Next text 1"/>
          <p:cNvSpPr txBox="1"/>
          <p:nvPr/>
        </p:nvSpPr>
        <p:spPr>
          <a:xfrm>
            <a:off x="9646920" y="1691640"/>
            <a:ext cx="2057400" cy="1143000"/>
          </a:xfrm>
          <a:prstGeom prst="rect">
            <a:avLst/>
          </a:prstGeom>
          <a:noFill/>
          <a:ln/>
        </p:spPr>
        <p:txBody>
          <a:bodyPr wrap="square" lIns="0" tIns="0" rIns="0" bIns="0" rtlCol="0" anchor="t"/>
          <a:lstStyle/>
          <a:p>
            <a:pPr indent="0" marL="0">
              <a:buNone/>
            </a:pPr>
            <a:r>
              <a:rPr lang="en-US" sz="1300" dirty="0">
                <a:solidFill>
                  <a:schemeClr val="bg1"/>
                </a:solidFill>
              </a:rPr>
              <a:t>"Suspected fire" pre-alarm: instant amber warning, calls once confirmed</a:t>
            </a:r>
            <a:endParaRPr lang="en-US" sz="1300" dirty="0"/>
          </a:p>
        </p:txBody>
      </p:sp>
      <p:sp>
        <p:nvSpPr>
          <p:cNvPr id="8" name="Next 2 tile"/>
          <p:cNvSpPr/>
          <p:nvPr/>
        </p:nvSpPr>
        <p:spPr>
          <a:xfrm>
            <a:off x="8869680" y="3108960"/>
            <a:ext cx="640080" cy="640080"/>
          </a:xfrm>
          <a:prstGeom prst="roundRect">
            <a:avLst>
              <a:gd name="adj" fmla="val 22000"/>
            </a:avLst>
          </a:prstGeom>
          <a:solidFill>
            <a:schemeClr val="accent5"/>
          </a:solidFill>
          <a:ln/>
        </p:spPr>
      </p:sp>
      <p:pic>
        <p:nvPicPr>
          <p:cNvPr id="9" name="Next 2 icon" descr="Next 2">    </p:cNvPr>
          <p:cNvPicPr>
            <a:picLocks noChangeAspect="1"/>
          </p:cNvPicPr>
          <p:nvPr/>
        </p:nvPicPr>
        <p:blipFill>
          <a:blip r:embed="rId2"/>
          <a:stretch>
            <a:fillRect/>
          </a:stretch>
        </p:blipFill>
        <p:spPr>
          <a:xfrm>
            <a:off x="9023299" y="3262579"/>
            <a:ext cx="332842" cy="332842"/>
          </a:xfrm>
          <a:prstGeom prst="rect">
            <a:avLst/>
          </a:prstGeom>
        </p:spPr>
      </p:pic>
      <p:sp>
        <p:nvSpPr>
          <p:cNvPr id="10" name="Next text 2"/>
          <p:cNvSpPr txBox="1"/>
          <p:nvPr/>
        </p:nvSpPr>
        <p:spPr>
          <a:xfrm>
            <a:off x="9646920" y="3063240"/>
            <a:ext cx="2057400" cy="1143000"/>
          </a:xfrm>
          <a:prstGeom prst="rect">
            <a:avLst/>
          </a:prstGeom>
          <a:noFill/>
          <a:ln/>
        </p:spPr>
        <p:txBody>
          <a:bodyPr wrap="square" lIns="0" tIns="0" rIns="0" bIns="0" rtlCol="0" anchor="t"/>
          <a:lstStyle/>
          <a:p>
            <a:pPr indent="0" marL="0">
              <a:buNone/>
            </a:pPr>
            <a:r>
              <a:rPr lang="en-US" sz="1300" dirty="0">
                <a:solidFill>
                  <a:schemeClr val="bg1"/>
                </a:solidFill>
              </a:rPr>
              <a:t>ESP32 smoke sensor to confirm what the camera sees</a:t>
            </a:r>
            <a:endParaRPr lang="en-US" sz="1300" dirty="0"/>
          </a:p>
        </p:txBody>
      </p:sp>
      <p:sp>
        <p:nvSpPr>
          <p:cNvPr id="11" name="Next 3 tile"/>
          <p:cNvSpPr/>
          <p:nvPr/>
        </p:nvSpPr>
        <p:spPr>
          <a:xfrm>
            <a:off x="8869680" y="4480560"/>
            <a:ext cx="640080" cy="640080"/>
          </a:xfrm>
          <a:prstGeom prst="roundRect">
            <a:avLst>
              <a:gd name="adj" fmla="val 22000"/>
            </a:avLst>
          </a:prstGeom>
          <a:solidFill>
            <a:schemeClr val="accent4"/>
          </a:solidFill>
          <a:ln/>
        </p:spPr>
      </p:sp>
      <p:pic>
        <p:nvPicPr>
          <p:cNvPr id="12" name="Next 3 icon" descr="Next 3">    </p:cNvPr>
          <p:cNvPicPr>
            <a:picLocks noChangeAspect="1"/>
          </p:cNvPicPr>
          <p:nvPr/>
        </p:nvPicPr>
        <p:blipFill>
          <a:blip r:embed="rId3"/>
          <a:stretch>
            <a:fillRect/>
          </a:stretch>
        </p:blipFill>
        <p:spPr>
          <a:xfrm>
            <a:off x="9023299" y="4634179"/>
            <a:ext cx="332842" cy="332842"/>
          </a:xfrm>
          <a:prstGeom prst="rect">
            <a:avLst/>
          </a:prstGeom>
        </p:spPr>
      </p:pic>
      <p:sp>
        <p:nvSpPr>
          <p:cNvPr id="13" name="Next text 3"/>
          <p:cNvSpPr txBox="1"/>
          <p:nvPr/>
        </p:nvSpPr>
        <p:spPr>
          <a:xfrm>
            <a:off x="9646920" y="4434840"/>
            <a:ext cx="2057400" cy="1143000"/>
          </a:xfrm>
          <a:prstGeom prst="rect">
            <a:avLst/>
          </a:prstGeom>
          <a:noFill/>
          <a:ln/>
        </p:spPr>
        <p:txBody>
          <a:bodyPr wrap="square" lIns="0" tIns="0" rIns="0" bIns="0" rtlCol="0" anchor="t"/>
          <a:lstStyle/>
          <a:p>
            <a:pPr indent="0" marL="0">
              <a:buNone/>
            </a:pPr>
            <a:r>
              <a:rPr lang="en-US" sz="1300" dirty="0">
                <a:solidFill>
                  <a:schemeClr val="bg1"/>
                </a:solidFill>
              </a:rPr>
              <a:t>Per-camera model sets and a small GPU box for 20+ cameras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indent="0" marL="0">
              <a:buNone/>
            </a:pPr>
            <a:r>
              <a:rPr lang="en-US" sz="3200" b="1" dirty="0">
                <a:solidFill>
                  <a:schemeClr val="bg1"/>
                </a:solidFill>
              </a:rPr>
              <a:t>References</a:t>
            </a:r>
            <a:endParaRPr lang="en-US" sz="3200" dirty="0"/>
          </a:p>
        </p:txBody>
      </p:sp>
      <p:sp>
        <p:nvSpPr>
          <p:cNvPr id="3" name="Reference list"/>
          <p:cNvSpPr txBox="1"/>
          <p:nvPr/>
        </p:nvSpPr>
        <p:spPr>
          <a:xfrm>
            <a:off x="548640" y="1325880"/>
            <a:ext cx="11094415" cy="475488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500" dirty="0">
                <a:solidFill>
                  <a:schemeClr val="bg1"/>
                </a:solidFill>
              </a:rPr>
              <a:t>Jocher G., Qiu J. Ultralytics YOLO11 (2024). github.com/ultralytics/ultralytics</a:t>
            </a:r>
            <a:endParaRPr lang="en-US" sz="1500" dirty="0"/>
          </a:p>
          <a:p>
            <a:pPr marL="342900" indent="-342900">
              <a:spcAft>
                <a:spcPts val="900"/>
              </a:spcAft>
              <a:buSzPct val="100000"/>
              <a:buFont typeface="+mj-lt"/>
              <a:buAutoNum type="arabicPeriod" startAt="1"/>
            </a:pPr>
            <a:r>
              <a:rPr lang="en-US" sz="1500" dirty="0">
                <a:solidFill>
                  <a:schemeClr val="bg1"/>
                </a:solidFill>
              </a:rPr>
              <a:t>Zhang Y. et al. ByteTrack: Multi-Object Tracking by Associating Every Detection Box. ECCV 2022</a:t>
            </a:r>
            <a:endParaRPr lang="en-US" sz="1500" dirty="0"/>
          </a:p>
          <a:p>
            <a:pPr marL="342900" indent="-342900">
              <a:spcAft>
                <a:spcPts val="900"/>
              </a:spcAft>
              <a:buSzPct val="100000"/>
              <a:buFont typeface="+mj-lt"/>
              <a:buAutoNum type="arabicPeriod" startAt="1"/>
            </a:pPr>
            <a:r>
              <a:rPr lang="en-US" sz="1500" dirty="0">
                <a:solidFill>
                  <a:schemeClr val="bg1"/>
                </a:solidFill>
              </a:rPr>
              <a:t>de Venâncio P. V. A. B., Lisboa A. C., Barbosa A. V. An automatic fire detection system based on deep convolutional neural networks for low-power, resource-constrained devices (D-Fire). Neural Computing and Applications, 2022</a:t>
            </a:r>
            <a:endParaRPr lang="en-US" sz="1500" dirty="0"/>
          </a:p>
          <a:p>
            <a:pPr marL="342900" indent="-342900">
              <a:spcAft>
                <a:spcPts val="900"/>
              </a:spcAft>
              <a:buSzPct val="100000"/>
              <a:buFont typeface="+mj-lt"/>
              <a:buAutoNum type="arabicPeriod" startAt="1"/>
            </a:pPr>
            <a:r>
              <a:rPr lang="en-US" sz="1500" dirty="0">
                <a:solidFill>
                  <a:schemeClr val="bg1"/>
                </a:solidFill>
              </a:rPr>
              <a:t>Ultralytics. Construction-PPE dataset. docs.ultralytics.com/datasets/detect/construction-ppe</a:t>
            </a:r>
            <a:endParaRPr lang="en-US" sz="1500" dirty="0"/>
          </a:p>
          <a:p>
            <a:pPr marL="342900" indent="-342900">
              <a:spcAft>
                <a:spcPts val="900"/>
              </a:spcAft>
              <a:buSzPct val="100000"/>
              <a:buFont typeface="+mj-lt"/>
              <a:buAutoNum type="arabicPeriod" startAt="1"/>
            </a:pPr>
            <a:r>
              <a:rPr lang="en-US" sz="1500" dirty="0">
                <a:solidFill>
                  <a:schemeClr val="bg1"/>
                </a:solidFill>
              </a:rPr>
              <a:t>Wu W., Peng H., Yu S. YuNet: A Tiny Millisecond-level Face Detector. Machine Intelligence Research, 2023</a:t>
            </a:r>
            <a:endParaRPr lang="en-US" sz="1500" dirty="0"/>
          </a:p>
          <a:p>
            <a:pPr marL="342900" indent="-342900">
              <a:spcAft>
                <a:spcPts val="900"/>
              </a:spcAft>
              <a:buSzPct val="100000"/>
              <a:buFont typeface="+mj-lt"/>
              <a:buAutoNum type="arabicPeriod" startAt="1"/>
            </a:pPr>
            <a:r>
              <a:rPr lang="en-US" sz="1500" dirty="0">
                <a:solidFill>
                  <a:schemeClr val="bg1"/>
                </a:solidFill>
              </a:rPr>
              <a:t>Zhong Y. et al. SFace: Sigmoid-Constrained Hypersphere Loss for Robust Face Recognition. IEEE TIP, 2021</a:t>
            </a:r>
            <a:endParaRPr lang="en-US" sz="1500" dirty="0"/>
          </a:p>
          <a:p>
            <a:pPr marL="342900" indent="-342900">
              <a:spcAft>
                <a:spcPts val="900"/>
              </a:spcAft>
              <a:buSzPct val="100000"/>
              <a:buFont typeface="+mj-lt"/>
              <a:buAutoNum type="arabicPeriod" startAt="1"/>
            </a:pPr>
            <a:r>
              <a:rPr lang="en-US" sz="1500" dirty="0">
                <a:solidFill>
                  <a:schemeClr val="bg1"/>
                </a:solidFill>
              </a:rPr>
              <a:t>Radford A. et al. Robust Speech Recognition via Large-Scale Weak Supervision (Whisper). ICML 2023</a:t>
            </a:r>
            <a:endParaRPr lang="en-US" sz="1500" dirty="0"/>
          </a:p>
          <a:p>
            <a:pPr marL="342900" indent="-342900">
              <a:spcAft>
                <a:spcPts val="900"/>
              </a:spcAft>
              <a:buSzPct val="100000"/>
              <a:buFont typeface="+mj-lt"/>
              <a:buAutoNum type="arabicPeriod" startAt="1"/>
            </a:pPr>
            <a:r>
              <a:rPr lang="en-US" sz="1500" dirty="0">
                <a:solidFill>
                  <a:schemeClr val="bg1"/>
                </a:solidFill>
              </a:rPr>
              <a:t>Intel OpenVINO toolkit · FastAPI · PostgreSQL · Twilio Voice and WhatsApp APIs · Groq API · Ollama · Rumik Silk · Roboflow · Google Colab</a:t>
            </a:r>
            <a:endParaRPr lang="en-US" sz="1500" dirty="0"/>
          </a:p>
          <a:p>
            <a:pPr marL="342900" indent="-342900">
              <a:spcAft>
                <a:spcPts val="900"/>
              </a:spcAft>
              <a:buSzPct val="100000"/>
              <a:buFont typeface="+mj-lt"/>
              <a:buAutoNum type="arabicPeriod" startAt="1"/>
            </a:pPr>
            <a:r>
              <a:rPr lang="en-US" sz="1500" dirty="0">
                <a:solidFill>
                  <a:schemeClr val="bg1"/>
                </a:solidFill>
              </a:rPr>
              <a:t>Full list of models, datasets, libraries, APIs and AI tools used: docs/disclosures.md in our repository</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RingGuard Control Room">
  <a:themeElements>
    <a:clrScheme name="RingGuard Control Room">
      <a:dk1>
        <a:srgbClr val="0B0B0C"/>
      </a:dk1>
      <a:lt1>
        <a:srgbClr val="FFFFFF"/>
      </a:lt1>
      <a:dk2>
        <a:srgbClr val="17181C"/>
      </a:dk2>
      <a:lt2>
        <a:srgbClr val="A1A1AA"/>
      </a:lt2>
      <a:accent1>
        <a:srgbClr val="F43F5E"/>
      </a:accent1>
      <a:accent2>
        <a:srgbClr val="B4F23C"/>
      </a:accent2>
      <a:accent3>
        <a:srgbClr val="F97316"/>
      </a:accent3>
      <a:accent4>
        <a:srgbClr val="38BDF8"/>
      </a:accent4>
      <a:accent5>
        <a:srgbClr val="A78BFA"/>
      </a:accent5>
      <a:accent6>
        <a:srgbClr val="FACC15"/>
      </a:accent6>
      <a:hlink>
        <a:srgbClr val="38BDF8"/>
      </a:hlink>
      <a:folHlink>
        <a:srgbClr val="A78BFA"/>
      </a:folHlink>
    </a:clrScheme>
    <a:fontScheme name="RingGuard Control Roo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RingGuard: AI Video Intelligence and Workplace Safety System</dc:title>
  <dc:subject>PptxGenJS Presentation</dc:subject>
  <dc:creator>Team Kraken</dc:creator>
  <cp:lastModifiedBy>Team Kraken</cp:lastModifiedBy>
  <cp:revision>1</cp:revision>
  <dcterms:created xsi:type="dcterms:W3CDTF">2026-10-27T05:46:30Z</dcterms:created>
  <dcterms:modified xsi:type="dcterms:W3CDTF">2026-10-27T05:46:30Z</dcterms:modified>
</cp:coreProperties>
</file>